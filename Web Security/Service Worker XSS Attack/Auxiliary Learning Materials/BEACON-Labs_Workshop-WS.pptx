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5143500" cx="9144000"/>
  <p:notesSz cx="6858000" cy="9144000"/>
  <p:embeddedFontLst>
    <p:embeddedFont>
      <p:font typeface="Roboto Mono Medium"/>
      <p:regular r:id="rId58"/>
      <p:bold r:id="rId59"/>
      <p:italic r:id="rId60"/>
      <p:boldItalic r:id="rId61"/>
    </p:embeddedFont>
    <p:embeddedFont>
      <p:font typeface="Montserrat Black"/>
      <p:bold r:id="rId62"/>
      <p:boldItalic r:id="rId63"/>
    </p:embeddedFont>
    <p:embeddedFont>
      <p:font typeface="Montserrat"/>
      <p:regular r:id="rId64"/>
      <p:bold r:id="rId65"/>
      <p:italic r:id="rId66"/>
      <p:boldItalic r:id="rId67"/>
    </p:embeddedFont>
    <p:embeddedFont>
      <p:font typeface="Montserrat Medium"/>
      <p:regular r:id="rId68"/>
      <p:bold r:id="rId69"/>
      <p:italic r:id="rId70"/>
      <p:boldItalic r:id="rId71"/>
    </p:embeddedFont>
    <p:embeddedFont>
      <p:font typeface="Graduate"/>
      <p:regular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schemas.openxmlformats.org/officeDocument/2006/relationships/font" Target="fonts/Graduate-regular.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MontserratMedium-boldItalic.fntdata"/><Relationship Id="rId70" Type="http://schemas.openxmlformats.org/officeDocument/2006/relationships/font" Target="fonts/MontserratMedium-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Black-bold.fntdata"/><Relationship Id="rId61" Type="http://schemas.openxmlformats.org/officeDocument/2006/relationships/font" Target="fonts/RobotoMonoMedium-boldItalic.fntdata"/><Relationship Id="rId20" Type="http://schemas.openxmlformats.org/officeDocument/2006/relationships/slide" Target="slides/slide15.xml"/><Relationship Id="rId64" Type="http://schemas.openxmlformats.org/officeDocument/2006/relationships/font" Target="fonts/Montserrat-regular.fntdata"/><Relationship Id="rId63" Type="http://schemas.openxmlformats.org/officeDocument/2006/relationships/font" Target="fonts/MontserratBlack-boldItalic.fntdata"/><Relationship Id="rId22" Type="http://schemas.openxmlformats.org/officeDocument/2006/relationships/slide" Target="slides/slide17.xml"/><Relationship Id="rId66" Type="http://schemas.openxmlformats.org/officeDocument/2006/relationships/font" Target="fonts/Montserrat-italic.fntdata"/><Relationship Id="rId21" Type="http://schemas.openxmlformats.org/officeDocument/2006/relationships/slide" Target="slides/slide16.xml"/><Relationship Id="rId65" Type="http://schemas.openxmlformats.org/officeDocument/2006/relationships/font" Target="fonts/Montserrat-bold.fntdata"/><Relationship Id="rId24" Type="http://schemas.openxmlformats.org/officeDocument/2006/relationships/slide" Target="slides/slide19.xml"/><Relationship Id="rId68" Type="http://schemas.openxmlformats.org/officeDocument/2006/relationships/font" Target="fonts/MontserratMedium-regular.fntdata"/><Relationship Id="rId23" Type="http://schemas.openxmlformats.org/officeDocument/2006/relationships/slide" Target="slides/slide18.xml"/><Relationship Id="rId67" Type="http://schemas.openxmlformats.org/officeDocument/2006/relationships/font" Target="fonts/Montserrat-boldItalic.fntdata"/><Relationship Id="rId60" Type="http://schemas.openxmlformats.org/officeDocument/2006/relationships/font" Target="fonts/RobotoMonoMedium-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ontserratMedium-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RobotoMonoMedium-bold.fntdata"/><Relationship Id="rId14" Type="http://schemas.openxmlformats.org/officeDocument/2006/relationships/slide" Target="slides/slide9.xml"/><Relationship Id="rId58" Type="http://schemas.openxmlformats.org/officeDocument/2006/relationships/font" Target="fonts/RobotoMonoMedium-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9b5602d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39b5602d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Welcome back from the break, let’s get started on the second activity.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d3f0f89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d3f0f89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9b5602d2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9b5602d2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we get started, </a:t>
            </a:r>
            <a:r>
              <a:rPr lang="en"/>
              <a:t>please</a:t>
            </a:r>
            <a:r>
              <a:rPr lang="en"/>
              <a:t> make sure that you’ve got the attacker and defender </a:t>
            </a:r>
            <a:r>
              <a:rPr lang="en"/>
              <a:t>images</a:t>
            </a:r>
            <a:r>
              <a:rPr lang="en"/>
              <a:t> imported into virtualbox. Feel free to start the defender machine in headless mode and the attacker machine normally.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303720f40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303720f40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jump in to the activity. We’ll be learning about an attack known as Service Worker Cross-Site Scripting. This attack was published in a paper in the 36th Annual Computer Security Applications Conference held in 2020 by researchers at Texas A&amp;M. Most importantly though, we need to talk about why we need to learn about this attack. Primarily, cross-site scripting attacks are common and dangerous. Adding service workers into the mix only causes the threat that cross-site scripting attacks pose to go up. Not to mention, cross-site scripting attacks can be incredibly easy to pull off.</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d3f0f89a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d3f0f89a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jump in to the activity. We’ll be learning about an attack known as Service Worker Cross-Site Scripting. This attack was published in a paper in the 36th Annual Computer Security Applications Conference held in 2020 by researchers at Texas A&amp;M. Most importantly though, we need to talk about why we need to learn about this attack. Primarily, cross-site scripting attacks are common and dangerous. Adding service workers into the mix only causes the threat that cross-site scripting attacks pose to go up. Not to mention, cross-site scripting attacks can be incredibly easy to pull off.</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303720f40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303720f40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we can dive into the Service Worker version of cross-site scripting attacks, it’s important to understand the more traditional DOM cross-site scripting attack. DOM cross-site scripting attacks allow the attacker to inject their own malicious scripts into web pages. This type of attack is only possible because of misconfigured CORS and a lack of URL sanitation.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3720f40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3720f40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a:t>
            </a:r>
            <a:r>
              <a:rPr lang="en"/>
              <a:t>mentioned</a:t>
            </a:r>
            <a:r>
              <a:rPr lang="en"/>
              <a:t> why DOM cross-site scripting attacks are possible, let’s look at what exactly those two things are. CORS is a HTTP header technology that allows a website to say “hey I only want traffic from these people and no one else” or “I only want this specific format of traffic.” URL Sanitation on the other hand is simply the process of converting special characters into codes so that the browser doesn’t try and parse and execute code input into user input boxes such as in a form, email, or, as we’ll see later, URLs.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303720f40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303720f40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defined what a DOM-XSS attack is and why it’s possible, how do we actually pull one off? Well all we need to find a vulnerable web page where we can input JavaScript and have the browser execute it. This can be done by just going around to websites and inputting small snippets of JavaScript into any user input boxes such as search bars, comments, form fields, or the URL itself until we actually get out JavaScript executed.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54a7ac2ca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354a7ac2ca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We’re now at our first action. Sources and sinks are defined more in the instruction document but I’ll give a brief explanation here. A source is somewhere that the data is coming from such as a file, database, URL parameters, or the user themselves. The sink is where that data is then utilized. Sinks can be something as simple as a function or as complex as a whole data pipeline. Take 5 minutes to read the instruction document’s description of sources and sinks and then figure out what they are for the DOM-XSS bookmark in the attacker virtual machine.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03720f40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03720f40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five minutes are up, I hope that you said the source is the context URL parameter where we input the name that goes within the body of the webpage and the sink is the page’s body or, more specifically, the script tag that reads the context parameter.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54a7ac2ca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354a7ac2ca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Moving on, take five minutes to create a URL with a JavaScript alert function to test if this webpage is vulnerable to a DOM-XSS attack.</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303720f40d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303720f40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five minutes are up, we can see the orange part of the URL shows us inputting a HTML </a:t>
            </a:r>
            <a:r>
              <a:rPr lang="en"/>
              <a:t>script</a:t>
            </a:r>
            <a:r>
              <a:rPr lang="en"/>
              <a:t> tag with JavaScript within. When the page is loaded with this type of URL we then get an alert box that reads “DOM-XSS” within it. This proves that the webpage is vulnerable to a DOM cross-site scripting attack.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303720f40d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303720f40d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gone over the basics of DOM cross-site scripting attacks, let’s think about it more in depth. What can we do to abuse this vulnerability? The slide spoils it but an attacker can most definitely import external scripts over the internet. Since these are external scripts that means the attacker can modify them to do whatever they want. This could range from being as basic as Rick Rolling a user to as complex as starting a </a:t>
            </a:r>
            <a:r>
              <a:rPr lang="en"/>
              <a:t>hidden</a:t>
            </a:r>
            <a:r>
              <a:rPr lang="en"/>
              <a:t> background download of a malicious payload.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303720f40d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303720f40d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exemplify this, craft a URL using an HTML image tag to load an image hosted on the attacker’s website. Take 5 minutes to give this a shot and then we’ll reconvene.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354a7ac2ca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354a7ac2ca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were able to get this on your own, congratulations! If not, you’ve been rick rolled, I apologize. Anyways, here we can see that in the context parameter we define an image tag with the src being the attack1 image hosted on the attacker’s website. This then replaces what would normally be the user’s name with an image of Rick Astley.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303720f40d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303720f40d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played around with a vulnerable website, let’s look at what a properly built website with URL sanitation might look like. Navigate to the bookmark labeled “Sanitized” and try to write a URL with an alert function like we did previously. After reloading the page with your malicious URL, take a look at what happens to the URL after the page has been loaded. Notice how the characters have been mangled and it no longer looks like JavaScript? This is what URL sanitization is.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303720f40d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303720f40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We’ve established the basics so now let’s get into Service Worker cross-site scripting. But first off, what is a service worker? Well service workers are simply web workers. Think of them like a thread spawned by the browser that executes a JavaScript file. These workers are mostly used to intercept network traffic, persist sessions, or provide instant push notifications. As we’ll see in this activity, there’s more you can do with them from an attacker’s perspective.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303720f40d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303720f40d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essential thing to know about Service Workers are their lifecycle.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303720f40d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303720f40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event is registration in which the file path to the JavaScript code representing the service worker is provided and may or may not determine its control scope. What do we mean by control scope? Control scope limits the service worker to specific pages within the website so a single service worker may only work on the home page but not on the create account page. Keep in mind, this event only happens once though.</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303720f40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303720f40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is the installation phase. This only happens the first time a new file is imported as a service worker.</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303720f40d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303720f40d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installation is the activation phase. This is where the service worker comes alive and does what it’s programmed to do. The service worker will continue to run until either the user stops it or its task is finished.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354a7ac2ca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354a7ac2ca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take a break and recap what we just went over. Take five minutes to summarize what you know about the three steps in a service worker’s life </a:t>
            </a:r>
            <a:r>
              <a:rPr lang="en"/>
              <a:t>cycle</a:t>
            </a:r>
            <a:r>
              <a:rPr lang="en"/>
              <a:t> and theorize about how they impact the execution of a service worker cross-site scripting attack.</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303720f40d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303720f40d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hope you said that the three steps are registration, installation, and activation. Some of </a:t>
            </a:r>
            <a:r>
              <a:rPr lang="en"/>
              <a:t>the</a:t>
            </a:r>
            <a:r>
              <a:rPr lang="en"/>
              <a:t> ways that these steps impact the execution of a service worker cross-</a:t>
            </a:r>
            <a:r>
              <a:rPr lang="en"/>
              <a:t>site</a:t>
            </a:r>
            <a:r>
              <a:rPr lang="en"/>
              <a:t> scripting attack could be limiting when the attacker can replace the standard file with their own file, which would have to happen prior to the registration event and then pointed to in the installation phase.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303720f40d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303720f40d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take a look at the service worker attack from a source and sink approach. We’ll be utilizing the JavaScript function import scripts as the sink function to import external JavaScript into the current worker file. This is only possible because CORS is allowing us to fetch the </a:t>
            </a:r>
            <a:r>
              <a:rPr lang="en"/>
              <a:t>external</a:t>
            </a:r>
            <a:r>
              <a:rPr lang="en"/>
              <a:t> script.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303720f40d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303720f40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watch a video from Josh to show you how to work with service workers.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354a7ac2ca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354a7ac2ca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 Josh. Now let’s open up a tab to the SW-XSS bookmark, inspect the web page and navigate to the debugger tab. In the debugger tab, click on the sw JavaScript file and determine what is the source and sink. Take 5 minutes to do </a:t>
            </a:r>
            <a:r>
              <a:rPr lang="en"/>
              <a:t>this and then we’ll meet back up.</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303720f40d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303720f40d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Hopefully you were able to find that the source is the sw_fn.js file which is stored somewhere on the machine and the sink is the fetch function where that file is being read in.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354a7ac2ca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354a7ac2ca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open a terminal and navigate to the /var/www/html directory and create a new file as the sudo user. You’ll have to rename the old sw_fn.js file with the mv command and then rename your newly created file to sw_fn.js also with the mv command. Once you’ve got your new file created, open it with a text editor of your choice such as nano or vim and write a console.log </a:t>
            </a:r>
            <a:r>
              <a:rPr lang="en"/>
              <a:t>function</a:t>
            </a:r>
            <a:r>
              <a:rPr lang="en"/>
              <a:t> call with a message of your choice. Once done, save and write the file then back in Firefox remove the old service worker using the steps Josh showed us and reload the page to </a:t>
            </a:r>
            <a:r>
              <a:rPr lang="en"/>
              <a:t>observe</a:t>
            </a:r>
            <a:r>
              <a:rPr lang="en"/>
              <a:t> your new service worker’s output in the console under the debugging page. Take 10 minutes to give this a shot.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303720f40d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303720f40d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were able to get it working, you should see something similar to this. If not, pause and keep working at it until you’ve got it.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303720f40d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303720f40d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the unfinished service worker that we need to use. In this code, self refers to the webpage itself. We first add an event listener for some event that you’ll need to fill in which then just tells the webpage to skip waiting. We do the same thing for the next lifecycle event as well. Finally, we add an event listener for the fetch event in which we’ll need to replace some HTML with our malicious HTML.</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354a7ac2ca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354a7ac2ca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5 minutes to edit the service worker file with some console log messages and then reconvene.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303720f40d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303720f40d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you can see in the JavaScript functions on the left, we’ve modified the install, activate, and fetch events to now include some console logs. In the debugger’s console on the right we can see these messages being output.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303720f40d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303720f40d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take 20 minutes to edit the fetch handler to </a:t>
            </a:r>
            <a:r>
              <a:rPr lang="en"/>
              <a:t>replace</a:t>
            </a:r>
            <a:r>
              <a:rPr lang="en"/>
              <a:t> the submit button on the web page with an image, similar to what we did with the DOM cross-site scripting attack.</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303720f40d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303720f40d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As you can see here, we tell the web page to skip waiting for the install and activate events and then on the fetch event we fetch from our attacker’s website and replace the submit button with an image from our attacker’s website.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303720f40d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303720f40d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And in the web page itself we can see that the image is being shown where the button normally would be.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303720f40d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303720f40d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before we dive into the final section on Game Theory, let’s watch a video from William Spaniel about Pooling Equilibrium.</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354a7ac2c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354a7ac2c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our scenario, we have a signaling game in which the developer is player one and the attacker is player 2. The website has a service worker installed and the players each have a choice of two actions. The developer can either sanitize the URL or forget to do so. The attacker can choose to either attack or move on. Additionally, the developer has a nature, either experienced or </a:t>
            </a:r>
            <a:r>
              <a:rPr lang="en"/>
              <a:t>inexperienced</a:t>
            </a:r>
            <a:r>
              <a:rPr lang="en"/>
              <a: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354a7ac2c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354a7ac2c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look at the outcomes, we can see that the developer’s strategy is to always sanitize. The attacker on the other hand has multiple strategies. If the attacker believes that the developer didn’t sanitize, they will attack. If the attacker thinks that it was an experienced developer that did the sanitization, they shouldn’t attack. But, if the attacker believes that it was an inexperienced developer that did the sanitization, they should try a </a:t>
            </a:r>
            <a:r>
              <a:rPr lang="en"/>
              <a:t>different</a:t>
            </a:r>
            <a:r>
              <a:rPr lang="en"/>
              <a:t> attack since the inexperienced developer might not have handled edge cases. The attacker’s strategies hinge on the attacker’s belief that there’s a 47% chance that the developer is experienced and a 53% </a:t>
            </a:r>
            <a:r>
              <a:rPr lang="en"/>
              <a:t>chance that the developer is inexperienced.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354a7ac2c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354a7ac2c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can see this game represented as a tree. To read the tree, we start from the middle where it says “Nature.” If we’re an experienced developer, we move to the left. Since the developer’s strategy is to always sanitize, we then move up. Now that we’re an experienced developer who has sanitized, the attacker’s strategy is to ignore, leading to a gain of 1 for the developer and a gain of 0 for the attacker. In this case, the developer is said to </a:t>
            </a:r>
            <a:r>
              <a:rPr lang="en"/>
              <a:t>have</a:t>
            </a:r>
            <a:r>
              <a:rPr lang="en"/>
              <a:t> won.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354a7ac2ca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354a7ac2ca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5 minutes to try and calculate the attacker’s expected utility for this game.</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354a7ac2c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354a7ac2c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first step here is to determine what kind of a game this is. Since the developers will always sanitize, we have a pooling strategy, making this a pooling game. The attacker will then choose to ignore or attempt a different attack based on the developer’s nature. We can safely eliminate the entire bottom half of this tree and only focus on the top half when the developer sanitizes.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354a7ac2c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354a7ac2c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this, we can take the probability of each nature multiplied by the utility that the attacker would gain from taking the non-attack action and sum them together, getting an expected utility of 0.053.</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354a7ac2ca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354a7ac2ca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 have the attacker’s expected utility, take 5 minutes to think about that this means about the attacker’s decision.</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354a7ac2c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354a7ac2c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since the expected utility is a very low positive value, this tells us the attacker’s decision will be of benefit to the attacker and likewise harm the developer but not in a major way. This could be something like the attacker gaining information on what kind of infrastructure the website is hosted on or some other arbitrary piece of information that ultimately doesn’t mean all that much.</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354a7ac2ca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354a7ac2ca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look at what the expected utility for the attacker is if the developer chooses to deviate from their strategy. Take 5 minutes to calculate this expected utility.</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354a7ac2c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354a7ac2c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Doing the same process as before but for the bottom half of the tree, we can see that the attacker’s expected utility is 3. This would mean that if the developer deviates from their strategy, the attacker would be able to do some serious damage.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354a7ac2ca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354a7ac2ca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see if this game has an equilibrium. Take 15 minutes to reason out if it does or doesn’t.</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354a7ac2ca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354a7ac2c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determine if there’s an equilibrium, we first need to look at the two different pooling strategies. In the first strategy, the developer chooses to sanitize regardless of their nature. In this case, that attacker will choose the non-attack option, resulting in an expected </a:t>
            </a:r>
            <a:r>
              <a:rPr lang="en"/>
              <a:t>utility</a:t>
            </a:r>
            <a:r>
              <a:rPr lang="en"/>
              <a:t> of 1 for the developer. Do note that this is the expected utility of the developer, not the attacker’s expected utility which we calculated in action 3.1.1. In the second strategy, the developer chooses to forget to sanitize regardless of their nature. In this situation, the attacker will always choose the attack option, resulting in an expected utility of negative 4.94 for the developer.</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354a7ac2ca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354a7ac2ca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need to determine if there’s a profitable deviation. If the developer is experienced, the attacker will ignore if the developer sticks to the equilibrium strategy and sanitizes, resulting in a payoff of 1 for the developer. If the developer deviates, the attacker will always attack resulting in a payoff of negative 6 for the developer. Based on these two points, if the developer is experienced, there’s no profitable deviation. Similarly for the inexperienced developer, we see that there’s a payoff for the developer of 1 if they stick to the equilibrium strategy and a payoff of negative 4 if they deviate, also pointing to there being no profitable deviation. Since we’ve determined that there’s no profitable deviation, we can conclude that there is indeed a pooling equilibrium for this game.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354a7ac2ca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354a7ac2ca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summarize what you’ve learned in this activity:</a:t>
            </a:r>
            <a:br>
              <a:rPr lang="en"/>
            </a:br>
            <a:br>
              <a:rPr lang="en"/>
            </a:br>
            <a:r>
              <a:rPr lang="en"/>
              <a:t>You’ve learned what a service worker is, how the service worker cross-site scripting attack works and how its possible. From this, you’ve learned what needs to be done to prevent it and we’ve demonstrated how simple oversights can lead to detrimental consequences.</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354a7ac2c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354a7ac2c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Please fill out the form on Canvas! If you have any questions there is a question on the form where you can put them and I will send you an email with the answers to your questions.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354a7ac2c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354a7ac2c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nvSpPr>
        <p:spPr>
          <a:xfrm>
            <a:off x="0" y="836425"/>
            <a:ext cx="9144000" cy="4307100"/>
          </a:xfrm>
          <a:prstGeom prst="rect">
            <a:avLst/>
          </a:prstGeom>
          <a:solidFill>
            <a:srgbClr val="0033A0"/>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l">
              <a:spcBef>
                <a:spcPts val="0"/>
              </a:spcBef>
              <a:spcAft>
                <a:spcPts val="0"/>
              </a:spcAft>
              <a:buNone/>
            </a:pPr>
            <a:r>
              <a:t/>
            </a:r>
            <a:endParaRPr b="1" sz="3900">
              <a:solidFill>
                <a:srgbClr val="FFFFFF"/>
              </a:solidFill>
              <a:highlight>
                <a:srgbClr val="0033A0"/>
              </a:highlight>
              <a:latin typeface="Montserrat"/>
              <a:ea typeface="Montserrat"/>
              <a:cs typeface="Montserrat"/>
              <a:sym typeface="Montserrat"/>
            </a:endParaRPr>
          </a:p>
        </p:txBody>
      </p:sp>
      <p:sp>
        <p:nvSpPr>
          <p:cNvPr id="10" name="Google Shape;10;p2"/>
          <p:cNvSpPr txBox="1"/>
          <p:nvPr>
            <p:ph type="ctrTitle"/>
          </p:nvPr>
        </p:nvSpPr>
        <p:spPr>
          <a:xfrm>
            <a:off x="311708" y="13329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100"/>
              <a:buFont typeface="Montserrat Black"/>
              <a:buNone/>
              <a:defRPr sz="4100">
                <a:solidFill>
                  <a:schemeClr val="lt1"/>
                </a:solidFill>
                <a:latin typeface="Montserrat Black"/>
                <a:ea typeface="Montserrat Black"/>
                <a:cs typeface="Montserrat Black"/>
                <a:sym typeface="Montserrat Black"/>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333900"/>
            <a:ext cx="8520600" cy="792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300"/>
              <a:buFont typeface="Montserrat"/>
              <a:buNone/>
              <a:defRPr b="1" sz="23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p:nvPr/>
        </p:nvSpPr>
        <p:spPr>
          <a:xfrm>
            <a:off x="4335925" y="323375"/>
            <a:ext cx="5452800" cy="11121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13" name="Google Shape;13;p2"/>
          <p:cNvPicPr preferRelativeResize="0"/>
          <p:nvPr/>
        </p:nvPicPr>
        <p:blipFill>
          <a:blip r:embed="rId2">
            <a:alphaModFix/>
          </a:blip>
          <a:stretch>
            <a:fillRect/>
          </a:stretch>
        </p:blipFill>
        <p:spPr>
          <a:xfrm>
            <a:off x="0" y="1"/>
            <a:ext cx="886899" cy="767976"/>
          </a:xfrm>
          <a:prstGeom prst="rect">
            <a:avLst/>
          </a:prstGeom>
          <a:noFill/>
          <a:ln>
            <a:noFill/>
          </a:ln>
        </p:spPr>
      </p:pic>
      <p:sp>
        <p:nvSpPr>
          <p:cNvPr id="14" name="Google Shape;14;p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lvl1pPr lvl="0" algn="l">
              <a:spcBef>
                <a:spcPts val="0"/>
              </a:spcBef>
              <a:spcAft>
                <a:spcPts val="0"/>
              </a:spcAft>
              <a:buClr>
                <a:schemeClr val="lt1"/>
              </a:buClr>
              <a:buSzPts val="1700"/>
              <a:buFont typeface="Montserrat"/>
              <a:buNone/>
              <a:defRPr b="1" sz="1700">
                <a:solidFill>
                  <a:schemeClr val="lt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5" name="Google Shape;15;p2"/>
          <p:cNvCxnSpPr/>
          <p:nvPr/>
        </p:nvCxnSpPr>
        <p:spPr>
          <a:xfrm>
            <a:off x="8779725" y="1373000"/>
            <a:ext cx="0" cy="3399900"/>
          </a:xfrm>
          <a:prstGeom prst="straightConnector1">
            <a:avLst/>
          </a:prstGeom>
          <a:noFill/>
          <a:ln cap="flat" cmpd="sng" w="19050">
            <a:solidFill>
              <a:srgbClr val="D64309"/>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Section header" type="secHead">
  <p:cSld name="SECTION_HEADER">
    <p:spTree>
      <p:nvGrpSpPr>
        <p:cNvPr id="16" name="Shape 16"/>
        <p:cNvGrpSpPr/>
        <p:nvPr/>
      </p:nvGrpSpPr>
      <p:grpSpPr>
        <a:xfrm>
          <a:off x="0" y="0"/>
          <a:ext cx="0" cy="0"/>
          <a:chOff x="0" y="0"/>
          <a:chExt cx="0" cy="0"/>
        </a:xfrm>
      </p:grpSpPr>
      <p:sp>
        <p:nvSpPr>
          <p:cNvPr id="17" name="Google Shape;17;p3"/>
          <p:cNvSpPr txBox="1"/>
          <p:nvPr/>
        </p:nvSpPr>
        <p:spPr>
          <a:xfrm>
            <a:off x="0" y="0"/>
            <a:ext cx="9144000" cy="4307100"/>
          </a:xfrm>
          <a:prstGeom prst="rect">
            <a:avLst/>
          </a:prstGeom>
          <a:solidFill>
            <a:srgbClr val="0033A0"/>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l">
              <a:spcBef>
                <a:spcPts val="0"/>
              </a:spcBef>
              <a:spcAft>
                <a:spcPts val="0"/>
              </a:spcAft>
              <a:buNone/>
            </a:pPr>
            <a:r>
              <a:t/>
            </a:r>
            <a:endParaRPr b="1" sz="3900">
              <a:solidFill>
                <a:srgbClr val="FFFFFF"/>
              </a:solidFill>
              <a:highlight>
                <a:srgbClr val="0033A0"/>
              </a:highlight>
              <a:latin typeface="Montserrat"/>
              <a:ea typeface="Montserrat"/>
              <a:cs typeface="Montserrat"/>
              <a:sym typeface="Montserrat"/>
            </a:endParaRPr>
          </a:p>
        </p:txBody>
      </p:sp>
      <p:sp>
        <p:nvSpPr>
          <p:cNvPr id="18" name="Google Shape;18;p3"/>
          <p:cNvSpPr txBox="1"/>
          <p:nvPr>
            <p:ph type="title"/>
          </p:nvPr>
        </p:nvSpPr>
        <p:spPr>
          <a:xfrm>
            <a:off x="683550" y="553675"/>
            <a:ext cx="7776900" cy="841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pic>
        <p:nvPicPr>
          <p:cNvPr id="19" name="Google Shape;19;p3"/>
          <p:cNvPicPr preferRelativeResize="0"/>
          <p:nvPr/>
        </p:nvPicPr>
        <p:blipFill>
          <a:blip r:embed="rId2">
            <a:alphaModFix/>
          </a:blip>
          <a:stretch>
            <a:fillRect/>
          </a:stretch>
        </p:blipFill>
        <p:spPr>
          <a:xfrm>
            <a:off x="8257100" y="4375526"/>
            <a:ext cx="886899" cy="767976"/>
          </a:xfrm>
          <a:prstGeom prst="rect">
            <a:avLst/>
          </a:prstGeom>
          <a:noFill/>
          <a:ln>
            <a:noFill/>
          </a:ln>
        </p:spPr>
      </p:pic>
      <p:cxnSp>
        <p:nvCxnSpPr>
          <p:cNvPr id="20" name="Google Shape;20;p3"/>
          <p:cNvCxnSpPr/>
          <p:nvPr/>
        </p:nvCxnSpPr>
        <p:spPr>
          <a:xfrm>
            <a:off x="438975" y="719200"/>
            <a:ext cx="0" cy="3698700"/>
          </a:xfrm>
          <a:prstGeom prst="straightConnector1">
            <a:avLst/>
          </a:prstGeom>
          <a:noFill/>
          <a:ln cap="flat" cmpd="sng" w="28575">
            <a:solidFill>
              <a:schemeClr val="lt1"/>
            </a:solidFill>
            <a:prstDash val="solid"/>
            <a:round/>
            <a:headEnd len="med" w="med" type="none"/>
            <a:tailEnd len="med" w="med" type="none"/>
          </a:ln>
        </p:spPr>
      </p:cxnSp>
      <p:sp>
        <p:nvSpPr>
          <p:cNvPr id="21" name="Google Shape;21;p3"/>
          <p:cNvSpPr txBox="1"/>
          <p:nvPr>
            <p:ph idx="1" type="subTitle"/>
          </p:nvPr>
        </p:nvSpPr>
        <p:spPr>
          <a:xfrm>
            <a:off x="691175" y="4455250"/>
            <a:ext cx="6547500" cy="523200"/>
          </a:xfrm>
          <a:prstGeom prst="rect">
            <a:avLst/>
          </a:prstGeom>
        </p:spPr>
        <p:txBody>
          <a:bodyPr anchorCtr="0" anchor="t" bIns="91425" lIns="91425" spcFirstLastPara="1" rIns="91425" wrap="square" tIns="91425">
            <a:noAutofit/>
          </a:bodyPr>
          <a:lstStyle>
            <a:lvl1pPr lvl="0">
              <a:spcBef>
                <a:spcPts val="0"/>
              </a:spcBef>
              <a:spcAft>
                <a:spcPts val="0"/>
              </a:spcAft>
              <a:buClr>
                <a:srgbClr val="D64309"/>
              </a:buClr>
              <a:buSzPts val="1300"/>
              <a:buFont typeface="Montserrat"/>
              <a:buNone/>
              <a:defRPr b="1" sz="1300">
                <a:solidFill>
                  <a:srgbClr val="D64309"/>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Section header">
  <p:cSld name="SECTION_HEADER_1">
    <p:spTree>
      <p:nvGrpSpPr>
        <p:cNvPr id="22" name="Shape 22"/>
        <p:cNvGrpSpPr/>
        <p:nvPr/>
      </p:nvGrpSpPr>
      <p:grpSpPr>
        <a:xfrm>
          <a:off x="0" y="0"/>
          <a:ext cx="0" cy="0"/>
          <a:chOff x="0" y="0"/>
          <a:chExt cx="0" cy="0"/>
        </a:xfrm>
      </p:grpSpPr>
      <p:sp>
        <p:nvSpPr>
          <p:cNvPr id="23" name="Google Shape;23;p4"/>
          <p:cNvSpPr txBox="1"/>
          <p:nvPr/>
        </p:nvSpPr>
        <p:spPr>
          <a:xfrm>
            <a:off x="0" y="0"/>
            <a:ext cx="9144000" cy="4307100"/>
          </a:xfrm>
          <a:prstGeom prst="rect">
            <a:avLst/>
          </a:prstGeom>
          <a:solidFill>
            <a:srgbClr val="D64309"/>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2400">
              <a:solidFill>
                <a:srgbClr val="FFFFFF"/>
              </a:solidFill>
              <a:highlight>
                <a:srgbClr val="D64309"/>
              </a:highlight>
              <a:latin typeface="Montserrat"/>
              <a:ea typeface="Montserrat"/>
              <a:cs typeface="Montserrat"/>
              <a:sym typeface="Montserrat"/>
            </a:endParaRPr>
          </a:p>
          <a:p>
            <a:pPr indent="0" lvl="0" marL="0" rtl="0" algn="ctr">
              <a:spcBef>
                <a:spcPts val="0"/>
              </a:spcBef>
              <a:spcAft>
                <a:spcPts val="0"/>
              </a:spcAft>
              <a:buNone/>
            </a:pPr>
            <a:r>
              <a:t/>
            </a:r>
            <a:endParaRPr b="1" sz="2400">
              <a:solidFill>
                <a:srgbClr val="FFFFFF"/>
              </a:solidFill>
              <a:highlight>
                <a:srgbClr val="D64309"/>
              </a:highlight>
              <a:latin typeface="Montserrat"/>
              <a:ea typeface="Montserrat"/>
              <a:cs typeface="Montserrat"/>
              <a:sym typeface="Montserrat"/>
            </a:endParaRPr>
          </a:p>
          <a:p>
            <a:pPr indent="0" lvl="0" marL="0" rtl="0" algn="l">
              <a:spcBef>
                <a:spcPts val="0"/>
              </a:spcBef>
              <a:spcAft>
                <a:spcPts val="0"/>
              </a:spcAft>
              <a:buNone/>
            </a:pPr>
            <a:r>
              <a:t/>
            </a:r>
            <a:endParaRPr b="1" sz="3900">
              <a:solidFill>
                <a:srgbClr val="FFFFFF"/>
              </a:solidFill>
              <a:highlight>
                <a:srgbClr val="D64309"/>
              </a:highlight>
              <a:latin typeface="Montserrat"/>
              <a:ea typeface="Montserrat"/>
              <a:cs typeface="Montserrat"/>
              <a:sym typeface="Montserrat"/>
            </a:endParaRPr>
          </a:p>
        </p:txBody>
      </p:sp>
      <p:sp>
        <p:nvSpPr>
          <p:cNvPr id="24" name="Google Shape;24;p4"/>
          <p:cNvSpPr txBox="1"/>
          <p:nvPr>
            <p:ph type="title"/>
          </p:nvPr>
        </p:nvSpPr>
        <p:spPr>
          <a:xfrm>
            <a:off x="683550" y="553675"/>
            <a:ext cx="7776900" cy="841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pic>
        <p:nvPicPr>
          <p:cNvPr id="25" name="Google Shape;25;p4"/>
          <p:cNvPicPr preferRelativeResize="0"/>
          <p:nvPr/>
        </p:nvPicPr>
        <p:blipFill>
          <a:blip r:embed="rId2">
            <a:alphaModFix/>
          </a:blip>
          <a:stretch>
            <a:fillRect/>
          </a:stretch>
        </p:blipFill>
        <p:spPr>
          <a:xfrm>
            <a:off x="8257100" y="4375526"/>
            <a:ext cx="886899" cy="767976"/>
          </a:xfrm>
          <a:prstGeom prst="rect">
            <a:avLst/>
          </a:prstGeom>
          <a:noFill/>
          <a:ln>
            <a:noFill/>
          </a:ln>
        </p:spPr>
      </p:pic>
      <p:cxnSp>
        <p:nvCxnSpPr>
          <p:cNvPr id="26" name="Google Shape;26;p4"/>
          <p:cNvCxnSpPr/>
          <p:nvPr/>
        </p:nvCxnSpPr>
        <p:spPr>
          <a:xfrm>
            <a:off x="438975" y="719200"/>
            <a:ext cx="0" cy="3698700"/>
          </a:xfrm>
          <a:prstGeom prst="straightConnector1">
            <a:avLst/>
          </a:prstGeom>
          <a:noFill/>
          <a:ln cap="flat" cmpd="sng" w="28575">
            <a:solidFill>
              <a:schemeClr val="lt1"/>
            </a:solidFill>
            <a:prstDash val="solid"/>
            <a:round/>
            <a:headEnd len="med" w="med" type="none"/>
            <a:tailEnd len="med" w="med" type="none"/>
          </a:ln>
        </p:spPr>
      </p:cxnSp>
      <p:sp>
        <p:nvSpPr>
          <p:cNvPr id="27" name="Google Shape;27;p4"/>
          <p:cNvSpPr txBox="1"/>
          <p:nvPr>
            <p:ph idx="1" type="subTitle"/>
          </p:nvPr>
        </p:nvSpPr>
        <p:spPr>
          <a:xfrm>
            <a:off x="691175" y="4455250"/>
            <a:ext cx="6547500" cy="523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33A0"/>
              </a:buClr>
              <a:buSzPts val="1300"/>
              <a:buFont typeface="Montserrat"/>
              <a:buNone/>
              <a:defRPr b="1" sz="1300">
                <a:solidFill>
                  <a:srgbClr val="0033A0"/>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5"/>
          <p:cNvSpPr txBox="1"/>
          <p:nvPr>
            <p:ph type="title"/>
          </p:nvPr>
        </p:nvSpPr>
        <p:spPr>
          <a:xfrm>
            <a:off x="311700" y="228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2pPr>
            <a:lvl3pPr lvl="2">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3pPr>
            <a:lvl4pPr lvl="3">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4pPr>
            <a:lvl5pPr lvl="4">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5pPr>
            <a:lvl6pPr lvl="5">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6pPr>
            <a:lvl7pPr lvl="6">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7pPr>
            <a:lvl8pPr lvl="7">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8pPr>
            <a:lvl9pPr lvl="8">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9pPr>
          </a:lstStyle>
          <a:p/>
        </p:txBody>
      </p:sp>
      <p:sp>
        <p:nvSpPr>
          <p:cNvPr id="30" name="Google Shape;30;p5"/>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indent="-317500" lvl="1" marL="9144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indent="-317500" lvl="2" marL="13716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indent="-317500" lvl="3" marL="18288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indent="-317500" lvl="4" marL="22860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indent="-317500" lvl="5" marL="27432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indent="-317500" lvl="6" marL="32004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indent="-317500" lvl="7" marL="36576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indent="-317500" lvl="8" marL="41148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p:txBody>
      </p:sp>
      <p:sp>
        <p:nvSpPr>
          <p:cNvPr id="31" name="Google Shape;31;p5"/>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32" name="Google Shape;32;p5"/>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33" name="Google Shape;33;p5"/>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34" name="Google Shape;34;p5"/>
          <p:cNvSpPr txBox="1"/>
          <p:nvPr>
            <p:ph idx="2"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35" name="Google Shape;35;p5"/>
          <p:cNvSpPr txBox="1"/>
          <p:nvPr>
            <p:ph idx="3"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sp>
        <p:nvSpPr>
          <p:cNvPr id="37" name="Google Shape;37;p6"/>
          <p:cNvSpPr txBox="1"/>
          <p:nvPr>
            <p:ph type="title"/>
          </p:nvPr>
        </p:nvSpPr>
        <p:spPr>
          <a:xfrm>
            <a:off x="311700" y="228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Font typeface="Montserrat"/>
              <a:buChar char="●"/>
              <a:defRPr sz="1400">
                <a:solidFill>
                  <a:schemeClr val="dk1"/>
                </a:solidFill>
                <a:latin typeface="Montserrat"/>
                <a:ea typeface="Montserrat"/>
                <a:cs typeface="Montserrat"/>
                <a:sym typeface="Montserrat"/>
              </a:defRPr>
            </a:lvl1pPr>
            <a:lvl2pPr indent="-304800" lvl="1" marL="914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
        <p:nvSpPr>
          <p:cNvPr id="39" name="Google Shape;39;p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Font typeface="Montserrat"/>
              <a:buChar char="●"/>
              <a:defRPr sz="1400">
                <a:solidFill>
                  <a:schemeClr val="dk1"/>
                </a:solidFill>
                <a:latin typeface="Montserrat"/>
                <a:ea typeface="Montserrat"/>
                <a:cs typeface="Montserrat"/>
                <a:sym typeface="Montserrat"/>
              </a:defRPr>
            </a:lvl1pPr>
            <a:lvl2pPr indent="-304800" lvl="1" marL="914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
        <p:nvSpPr>
          <p:cNvPr id="40" name="Google Shape;40;p6"/>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41" name="Google Shape;41;p6"/>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42" name="Google Shape;42;p6"/>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43" name="Google Shape;43;p6"/>
          <p:cNvSpPr txBox="1"/>
          <p:nvPr>
            <p:ph idx="3"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44" name="Google Shape;44;p6"/>
          <p:cNvSpPr txBox="1"/>
          <p:nvPr>
            <p:ph idx="4"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311700" y="228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2pPr>
            <a:lvl3pPr lvl="2">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3pPr>
            <a:lvl4pPr lvl="3">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4pPr>
            <a:lvl5pPr lvl="4">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5pPr>
            <a:lvl6pPr lvl="5">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6pPr>
            <a:lvl7pPr lvl="6">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7pPr>
            <a:lvl8pPr lvl="7">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8pPr>
            <a:lvl9pPr lvl="8">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9pPr>
          </a:lstStyle>
          <a:p/>
        </p:txBody>
      </p:sp>
      <p:sp>
        <p:nvSpPr>
          <p:cNvPr id="47" name="Google Shape;47;p7"/>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48" name="Google Shape;48;p7"/>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49" name="Google Shape;49;p7"/>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50" name="Google Shape;50;p7"/>
          <p:cNvSpPr txBox="1"/>
          <p:nvPr>
            <p:ph idx="1"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51" name="Google Shape;51;p7"/>
          <p:cNvSpPr txBox="1"/>
          <p:nvPr>
            <p:ph idx="2"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txBox="1"/>
          <p:nvPr>
            <p:ph type="title"/>
          </p:nvPr>
        </p:nvSpPr>
        <p:spPr>
          <a:xfrm>
            <a:off x="490250" y="450150"/>
            <a:ext cx="794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1pPr>
            <a:lvl2pPr lvl="1">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2pPr>
            <a:lvl3pPr lvl="2">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3pPr>
            <a:lvl4pPr lvl="3">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4pPr>
            <a:lvl5pPr lvl="4">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5pPr>
            <a:lvl6pPr lvl="5">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6pPr>
            <a:lvl7pPr lvl="6">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7pPr>
            <a:lvl8pPr lvl="7">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8pPr>
            <a:lvl9pPr lvl="8">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9pPr>
          </a:lstStyle>
          <a:p/>
        </p:txBody>
      </p:sp>
      <p:sp>
        <p:nvSpPr>
          <p:cNvPr id="54" name="Google Shape;5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5" name="Google Shape;55;p8"/>
          <p:cNvSpPr txBox="1"/>
          <p:nvPr>
            <p:ph idx="1" type="subTitle"/>
          </p:nvPr>
        </p:nvSpPr>
        <p:spPr>
          <a:xfrm>
            <a:off x="5452225" y="4247575"/>
            <a:ext cx="3570300" cy="3207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56" name="Google Shape;56;p8"/>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57" name="Google Shape;57;p8"/>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58" name="Google Shape;58;p8"/>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59" name="Google Shape;59;p8"/>
          <p:cNvSpPr txBox="1"/>
          <p:nvPr>
            <p:ph idx="2"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60" name="Google Shape;60;p8"/>
          <p:cNvSpPr txBox="1"/>
          <p:nvPr>
            <p:ph idx="3"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4572000" y="-125"/>
            <a:ext cx="4572000" cy="5143500"/>
          </a:xfrm>
          <a:prstGeom prst="rect">
            <a:avLst/>
          </a:prstGeom>
          <a:solidFill>
            <a:srgbClr val="F6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0033A0"/>
              </a:buClr>
              <a:buSzPts val="4200"/>
              <a:buFont typeface="Montserrat Medium"/>
              <a:buNone/>
              <a:defRPr sz="4200">
                <a:solidFill>
                  <a:srgbClr val="0033A0"/>
                </a:solidFill>
                <a:latin typeface="Montserrat Medium"/>
                <a:ea typeface="Montserrat Medium"/>
                <a:cs typeface="Montserrat Medium"/>
                <a:sym typeface="Montserrat Medium"/>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4" name="Google Shape;64;p9"/>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Montserrat"/>
              <a:buNone/>
              <a:defRPr>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5" name="Google Shape;6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sp>
        <p:nvSpPr>
          <p:cNvPr id="66" name="Google Shape;66;p9"/>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67" name="Google Shape;67;p9"/>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68" name="Google Shape;68;p9"/>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69" name="Google Shape;69;p9"/>
          <p:cNvSpPr txBox="1"/>
          <p:nvPr>
            <p:ph idx="3"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70" name="Google Shape;70;p9"/>
          <p:cNvSpPr txBox="1"/>
          <p:nvPr>
            <p:ph idx="4"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0033A0"/>
              </a:buClr>
              <a:buSzPts val="12000"/>
              <a:buFont typeface="Montserrat Black"/>
              <a:buNone/>
              <a:defRPr sz="12000">
                <a:solidFill>
                  <a:srgbClr val="0033A0"/>
                </a:solidFill>
                <a:latin typeface="Montserrat Black"/>
                <a:ea typeface="Montserrat Black"/>
                <a:cs typeface="Montserrat Black"/>
                <a:sym typeface="Montserrat Black"/>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0"/>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74" name="Google Shape;74;p10"/>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75" name="Google Shape;75;p10"/>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76" name="Google Shape;76;p10"/>
          <p:cNvSpPr txBox="1"/>
          <p:nvPr>
            <p:ph idx="1"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77" name="Google Shape;77;p10"/>
          <p:cNvSpPr txBox="1"/>
          <p:nvPr>
            <p:ph idx="2"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type="blank">
  <p:cSld name="BLANK">
    <p:spTree>
      <p:nvGrpSpPr>
        <p:cNvPr id="78" name="Shape 78"/>
        <p:cNvGrpSpPr/>
        <p:nvPr/>
      </p:nvGrpSpPr>
      <p:grpSpPr>
        <a:xfrm>
          <a:off x="0" y="0"/>
          <a:ext cx="0" cy="0"/>
          <a:chOff x="0" y="0"/>
          <a:chExt cx="0" cy="0"/>
        </a:xfrm>
      </p:grpSpPr>
      <p:sp>
        <p:nvSpPr>
          <p:cNvPr id="79" name="Google Shape;79;p11"/>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pic>
        <p:nvPicPr>
          <p:cNvPr id="80" name="Google Shape;80;p11"/>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81" name="Google Shape;81;p11"/>
          <p:cNvSpPr txBox="1"/>
          <p:nvPr>
            <p:ph idx="1"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cSld name="BLANK_1">
    <p:spTree>
      <p:nvGrpSpPr>
        <p:cNvPr id="82" name="Shape 82"/>
        <p:cNvGrpSpPr/>
        <p:nvPr/>
      </p:nvGrpSpPr>
      <p:grpSpPr>
        <a:xfrm>
          <a:off x="0" y="0"/>
          <a:ext cx="0" cy="0"/>
          <a:chOff x="0" y="0"/>
          <a:chExt cx="0" cy="0"/>
        </a:xfrm>
      </p:grpSpPr>
      <p:sp>
        <p:nvSpPr>
          <p:cNvPr id="83" name="Google Shape;83;p12"/>
          <p:cNvSpPr/>
          <p:nvPr>
            <p:ph idx="2" type="pic"/>
          </p:nvPr>
        </p:nvSpPr>
        <p:spPr>
          <a:xfrm>
            <a:off x="-28050" y="0"/>
            <a:ext cx="9200100" cy="4629300"/>
          </a:xfrm>
          <a:prstGeom prst="rect">
            <a:avLst/>
          </a:prstGeom>
          <a:noFill/>
          <a:ln>
            <a:noFill/>
          </a:ln>
        </p:spPr>
      </p:sp>
      <p:sp>
        <p:nvSpPr>
          <p:cNvPr id="84" name="Google Shape;84;p12"/>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pic>
        <p:nvPicPr>
          <p:cNvPr id="85" name="Google Shape;85;p12"/>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86" name="Google Shape;86;p12"/>
          <p:cNvSpPr txBox="1"/>
          <p:nvPr>
            <p:ph idx="1"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ith text">
  <p:cSld name="BLANK_1_1">
    <p:spTree>
      <p:nvGrpSpPr>
        <p:cNvPr id="87" name="Shape 87"/>
        <p:cNvGrpSpPr/>
        <p:nvPr/>
      </p:nvGrpSpPr>
      <p:grpSpPr>
        <a:xfrm>
          <a:off x="0" y="0"/>
          <a:ext cx="0" cy="0"/>
          <a:chOff x="0" y="0"/>
          <a:chExt cx="0" cy="0"/>
        </a:xfrm>
      </p:grpSpPr>
      <p:sp>
        <p:nvSpPr>
          <p:cNvPr id="88" name="Google Shape;88;p13"/>
          <p:cNvSpPr/>
          <p:nvPr>
            <p:ph idx="2" type="pic"/>
          </p:nvPr>
        </p:nvSpPr>
        <p:spPr>
          <a:xfrm>
            <a:off x="0" y="0"/>
            <a:ext cx="4196400" cy="4629300"/>
          </a:xfrm>
          <a:prstGeom prst="rect">
            <a:avLst/>
          </a:prstGeom>
          <a:noFill/>
          <a:ln>
            <a:noFill/>
          </a:ln>
        </p:spPr>
      </p:sp>
      <p:sp>
        <p:nvSpPr>
          <p:cNvPr id="89" name="Google Shape;89;p13"/>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pic>
        <p:nvPicPr>
          <p:cNvPr id="90" name="Google Shape;90;p13"/>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91" name="Google Shape;91;p13"/>
          <p:cNvSpPr txBox="1"/>
          <p:nvPr>
            <p:ph idx="1"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2" name="Google Shape;92;p13"/>
          <p:cNvSpPr txBox="1"/>
          <p:nvPr>
            <p:ph type="title"/>
          </p:nvPr>
        </p:nvSpPr>
        <p:spPr>
          <a:xfrm>
            <a:off x="4702725" y="228000"/>
            <a:ext cx="41295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2pPr>
            <a:lvl3pPr lvl="2"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3pPr>
            <a:lvl4pPr lvl="3"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4pPr>
            <a:lvl5pPr lvl="4"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5pPr>
            <a:lvl6pPr lvl="5"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6pPr>
            <a:lvl7pPr lvl="6"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7pPr>
            <a:lvl8pPr lvl="7"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8pPr>
            <a:lvl9pPr lvl="8"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9pPr>
          </a:lstStyle>
          <a:p/>
        </p:txBody>
      </p:sp>
      <p:sp>
        <p:nvSpPr>
          <p:cNvPr id="93" name="Google Shape;93;p13"/>
          <p:cNvSpPr txBox="1"/>
          <p:nvPr>
            <p:ph idx="3" type="body"/>
          </p:nvPr>
        </p:nvSpPr>
        <p:spPr>
          <a:xfrm>
            <a:off x="4702800" y="863550"/>
            <a:ext cx="41295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indent="-317500" lvl="1" marL="914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indent="-317500" lvl="2" marL="1371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indent="-317500" lvl="3" marL="1828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indent="-317500" lvl="4" marL="22860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indent="-317500" lvl="5" marL="2743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indent="-317500" lvl="6" marL="3200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indent="-317500" lvl="7" marL="3657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indent="-317500" lvl="8" marL="4114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p:txBody>
      </p:sp>
      <p:sp>
        <p:nvSpPr>
          <p:cNvPr id="94" name="Google Shape;94;p13"/>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sp>
        <p:nvSpPr>
          <p:cNvPr id="95" name="Google Shape;95;p13"/>
          <p:cNvSpPr txBox="1"/>
          <p:nvPr>
            <p:ph idx="4"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28000"/>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1pPr>
            <a:lvl2pPr lvl="1">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2pPr>
            <a:lvl3pPr lvl="2">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3pPr>
            <a:lvl4pPr lvl="3">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4pPr>
            <a:lvl5pPr lvl="4">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5pPr>
            <a:lvl6pPr lvl="5">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6pPr>
            <a:lvl7pPr lvl="6">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7pPr>
            <a:lvl8pPr lvl="7">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8pPr>
            <a:lvl9pPr lvl="8">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indent="-317500" lvl="1" marL="914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indent="-317500" lvl="2" marL="1371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indent="-317500" lvl="3" marL="1828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indent="-317500" lvl="4" marL="22860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indent="-317500" lvl="5" marL="2743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indent="-317500" lvl="6" marL="3200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indent="-317500" lvl="7" marL="3657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indent="-317500" lvl="8" marL="4114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hyperlink" Target="https://www.boisestate.edu/coen-ispm/" TargetMode="External"/><Relationship Id="rId5" Type="http://schemas.openxmlformats.org/officeDocument/2006/relationships/hyperlink" Target="https://www.boisestate.edu/coen-isp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www.acsac.org/2020/program/final/s297.html" TargetMode="Externa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hyperlink" Target="http://www.youtube.com/watch?v=B-cie4CjoSs" TargetMode="External"/><Relationship Id="rId5"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hyperlink" Target="http://drive.google.com/file/d/16IEuHtVSf6tCBX55E1XMl6TFigTzjnnX/view" TargetMode="External"/><Relationship Id="rId5" Type="http://schemas.openxmlformats.org/officeDocument/2006/relationships/image" Target="../media/image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png"/><Relationship Id="rId4" Type="http://schemas.openxmlformats.org/officeDocument/2006/relationships/hyperlink" Target="http://www.youtube.com/watch?v=jUXZePnEyyE" TargetMode="External"/><Relationship Id="rId5" Type="http://schemas.openxmlformats.org/officeDocument/2006/relationships/image" Target="../media/image18.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5.pn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png"/><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pn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png"/><Relationship Id="rId4"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BEACON Labs Workshop - Lab 2</a:t>
            </a:r>
            <a:endParaRPr/>
          </a:p>
        </p:txBody>
      </p:sp>
      <p:pic>
        <p:nvPicPr>
          <p:cNvPr id="101" name="Google Shape;101;p14"/>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02" name="Google Shape;102;p14"/>
          <p:cNvSpPr txBox="1"/>
          <p:nvPr/>
        </p:nvSpPr>
        <p:spPr>
          <a:xfrm>
            <a:off x="311700" y="1332975"/>
            <a:ext cx="8520600" cy="1598100"/>
          </a:xfrm>
          <a:prstGeom prst="rect">
            <a:avLst/>
          </a:prstGeom>
          <a:noFill/>
          <a:ln>
            <a:noFill/>
          </a:ln>
        </p:spPr>
        <p:txBody>
          <a:bodyPr anchorCtr="0" anchor="b" bIns="91425" lIns="91425" spcFirstLastPara="1" rIns="91425" wrap="square" tIns="91425">
            <a:normAutofit/>
          </a:bodyPr>
          <a:lstStyle/>
          <a:p>
            <a:pPr indent="0" lvl="0" marL="0" rtl="0" algn="ctr">
              <a:lnSpc>
                <a:spcPct val="115000"/>
              </a:lnSpc>
              <a:spcBef>
                <a:spcPts val="0"/>
              </a:spcBef>
              <a:spcAft>
                <a:spcPts val="0"/>
              </a:spcAft>
              <a:buSzPts val="935"/>
              <a:buNone/>
            </a:pPr>
            <a:r>
              <a:rPr b="1" lang="en" sz="3200">
                <a:solidFill>
                  <a:srgbClr val="F1C232"/>
                </a:solidFill>
                <a:latin typeface="Graduate"/>
                <a:ea typeface="Graduate"/>
                <a:cs typeface="Graduate"/>
                <a:sym typeface="Graduate"/>
              </a:rPr>
              <a:t>Service Worker Cross-Site Scripting Attack Lab</a:t>
            </a:r>
            <a:endParaRPr sz="3200">
              <a:solidFill>
                <a:srgbClr val="FFFFFF"/>
              </a:solidFill>
              <a:latin typeface="Montserrat Black"/>
              <a:ea typeface="Montserrat Black"/>
              <a:cs typeface="Montserrat Black"/>
              <a:sym typeface="Montserrat Black"/>
            </a:endParaRPr>
          </a:p>
        </p:txBody>
      </p:sp>
      <p:sp>
        <p:nvSpPr>
          <p:cNvPr id="103" name="Google Shape;103;p14"/>
          <p:cNvSpPr txBox="1"/>
          <p:nvPr/>
        </p:nvSpPr>
        <p:spPr>
          <a:xfrm>
            <a:off x="0" y="3333900"/>
            <a:ext cx="4395300" cy="79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Gaby Dagher, PhD</a:t>
            </a:r>
            <a:br>
              <a:rPr b="1" lang="en" sz="2000">
                <a:solidFill>
                  <a:srgbClr val="FFFFFF"/>
                </a:solidFill>
                <a:latin typeface="Montserrat"/>
                <a:ea typeface="Montserrat"/>
                <a:cs typeface="Montserrat"/>
                <a:sym typeface="Montserrat"/>
              </a:rPr>
            </a:br>
            <a:r>
              <a:rPr lang="en" sz="1600">
                <a:solidFill>
                  <a:srgbClr val="FFFFFF"/>
                </a:solidFill>
                <a:latin typeface="Montserrat"/>
                <a:ea typeface="Montserrat"/>
                <a:cs typeface="Montserrat"/>
                <a:sym typeface="Montserrat"/>
              </a:rPr>
              <a:t>ISPM Research Lab</a:t>
            </a:r>
            <a:br>
              <a:rPr lang="en" sz="1600">
                <a:solidFill>
                  <a:srgbClr val="FFFFFF"/>
                </a:solidFill>
                <a:latin typeface="Montserrat"/>
                <a:ea typeface="Montserrat"/>
                <a:cs typeface="Montserrat"/>
                <a:sym typeface="Montserrat"/>
              </a:rPr>
            </a:br>
            <a:r>
              <a:rPr lang="en" sz="1600">
                <a:solidFill>
                  <a:srgbClr val="FFFFFF"/>
                </a:solidFill>
                <a:latin typeface="Montserrat"/>
                <a:ea typeface="Montserrat"/>
                <a:cs typeface="Montserrat"/>
                <a:sym typeface="Montserrat"/>
              </a:rPr>
              <a:t>Boise State University</a:t>
            </a:r>
            <a:endParaRPr sz="1600">
              <a:solidFill>
                <a:srgbClr val="FFFFFF"/>
              </a:solidFill>
              <a:latin typeface="Montserrat"/>
              <a:ea typeface="Montserrat"/>
              <a:cs typeface="Montserrat"/>
              <a:sym typeface="Montserrat"/>
            </a:endParaRPr>
          </a:p>
        </p:txBody>
      </p:sp>
      <p:sp>
        <p:nvSpPr>
          <p:cNvPr id="104" name="Google Shape;104;p14"/>
          <p:cNvSpPr txBox="1"/>
          <p:nvPr/>
        </p:nvSpPr>
        <p:spPr>
          <a:xfrm>
            <a:off x="311700" y="4476900"/>
            <a:ext cx="8520600" cy="39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Montserrat Medium"/>
                <a:ea typeface="Montserrat Medium"/>
                <a:cs typeface="Montserrat Medium"/>
                <a:sym typeface="Montserrat Medium"/>
              </a:rPr>
              <a:t>Created by: </a:t>
            </a:r>
            <a:r>
              <a:rPr lang="en">
                <a:solidFill>
                  <a:schemeClr val="lt1"/>
                </a:solidFill>
                <a:latin typeface="Montserrat Medium"/>
                <a:ea typeface="Montserrat Medium"/>
                <a:cs typeface="Montserrat Medium"/>
                <a:sym typeface="Montserrat Medium"/>
              </a:rPr>
              <a:t>Josh Boyle</a:t>
            </a:r>
            <a:r>
              <a:rPr lang="en">
                <a:solidFill>
                  <a:srgbClr val="FFFFFF"/>
                </a:solidFill>
                <a:latin typeface="Montserrat Medium"/>
                <a:ea typeface="Montserrat Medium"/>
                <a:cs typeface="Montserrat Medium"/>
                <a:sym typeface="Montserrat Medium"/>
              </a:rPr>
              <a:t>, </a:t>
            </a:r>
            <a:r>
              <a:rPr lang="en" sz="1600" u="sng">
                <a:solidFill>
                  <a:srgbClr val="FFFFFF"/>
                </a:solidFill>
                <a:latin typeface="Montserrat"/>
                <a:ea typeface="Montserrat"/>
                <a:cs typeface="Montserrat"/>
                <a:sym typeface="Montserrat"/>
                <a:hlinkClick r:id="rId4">
                  <a:extLst>
                    <a:ext uri="{A12FA001-AC4F-418D-AE19-62706E023703}">
                      <ahyp:hlinkClr val="tx"/>
                    </a:ext>
                  </a:extLst>
                </a:hlinkClick>
              </a:rPr>
              <a:t>ISPM Research Lab</a:t>
            </a:r>
            <a:r>
              <a:rPr lang="en" u="sng">
                <a:solidFill>
                  <a:srgbClr val="FFFFFF"/>
                </a:solidFill>
                <a:latin typeface="Montserrat Medium"/>
                <a:ea typeface="Montserrat Medium"/>
                <a:cs typeface="Montserrat Medium"/>
                <a:sym typeface="Montserrat Medium"/>
                <a:hlinkClick r:id="rId5">
                  <a:extLst>
                    <a:ext uri="{A12FA001-AC4F-418D-AE19-62706E023703}">
                      <ahyp:hlinkClr val="tx"/>
                    </a:ext>
                  </a:extLst>
                </a:hlinkClick>
              </a:rPr>
              <a:t> </a:t>
            </a:r>
            <a:endParaRPr>
              <a:solidFill>
                <a:srgbClr val="FFFFFF"/>
              </a:solidFill>
              <a:latin typeface="Montserrat Medium"/>
              <a:ea typeface="Montserrat Medium"/>
              <a:cs typeface="Montserrat Medium"/>
              <a:sym typeface="Montserrat Medium"/>
            </a:endParaRPr>
          </a:p>
        </p:txBody>
      </p:sp>
      <p:sp>
        <p:nvSpPr>
          <p:cNvPr id="105" name="Google Shape;105;p14"/>
          <p:cNvSpPr txBox="1"/>
          <p:nvPr/>
        </p:nvSpPr>
        <p:spPr>
          <a:xfrm>
            <a:off x="4169575" y="3333900"/>
            <a:ext cx="4395300" cy="79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Dylan Gresham</a:t>
            </a:r>
            <a:br>
              <a:rPr b="1" lang="en" sz="2000">
                <a:solidFill>
                  <a:srgbClr val="FFFFFF"/>
                </a:solidFill>
                <a:latin typeface="Montserrat"/>
                <a:ea typeface="Montserrat"/>
                <a:cs typeface="Montserrat"/>
                <a:sym typeface="Montserrat"/>
              </a:rPr>
            </a:br>
            <a:r>
              <a:rPr lang="en" sz="1600">
                <a:solidFill>
                  <a:srgbClr val="FFFFFF"/>
                </a:solidFill>
                <a:latin typeface="Montserrat"/>
                <a:ea typeface="Montserrat"/>
                <a:cs typeface="Montserrat"/>
                <a:sym typeface="Montserrat"/>
              </a:rPr>
              <a:t>ISPM Research Lab</a:t>
            </a:r>
            <a:br>
              <a:rPr lang="en" sz="1600">
                <a:solidFill>
                  <a:srgbClr val="FFFFFF"/>
                </a:solidFill>
                <a:latin typeface="Montserrat"/>
                <a:ea typeface="Montserrat"/>
                <a:cs typeface="Montserrat"/>
                <a:sym typeface="Montserrat"/>
              </a:rPr>
            </a:br>
            <a:r>
              <a:rPr lang="en" sz="1600">
                <a:solidFill>
                  <a:srgbClr val="FFFFFF"/>
                </a:solidFill>
                <a:latin typeface="Montserrat"/>
                <a:ea typeface="Montserrat"/>
                <a:cs typeface="Montserrat"/>
                <a:sym typeface="Montserrat"/>
              </a:rPr>
              <a:t>Boise State University</a:t>
            </a:r>
            <a:endParaRPr sz="160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txBox="1"/>
          <p:nvPr>
            <p:ph idx="1" type="subTitle"/>
          </p:nvPr>
        </p:nvSpPr>
        <p:spPr>
          <a:xfrm>
            <a:off x="311700" y="1599325"/>
            <a:ext cx="8438100" cy="3370200"/>
          </a:xfrm>
          <a:prstGeom prst="rect">
            <a:avLst/>
          </a:prstGeom>
        </p:spPr>
        <p:txBody>
          <a:bodyPr anchorCtr="0" anchor="t" bIns="91425" lIns="91425" spcFirstLastPara="1" rIns="91425" wrap="square" tIns="91425">
            <a:noAutofit/>
          </a:bodyPr>
          <a:lstStyle/>
          <a:p>
            <a:pPr indent="-374650" lvl="0" marL="457200" rtl="0" algn="l">
              <a:lnSpc>
                <a:spcPct val="150000"/>
              </a:lnSpc>
              <a:spcBef>
                <a:spcPts val="0"/>
              </a:spcBef>
              <a:spcAft>
                <a:spcPts val="0"/>
              </a:spcAft>
              <a:buSzPts val="2300"/>
              <a:buChar char="●"/>
            </a:pPr>
            <a:r>
              <a:rPr lang="en"/>
              <a:t>Title: </a:t>
            </a:r>
            <a:r>
              <a:rPr b="0" lang="en" u="sng">
                <a:solidFill>
                  <a:srgbClr val="FFFFFF"/>
                </a:solidFill>
                <a:hlinkClick r:id="rId3">
                  <a:extLst>
                    <a:ext uri="{A12FA001-AC4F-418D-AE19-62706E023703}">
                      <ahyp:hlinkClr val="tx"/>
                    </a:ext>
                  </a:extLst>
                </a:hlinkClick>
              </a:rPr>
              <a:t>Security Study of Service Worker Cross-Site Scripting</a:t>
            </a:r>
            <a:endParaRPr b="0">
              <a:solidFill>
                <a:srgbClr val="FFFFFF"/>
              </a:solidFill>
            </a:endParaRPr>
          </a:p>
          <a:p>
            <a:pPr indent="-374650" lvl="0" marL="457200" rtl="0" algn="l">
              <a:lnSpc>
                <a:spcPct val="150000"/>
              </a:lnSpc>
              <a:spcBef>
                <a:spcPts val="0"/>
              </a:spcBef>
              <a:spcAft>
                <a:spcPts val="0"/>
              </a:spcAft>
              <a:buSzPts val="2300"/>
              <a:buChar char="●"/>
            </a:pPr>
            <a:r>
              <a:rPr lang="en"/>
              <a:t>Authors: </a:t>
            </a:r>
            <a:r>
              <a:rPr b="0" lang="en"/>
              <a:t>Phakpoom Chinprutthiwong</a:t>
            </a:r>
            <a:r>
              <a:rPr b="0" lang="en"/>
              <a:t> et al.</a:t>
            </a:r>
            <a:endParaRPr b="0"/>
          </a:p>
          <a:p>
            <a:pPr indent="-374650" lvl="0" marL="457200" rtl="0" algn="l">
              <a:lnSpc>
                <a:spcPct val="150000"/>
              </a:lnSpc>
              <a:spcBef>
                <a:spcPts val="0"/>
              </a:spcBef>
              <a:spcAft>
                <a:spcPts val="0"/>
              </a:spcAft>
              <a:buSzPts val="2300"/>
              <a:buChar char="●"/>
            </a:pPr>
            <a:r>
              <a:rPr lang="en"/>
              <a:t>Conference:</a:t>
            </a:r>
            <a:r>
              <a:rPr b="0" lang="en"/>
              <a:t> ACSAC</a:t>
            </a:r>
            <a:endParaRPr b="0"/>
          </a:p>
          <a:p>
            <a:pPr indent="-374650" lvl="0" marL="457200" rtl="0" algn="l">
              <a:lnSpc>
                <a:spcPct val="150000"/>
              </a:lnSpc>
              <a:spcBef>
                <a:spcPts val="0"/>
              </a:spcBef>
              <a:spcAft>
                <a:spcPts val="0"/>
              </a:spcAft>
              <a:buSzPts val="2300"/>
              <a:buChar char="●"/>
            </a:pPr>
            <a:r>
              <a:rPr lang="en"/>
              <a:t>Year:</a:t>
            </a:r>
            <a:r>
              <a:rPr b="0" lang="en"/>
              <a:t> 2020</a:t>
            </a:r>
            <a:endParaRPr b="0"/>
          </a:p>
          <a:p>
            <a:pPr indent="0" lvl="0" marL="0" rtl="0" algn="l">
              <a:spcBef>
                <a:spcPts val="0"/>
              </a:spcBef>
              <a:spcAft>
                <a:spcPts val="0"/>
              </a:spcAft>
              <a:buNone/>
            </a:pPr>
            <a:r>
              <a:t/>
            </a:r>
            <a:endParaRPr b="0" sz="2600"/>
          </a:p>
        </p:txBody>
      </p:sp>
      <p:sp>
        <p:nvSpPr>
          <p:cNvPr id="111" name="Google Shape;111;p1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Source Paper</a:t>
            </a:r>
            <a:endParaRPr/>
          </a:p>
        </p:txBody>
      </p:sp>
      <p:pic>
        <p:nvPicPr>
          <p:cNvPr id="112" name="Google Shape;112;p15"/>
          <p:cNvPicPr preferRelativeResize="0"/>
          <p:nvPr/>
        </p:nvPicPr>
        <p:blipFill>
          <a:blip r:embed="rId4">
            <a:alphaModFix/>
          </a:blip>
          <a:stretch>
            <a:fillRect/>
          </a:stretch>
        </p:blipFill>
        <p:spPr>
          <a:xfrm>
            <a:off x="839025" y="69368"/>
            <a:ext cx="2442750" cy="673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idx="1" type="subTitle"/>
          </p:nvPr>
        </p:nvSpPr>
        <p:spPr>
          <a:xfrm>
            <a:off x="311700" y="1599325"/>
            <a:ext cx="8438100" cy="33702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SzPts val="2300"/>
              <a:buAutoNum type="arabicPeriod"/>
            </a:pPr>
            <a:r>
              <a:rPr lang="en"/>
              <a:t>Download &amp; Install </a:t>
            </a:r>
            <a:r>
              <a:rPr lang="en">
                <a:solidFill>
                  <a:schemeClr val="accent1"/>
                </a:solidFill>
              </a:rPr>
              <a:t>Oracle VirtualBox</a:t>
            </a:r>
            <a:endParaRPr>
              <a:solidFill>
                <a:schemeClr val="accent1"/>
              </a:solidFill>
            </a:endParaRPr>
          </a:p>
          <a:p>
            <a:pPr indent="-374650" lvl="0" marL="457200" rtl="0" algn="l">
              <a:spcBef>
                <a:spcPts val="0"/>
              </a:spcBef>
              <a:spcAft>
                <a:spcPts val="0"/>
              </a:spcAft>
              <a:buSzPts val="2300"/>
              <a:buAutoNum type="arabicPeriod"/>
            </a:pPr>
            <a:r>
              <a:rPr lang="en"/>
              <a:t>Download </a:t>
            </a:r>
            <a:r>
              <a:rPr lang="en">
                <a:solidFill>
                  <a:schemeClr val="accent1"/>
                </a:solidFill>
              </a:rPr>
              <a:t>Virtual Machine Images</a:t>
            </a:r>
            <a:endParaRPr>
              <a:solidFill>
                <a:schemeClr val="accent1"/>
              </a:solidFill>
            </a:endParaRPr>
          </a:p>
          <a:p>
            <a:pPr indent="-374650" lvl="0" marL="457200" rtl="0" algn="l">
              <a:spcBef>
                <a:spcPts val="0"/>
              </a:spcBef>
              <a:spcAft>
                <a:spcPts val="0"/>
              </a:spcAft>
              <a:buSzPts val="2300"/>
              <a:buAutoNum type="arabicPeriod"/>
            </a:pPr>
            <a:r>
              <a:rPr lang="en"/>
              <a:t>Open the </a:t>
            </a:r>
            <a:r>
              <a:rPr lang="en">
                <a:solidFill>
                  <a:schemeClr val="accent1"/>
                </a:solidFill>
              </a:rPr>
              <a:t>Instruction Document</a:t>
            </a:r>
            <a:endParaRPr>
              <a:solidFill>
                <a:schemeClr val="accent1"/>
              </a:solidFill>
            </a:endParaRPr>
          </a:p>
          <a:p>
            <a:pPr indent="-374650" lvl="0" marL="457200" rtl="0" algn="l">
              <a:spcBef>
                <a:spcPts val="0"/>
              </a:spcBef>
              <a:spcAft>
                <a:spcPts val="0"/>
              </a:spcAft>
              <a:buSzPts val="2300"/>
              <a:buAutoNum type="arabicPeriod"/>
            </a:pPr>
            <a:r>
              <a:rPr lang="en"/>
              <a:t>Start both Virtual Machines</a:t>
            </a:r>
            <a:endParaRPr/>
          </a:p>
        </p:txBody>
      </p:sp>
      <p:sp>
        <p:nvSpPr>
          <p:cNvPr id="118" name="Google Shape;118;p1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Preparation</a:t>
            </a:r>
            <a:endParaRPr/>
          </a:p>
        </p:txBody>
      </p:sp>
      <p:pic>
        <p:nvPicPr>
          <p:cNvPr id="119" name="Google Shape;119;p16"/>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sz="2600"/>
              <a:t>Service Worker Cross-Site Scripting (SW-XSS)</a:t>
            </a:r>
            <a:endParaRPr sz="2600"/>
          </a:p>
          <a:p>
            <a:pPr indent="-393700" lvl="0" marL="457200" rtl="0" algn="l">
              <a:spcBef>
                <a:spcPts val="0"/>
              </a:spcBef>
              <a:spcAft>
                <a:spcPts val="0"/>
              </a:spcAft>
              <a:buSzPts val="2600"/>
              <a:buChar char="●"/>
            </a:pPr>
            <a:r>
              <a:rPr lang="en" sz="2600"/>
              <a:t>XSS attacks are both common </a:t>
            </a:r>
            <a:r>
              <a:rPr i="1" lang="en" sz="2600"/>
              <a:t>and</a:t>
            </a:r>
            <a:r>
              <a:rPr lang="en" sz="2600"/>
              <a:t> dangerous</a:t>
            </a:r>
            <a:endParaRPr sz="2600"/>
          </a:p>
          <a:p>
            <a:pPr indent="-393700" lvl="0" marL="457200" rtl="0" algn="l">
              <a:spcBef>
                <a:spcPts val="0"/>
              </a:spcBef>
              <a:spcAft>
                <a:spcPts val="0"/>
              </a:spcAft>
              <a:buSzPts val="2600"/>
              <a:buChar char="●"/>
            </a:pPr>
            <a:r>
              <a:rPr lang="en" sz="2600"/>
              <a:t>Service workers caused threat level to go up</a:t>
            </a:r>
            <a:endParaRPr sz="2600"/>
          </a:p>
          <a:p>
            <a:pPr indent="-393700" lvl="0" marL="457200" rtl="0" algn="l">
              <a:spcBef>
                <a:spcPts val="0"/>
              </a:spcBef>
              <a:spcAft>
                <a:spcPts val="0"/>
              </a:spcAft>
              <a:buSzPts val="2600"/>
              <a:buChar char="●"/>
            </a:pPr>
            <a:r>
              <a:rPr lang="en" sz="2600"/>
              <a:t>“Security Study of Service Worker Cross-Site Scripting” from pages 643-564 in the 36th Annual Computer Security Applications Conference (ACSAC) held in 2020</a:t>
            </a:r>
            <a:endParaRPr sz="2600"/>
          </a:p>
        </p:txBody>
      </p:sp>
      <p:sp>
        <p:nvSpPr>
          <p:cNvPr id="125" name="Google Shape;125;p17"/>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Overview</a:t>
            </a:r>
            <a:endParaRPr/>
          </a:p>
        </p:txBody>
      </p:sp>
      <p:pic>
        <p:nvPicPr>
          <p:cNvPr id="126" name="Google Shape;126;p17"/>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Overview</a:t>
            </a:r>
            <a:endParaRPr/>
          </a:p>
        </p:txBody>
      </p:sp>
      <p:pic>
        <p:nvPicPr>
          <p:cNvPr id="132" name="Google Shape;132;p18"/>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descr="Nowadays, modern websites are utilizing service workers to provide users with app-like functionalities such as offline mode and push notifications. To handle such features, the service worker is equipped with special privileges including HTTP traffic manipulation. Thus, it is designed with security as a priority. However, we find that many websites introduce a questionable practice that can jeopardize the security of a service worker. &#10;&#10;In this work, we demonstrate how this practice can result in a cross-site scripting (XSS) attack inside a service worker, allowing an attacker to obtain and leverage service worker's privileges. Due to the uniqueness of these privileges, such attacks can lead to more severe consequences compared to a typical XSS attack. We term this type of vulnerability as Service Worker based Cross-Site Scripting (SW-XSS). To assess the real-world security impact, we develop a tool called SW-Scanner and use it to analyze top websites in the wild. Our findings reveal a worrisome trend. In total, we find 40 websites vulnerable to this attack including several popular and high ranking websites. Finally, we discuss potential defense solutions to mitigate the SW-XSS vulnerability.&#10;&#10;Authors: Phakpoom Chinprutthiwong (Texas A&amp;M University), Raj Vardhan (Texas A&amp;M University), GuangLiang Yang (Texas A&amp;M University), Guofei Gu (Texas A&amp;M University)" id="133" name="Google Shape;133;p18" title="5B 2 Security Study of Service Worker Cross-Site Scripting">
            <a:hlinkClick r:id="rId4"/>
          </p:cNvPr>
          <p:cNvPicPr preferRelativeResize="0"/>
          <p:nvPr/>
        </p:nvPicPr>
        <p:blipFill>
          <a:blip r:embed="rId5">
            <a:alphaModFix/>
          </a:blip>
          <a:stretch>
            <a:fillRect/>
          </a:stretch>
        </p:blipFill>
        <p:spPr>
          <a:xfrm>
            <a:off x="1486588" y="1578725"/>
            <a:ext cx="6170825" cy="3471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DOM-XSS:</a:t>
            </a:r>
            <a:endParaRPr sz="2400"/>
          </a:p>
          <a:p>
            <a:pPr indent="-393700" lvl="0" marL="457200" rtl="0" algn="l">
              <a:spcBef>
                <a:spcPts val="0"/>
              </a:spcBef>
              <a:spcAft>
                <a:spcPts val="0"/>
              </a:spcAft>
              <a:buSzPts val="2600"/>
              <a:buChar char="●"/>
            </a:pPr>
            <a:r>
              <a:rPr b="0" lang="en" sz="2600"/>
              <a:t>DOM = Document Object Model</a:t>
            </a:r>
            <a:endParaRPr b="0" sz="2600"/>
          </a:p>
          <a:p>
            <a:pPr indent="-393700" lvl="0" marL="457200" rtl="0" algn="l">
              <a:spcBef>
                <a:spcPts val="0"/>
              </a:spcBef>
              <a:spcAft>
                <a:spcPts val="0"/>
              </a:spcAft>
              <a:buSzPts val="2600"/>
              <a:buChar char="●"/>
            </a:pPr>
            <a:r>
              <a:rPr b="0" lang="en" sz="2600"/>
              <a:t>SW-XSS is an extension of DOM-XSS</a:t>
            </a:r>
            <a:endParaRPr b="0" sz="2600"/>
          </a:p>
          <a:p>
            <a:pPr indent="-393700" lvl="0" marL="457200" rtl="0" algn="l">
              <a:spcBef>
                <a:spcPts val="0"/>
              </a:spcBef>
              <a:spcAft>
                <a:spcPts val="0"/>
              </a:spcAft>
              <a:buSzPts val="2600"/>
              <a:buChar char="●"/>
            </a:pPr>
            <a:r>
              <a:rPr b="0" lang="en" sz="2600"/>
              <a:t>Specialized client-side </a:t>
            </a:r>
            <a:r>
              <a:rPr b="0" lang="en" sz="2600"/>
              <a:t>injection</a:t>
            </a:r>
            <a:r>
              <a:rPr b="0" lang="en" sz="2600"/>
              <a:t> attack</a:t>
            </a:r>
            <a:endParaRPr b="0" sz="2600"/>
          </a:p>
          <a:p>
            <a:pPr indent="-393700" lvl="0" marL="457200" rtl="0" algn="l">
              <a:spcBef>
                <a:spcPts val="0"/>
              </a:spcBef>
              <a:spcAft>
                <a:spcPts val="0"/>
              </a:spcAft>
              <a:buSzPts val="2600"/>
              <a:buChar char="●"/>
            </a:pPr>
            <a:r>
              <a:rPr b="0" lang="en" sz="2600"/>
              <a:t>Allows injection of scripts into web pages</a:t>
            </a:r>
            <a:endParaRPr b="0" sz="2600"/>
          </a:p>
          <a:p>
            <a:pPr indent="-393700" lvl="0" marL="457200" rtl="0" algn="l">
              <a:spcBef>
                <a:spcPts val="0"/>
              </a:spcBef>
              <a:spcAft>
                <a:spcPts val="0"/>
              </a:spcAft>
              <a:buSzPts val="2600"/>
              <a:buChar char="●"/>
            </a:pPr>
            <a:r>
              <a:rPr b="0" lang="en" sz="2600"/>
              <a:t>Possible due to Cross Origin Reference Sharing (CORS) and a lack of URL sanitation</a:t>
            </a:r>
            <a:endParaRPr b="0" sz="2600"/>
          </a:p>
        </p:txBody>
      </p:sp>
      <p:sp>
        <p:nvSpPr>
          <p:cNvPr id="139" name="Google Shape;139;p19"/>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1</a:t>
            </a:r>
            <a:endParaRPr/>
          </a:p>
        </p:txBody>
      </p:sp>
      <p:pic>
        <p:nvPicPr>
          <p:cNvPr id="140" name="Google Shape;140;p19"/>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CORS:</a:t>
            </a:r>
            <a:endParaRPr sz="2400"/>
          </a:p>
          <a:p>
            <a:pPr indent="-361950" lvl="0" marL="457200" rtl="0" algn="l">
              <a:spcBef>
                <a:spcPts val="0"/>
              </a:spcBef>
              <a:spcAft>
                <a:spcPts val="0"/>
              </a:spcAft>
              <a:buSzPts val="2100"/>
              <a:buChar char="●"/>
            </a:pPr>
            <a:r>
              <a:rPr b="0" lang="en" sz="2100"/>
              <a:t>HTTP-Header technology</a:t>
            </a:r>
            <a:endParaRPr b="0" sz="2100"/>
          </a:p>
          <a:p>
            <a:pPr indent="-361950" lvl="0" marL="457200" rtl="0" algn="l">
              <a:spcBef>
                <a:spcPts val="0"/>
              </a:spcBef>
              <a:spcAft>
                <a:spcPts val="0"/>
              </a:spcAft>
              <a:buSzPts val="2100"/>
              <a:buChar char="●"/>
            </a:pPr>
            <a:r>
              <a:rPr b="0" lang="en" sz="2100"/>
              <a:t>Permits origin declaration</a:t>
            </a:r>
            <a:endParaRPr b="0" sz="2100"/>
          </a:p>
          <a:p>
            <a:pPr indent="-361950" lvl="0" marL="457200" rtl="0" algn="l">
              <a:spcBef>
                <a:spcPts val="0"/>
              </a:spcBef>
              <a:spcAft>
                <a:spcPts val="0"/>
              </a:spcAft>
              <a:buSzPts val="2100"/>
              <a:buChar char="●"/>
            </a:pPr>
            <a:r>
              <a:rPr b="0" lang="en" sz="2100"/>
              <a:t>Able to block or permit certain types of traffic</a:t>
            </a:r>
            <a:endParaRPr b="0" sz="2100"/>
          </a:p>
          <a:p>
            <a:pPr indent="0" lvl="0" marL="0" rtl="0" algn="l">
              <a:spcBef>
                <a:spcPts val="0"/>
              </a:spcBef>
              <a:spcAft>
                <a:spcPts val="0"/>
              </a:spcAft>
              <a:buNone/>
            </a:pPr>
            <a:r>
              <a:rPr lang="en" sz="2400"/>
              <a:t>URL Sanitation:</a:t>
            </a:r>
            <a:endParaRPr sz="2400"/>
          </a:p>
          <a:p>
            <a:pPr indent="-361950" lvl="0" marL="457200" rtl="0" algn="l">
              <a:spcBef>
                <a:spcPts val="0"/>
              </a:spcBef>
              <a:spcAft>
                <a:spcPts val="0"/>
              </a:spcAft>
              <a:buSzPts val="2100"/>
              <a:buChar char="●"/>
            </a:pPr>
            <a:r>
              <a:rPr b="0" lang="en" sz="2100"/>
              <a:t>Converting special characters into codes</a:t>
            </a:r>
            <a:endParaRPr b="0" sz="2100"/>
          </a:p>
          <a:p>
            <a:pPr indent="-361950" lvl="1" marL="914400" rtl="0" algn="l">
              <a:spcBef>
                <a:spcPts val="0"/>
              </a:spcBef>
              <a:spcAft>
                <a:spcPts val="0"/>
              </a:spcAft>
              <a:buSzPts val="2100"/>
              <a:buChar char="○"/>
            </a:pPr>
            <a:r>
              <a:rPr lang="en" sz="2100"/>
              <a:t>&lt;script&gt;alert(“hi”);&lt;/script&gt; turns into</a:t>
            </a:r>
            <a:endParaRPr sz="2100"/>
          </a:p>
          <a:p>
            <a:pPr indent="-361950" lvl="1" marL="914400" rtl="0" algn="l">
              <a:spcBef>
                <a:spcPts val="0"/>
              </a:spcBef>
              <a:spcAft>
                <a:spcPts val="0"/>
              </a:spcAft>
              <a:buSzPts val="2100"/>
              <a:buChar char="○"/>
            </a:pPr>
            <a:r>
              <a:rPr lang="en" sz="2100"/>
              <a:t>&amp;lt;script&amp;gt;alert(&amp;quot;hi&amp;quot;);&amp;lt;/script&amp;gt;</a:t>
            </a:r>
            <a:endParaRPr sz="2100"/>
          </a:p>
          <a:p>
            <a:pPr indent="-361950" lvl="1" marL="914400" rtl="0" algn="l">
              <a:spcBef>
                <a:spcPts val="0"/>
              </a:spcBef>
              <a:spcAft>
                <a:spcPts val="0"/>
              </a:spcAft>
              <a:buSzPts val="2100"/>
              <a:buChar char="○"/>
            </a:pPr>
            <a:r>
              <a:rPr lang="en" sz="2100"/>
              <a:t>The</a:t>
            </a:r>
            <a:r>
              <a:rPr lang="en" sz="2100"/>
              <a:t> first format would be recognized as JavaScript while the second won’t</a:t>
            </a:r>
            <a:endParaRPr sz="2100"/>
          </a:p>
        </p:txBody>
      </p:sp>
      <p:sp>
        <p:nvSpPr>
          <p:cNvPr id="146" name="Google Shape;146;p20"/>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1</a:t>
            </a:r>
            <a:endParaRPr/>
          </a:p>
        </p:txBody>
      </p:sp>
      <p:pic>
        <p:nvPicPr>
          <p:cNvPr id="147" name="Google Shape;147;p20"/>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How would we perform a DOM-XSS?</a:t>
            </a:r>
            <a:endParaRPr sz="2400"/>
          </a:p>
          <a:p>
            <a:pPr indent="-381000" lvl="0" marL="457200" rtl="0" algn="l">
              <a:spcBef>
                <a:spcPts val="0"/>
              </a:spcBef>
              <a:spcAft>
                <a:spcPts val="0"/>
              </a:spcAft>
              <a:buSzPts val="2400"/>
              <a:buAutoNum type="arabicPeriod"/>
            </a:pPr>
            <a:r>
              <a:rPr b="0" lang="en" sz="2400"/>
              <a:t>Find a vulnerable web page</a:t>
            </a:r>
            <a:endParaRPr b="0" sz="2400"/>
          </a:p>
          <a:p>
            <a:pPr indent="-381000" lvl="0" marL="457200" rtl="0" algn="l">
              <a:spcBef>
                <a:spcPts val="0"/>
              </a:spcBef>
              <a:spcAft>
                <a:spcPts val="0"/>
              </a:spcAft>
              <a:buSzPts val="2400"/>
              <a:buAutoNum type="arabicPeriod"/>
            </a:pPr>
            <a:r>
              <a:rPr b="0" lang="en" sz="2400"/>
              <a:t>Enter JavaScript into the URL</a:t>
            </a:r>
            <a:endParaRPr b="0" sz="2400"/>
          </a:p>
          <a:p>
            <a:pPr indent="-381000" lvl="0" marL="457200" rtl="0" algn="l">
              <a:spcBef>
                <a:spcPts val="0"/>
              </a:spcBef>
              <a:spcAft>
                <a:spcPts val="0"/>
              </a:spcAft>
              <a:buSzPts val="2400"/>
              <a:buAutoNum type="arabicPeriod"/>
            </a:pPr>
            <a:r>
              <a:rPr b="0" lang="en" sz="2400"/>
              <a:t>Press “Enter” to submit the new URL and watch the JavaScript that you entered be executed</a:t>
            </a:r>
            <a:endParaRPr b="0" sz="2400"/>
          </a:p>
        </p:txBody>
      </p:sp>
      <p:sp>
        <p:nvSpPr>
          <p:cNvPr id="153" name="Google Shape;153;p21"/>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1</a:t>
            </a:r>
            <a:endParaRPr/>
          </a:p>
        </p:txBody>
      </p:sp>
      <p:pic>
        <p:nvPicPr>
          <p:cNvPr id="154" name="Google Shape;154;p21"/>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1.1.1</a:t>
            </a:r>
            <a:endParaRPr/>
          </a:p>
        </p:txBody>
      </p:sp>
      <p:pic>
        <p:nvPicPr>
          <p:cNvPr id="160" name="Google Shape;160;p22"/>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61" name="Google Shape;161;p22"/>
          <p:cNvSpPr txBox="1"/>
          <p:nvPr/>
        </p:nvSpPr>
        <p:spPr>
          <a:xfrm>
            <a:off x="241100" y="984500"/>
            <a:ext cx="3971400" cy="7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What is the source and sink of the website associated with the DOM-XSS bookmark?</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1.1.1</a:t>
            </a:r>
            <a:endParaRPr/>
          </a:p>
        </p:txBody>
      </p:sp>
      <p:pic>
        <p:nvPicPr>
          <p:cNvPr id="167" name="Google Shape;167;p23"/>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68" name="Google Shape;168;p23"/>
          <p:cNvSpPr txBox="1"/>
          <p:nvPr/>
        </p:nvSpPr>
        <p:spPr>
          <a:xfrm>
            <a:off x="241100" y="984500"/>
            <a:ext cx="3971400" cy="7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What is the source and sink of the website associated with the DOM-XSS bookmark?</a:t>
            </a:r>
            <a:endParaRPr>
              <a:solidFill>
                <a:schemeClr val="lt1"/>
              </a:solidFill>
              <a:latin typeface="Montserrat Medium"/>
              <a:ea typeface="Montserrat Medium"/>
              <a:cs typeface="Montserrat Medium"/>
              <a:sym typeface="Montserrat Medium"/>
            </a:endParaRPr>
          </a:p>
        </p:txBody>
      </p:sp>
      <p:sp>
        <p:nvSpPr>
          <p:cNvPr id="169" name="Google Shape;169;p23"/>
          <p:cNvSpPr txBox="1"/>
          <p:nvPr/>
        </p:nvSpPr>
        <p:spPr>
          <a:xfrm>
            <a:off x="1768075" y="2069450"/>
            <a:ext cx="5860200" cy="234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Montserrat Medium"/>
                <a:ea typeface="Montserrat Medium"/>
                <a:cs typeface="Montserrat Medium"/>
                <a:sym typeface="Montserrat Medium"/>
              </a:rPr>
              <a:t>The source of this website is the </a:t>
            </a:r>
            <a:r>
              <a:rPr lang="en" sz="1800">
                <a:solidFill>
                  <a:schemeClr val="accent1"/>
                </a:solidFill>
                <a:latin typeface="Montserrat Medium"/>
                <a:ea typeface="Montserrat Medium"/>
                <a:cs typeface="Montserrat Medium"/>
                <a:sym typeface="Montserrat Medium"/>
              </a:rPr>
              <a:t>context URL parameter</a:t>
            </a:r>
            <a:r>
              <a:rPr lang="en" sz="1800">
                <a:solidFill>
                  <a:schemeClr val="lt1"/>
                </a:solidFill>
                <a:latin typeface="Montserrat Medium"/>
                <a:ea typeface="Montserrat Medium"/>
                <a:cs typeface="Montserrat Medium"/>
                <a:sym typeface="Montserrat Medium"/>
              </a:rPr>
              <a:t> which determines the name to write within the body. Therefore, the sink in this case is the </a:t>
            </a:r>
            <a:r>
              <a:rPr lang="en" sz="1800">
                <a:solidFill>
                  <a:schemeClr val="accent1"/>
                </a:solidFill>
                <a:latin typeface="Montserrat Medium"/>
                <a:ea typeface="Montserrat Medium"/>
                <a:cs typeface="Montserrat Medium"/>
                <a:sym typeface="Montserrat Medium"/>
              </a:rPr>
              <a:t>HTML page’s body or the script tag that reads the context parameter</a:t>
            </a:r>
            <a:r>
              <a:rPr lang="en" sz="1800">
                <a:solidFill>
                  <a:schemeClr val="lt1"/>
                </a:solidFill>
                <a:latin typeface="Montserrat Medium"/>
                <a:ea typeface="Montserrat Medium"/>
                <a:cs typeface="Montserrat Medium"/>
                <a:sym typeface="Montserrat Medium"/>
              </a:rPr>
              <a:t> of the URL, either one are acceptable answers.</a:t>
            </a:r>
            <a:endParaRPr sz="18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1.1.2</a:t>
            </a:r>
            <a:endParaRPr/>
          </a:p>
        </p:txBody>
      </p:sp>
      <p:pic>
        <p:nvPicPr>
          <p:cNvPr id="175" name="Google Shape;175;p24"/>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76" name="Google Shape;176;p24"/>
          <p:cNvSpPr txBox="1"/>
          <p:nvPr/>
        </p:nvSpPr>
        <p:spPr>
          <a:xfrm>
            <a:off x="241100" y="984500"/>
            <a:ext cx="3971400" cy="7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Craft a URL with the JavaScript alert function to test for a DOM-XSS attack.</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1.1.2</a:t>
            </a:r>
            <a:endParaRPr/>
          </a:p>
        </p:txBody>
      </p:sp>
      <p:pic>
        <p:nvPicPr>
          <p:cNvPr id="182" name="Google Shape;182;p25"/>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83" name="Google Shape;183;p25"/>
          <p:cNvSpPr txBox="1"/>
          <p:nvPr/>
        </p:nvSpPr>
        <p:spPr>
          <a:xfrm>
            <a:off x="241100" y="984500"/>
            <a:ext cx="3971400" cy="7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Craft a URL with the JavaScript alert function to test for a DOM-XSS attack.</a:t>
            </a:r>
            <a:endParaRPr>
              <a:solidFill>
                <a:schemeClr val="lt1"/>
              </a:solidFill>
              <a:latin typeface="Montserrat Medium"/>
              <a:ea typeface="Montserrat Medium"/>
              <a:cs typeface="Montserrat Medium"/>
              <a:sym typeface="Montserrat Medium"/>
            </a:endParaRPr>
          </a:p>
        </p:txBody>
      </p:sp>
      <p:sp>
        <p:nvSpPr>
          <p:cNvPr id="184" name="Google Shape;184;p25"/>
          <p:cNvSpPr txBox="1"/>
          <p:nvPr/>
        </p:nvSpPr>
        <p:spPr>
          <a:xfrm>
            <a:off x="556950" y="1821650"/>
            <a:ext cx="80301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https://www.swxss.com/dom-example.php</a:t>
            </a:r>
            <a:r>
              <a:rPr lang="en">
                <a:solidFill>
                  <a:schemeClr val="accent1"/>
                </a:solidFill>
                <a:latin typeface="Montserrat Medium"/>
                <a:ea typeface="Montserrat Medium"/>
                <a:cs typeface="Montserrat Medium"/>
                <a:sym typeface="Montserrat Medium"/>
              </a:rPr>
              <a:t>#context=&lt;script&gt;alert(“DOM-XSS”);&lt;/script&gt;</a:t>
            </a:r>
            <a:endParaRPr>
              <a:solidFill>
                <a:schemeClr val="accent1"/>
              </a:solidFill>
              <a:latin typeface="Montserrat Medium"/>
              <a:ea typeface="Montserrat Medium"/>
              <a:cs typeface="Montserrat Medium"/>
              <a:sym typeface="Montserrat Medium"/>
            </a:endParaRPr>
          </a:p>
        </p:txBody>
      </p:sp>
      <p:pic>
        <p:nvPicPr>
          <p:cNvPr id="185" name="Google Shape;185;p25"/>
          <p:cNvPicPr preferRelativeResize="0"/>
          <p:nvPr/>
        </p:nvPicPr>
        <p:blipFill>
          <a:blip r:embed="rId4">
            <a:alphaModFix/>
          </a:blip>
          <a:stretch>
            <a:fillRect/>
          </a:stretch>
        </p:blipFill>
        <p:spPr>
          <a:xfrm>
            <a:off x="2058100" y="2324000"/>
            <a:ext cx="5027808" cy="2678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txBox="1"/>
          <p:nvPr>
            <p:ph idx="1" type="subTitle"/>
          </p:nvPr>
        </p:nvSpPr>
        <p:spPr>
          <a:xfrm>
            <a:off x="0" y="823775"/>
            <a:ext cx="8773500" cy="431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What can we do to abuse DOM-XSS?</a:t>
            </a:r>
            <a:endParaRPr sz="2400"/>
          </a:p>
          <a:p>
            <a:pPr indent="-361950" lvl="0" marL="457200" rtl="0" algn="ctr">
              <a:spcBef>
                <a:spcPts val="0"/>
              </a:spcBef>
              <a:spcAft>
                <a:spcPts val="0"/>
              </a:spcAft>
              <a:buSzPts val="2100"/>
              <a:buChar char="●"/>
            </a:pPr>
            <a:r>
              <a:rPr b="0" lang="en" sz="2100"/>
              <a:t>Import scripts from an external server</a:t>
            </a:r>
            <a:endParaRPr b="0" sz="2100"/>
          </a:p>
          <a:p>
            <a:pPr indent="-361950" lvl="1" marL="914400" rtl="0" algn="ctr">
              <a:spcBef>
                <a:spcPts val="0"/>
              </a:spcBef>
              <a:spcAft>
                <a:spcPts val="0"/>
              </a:spcAft>
              <a:buSzPts val="2100"/>
              <a:buChar char="○"/>
            </a:pPr>
            <a:r>
              <a:rPr lang="en" sz="2100"/>
              <a:t>The attacker can modify these scripts!</a:t>
            </a:r>
            <a:endParaRPr sz="2100"/>
          </a:p>
        </p:txBody>
      </p:sp>
      <p:sp>
        <p:nvSpPr>
          <p:cNvPr id="191" name="Google Shape;191;p26"/>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1</a:t>
            </a:r>
            <a:endParaRPr/>
          </a:p>
        </p:txBody>
      </p:sp>
      <p:pic>
        <p:nvPicPr>
          <p:cNvPr id="192" name="Google Shape;192;p26"/>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7"/>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1.2.1</a:t>
            </a:r>
            <a:endParaRPr/>
          </a:p>
        </p:txBody>
      </p:sp>
      <p:pic>
        <p:nvPicPr>
          <p:cNvPr id="198" name="Google Shape;198;p27"/>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99" name="Google Shape;199;p27"/>
          <p:cNvSpPr txBox="1"/>
          <p:nvPr/>
        </p:nvSpPr>
        <p:spPr>
          <a:xfrm>
            <a:off x="241100" y="984500"/>
            <a:ext cx="3971400" cy="7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Craft a new URL using an &lt;img&gt; tag and an image hosted on the site https://www.attacker.com.</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8"/>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1.2.1</a:t>
            </a:r>
            <a:endParaRPr/>
          </a:p>
        </p:txBody>
      </p:sp>
      <p:pic>
        <p:nvPicPr>
          <p:cNvPr id="205" name="Google Shape;205;p28"/>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06" name="Google Shape;206;p28"/>
          <p:cNvSpPr txBox="1"/>
          <p:nvPr/>
        </p:nvSpPr>
        <p:spPr>
          <a:xfrm>
            <a:off x="241100" y="984500"/>
            <a:ext cx="3971400" cy="7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Craft a new URL using an &lt;img&gt; tag and an image hosted on the site https://www.attacker.com.</a:t>
            </a:r>
            <a:endParaRPr>
              <a:solidFill>
                <a:schemeClr val="lt1"/>
              </a:solidFill>
              <a:latin typeface="Montserrat Medium"/>
              <a:ea typeface="Montserrat Medium"/>
              <a:cs typeface="Montserrat Medium"/>
              <a:sym typeface="Montserrat Medium"/>
            </a:endParaRPr>
          </a:p>
        </p:txBody>
      </p:sp>
      <p:sp>
        <p:nvSpPr>
          <p:cNvPr id="207" name="Google Shape;207;p28"/>
          <p:cNvSpPr txBox="1"/>
          <p:nvPr/>
        </p:nvSpPr>
        <p:spPr>
          <a:xfrm>
            <a:off x="113850" y="1821650"/>
            <a:ext cx="8391600" cy="3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Montserrat Medium"/>
                <a:ea typeface="Montserrat Medium"/>
                <a:cs typeface="Montserrat Medium"/>
                <a:sym typeface="Montserrat Medium"/>
              </a:rPr>
              <a:t>https://www.swxss.com/dom-example.php#</a:t>
            </a:r>
            <a:r>
              <a:rPr lang="en" sz="1200">
                <a:solidFill>
                  <a:schemeClr val="accent1"/>
                </a:solidFill>
                <a:latin typeface="Montserrat Medium"/>
                <a:ea typeface="Montserrat Medium"/>
                <a:cs typeface="Montserrat Medium"/>
                <a:sym typeface="Montserrat Medium"/>
              </a:rPr>
              <a:t>context=&lt;img src=”https://www.attacker.com/attack1”&gt;&lt;/img&gt;</a:t>
            </a:r>
            <a:endParaRPr sz="1200">
              <a:solidFill>
                <a:schemeClr val="accent1"/>
              </a:solidFill>
              <a:latin typeface="Montserrat Medium"/>
              <a:ea typeface="Montserrat Medium"/>
              <a:cs typeface="Montserrat Medium"/>
              <a:sym typeface="Montserrat Medium"/>
            </a:endParaRPr>
          </a:p>
        </p:txBody>
      </p:sp>
      <p:pic>
        <p:nvPicPr>
          <p:cNvPr id="208" name="Google Shape;208;p28"/>
          <p:cNvPicPr preferRelativeResize="0"/>
          <p:nvPr/>
        </p:nvPicPr>
        <p:blipFill>
          <a:blip r:embed="rId4">
            <a:alphaModFix/>
          </a:blip>
          <a:stretch>
            <a:fillRect/>
          </a:stretch>
        </p:blipFill>
        <p:spPr>
          <a:xfrm>
            <a:off x="1958088" y="2213450"/>
            <a:ext cx="4703124" cy="2829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9"/>
          <p:cNvSpPr txBox="1"/>
          <p:nvPr>
            <p:ph idx="1" type="subTitle"/>
          </p:nvPr>
        </p:nvSpPr>
        <p:spPr>
          <a:xfrm>
            <a:off x="341100" y="1994450"/>
            <a:ext cx="8461800" cy="24123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AutoNum type="arabicPeriod"/>
            </a:pPr>
            <a:r>
              <a:rPr lang="en" sz="2400"/>
              <a:t>Navigate to the “Sanitized” bookmark</a:t>
            </a:r>
            <a:endParaRPr sz="2400"/>
          </a:p>
          <a:p>
            <a:pPr indent="-381000" lvl="0" marL="457200" rtl="0" algn="l">
              <a:spcBef>
                <a:spcPts val="0"/>
              </a:spcBef>
              <a:spcAft>
                <a:spcPts val="0"/>
              </a:spcAft>
              <a:buSzPts val="2400"/>
              <a:buAutoNum type="arabicPeriod"/>
            </a:pPr>
            <a:r>
              <a:rPr lang="en" sz="2400"/>
              <a:t>Craft a URL with the JavaScript alert function to test for a DOM-XSS attack like we did in Action 1.1.2</a:t>
            </a:r>
            <a:endParaRPr sz="2400"/>
          </a:p>
          <a:p>
            <a:pPr indent="-381000" lvl="0" marL="457200" rtl="0" algn="l">
              <a:spcBef>
                <a:spcPts val="0"/>
              </a:spcBef>
              <a:spcAft>
                <a:spcPts val="0"/>
              </a:spcAft>
              <a:buSzPts val="2400"/>
              <a:buAutoNum type="arabicPeriod"/>
            </a:pPr>
            <a:r>
              <a:rPr lang="en" sz="2400"/>
              <a:t>Observe the sanitized URL after navigating the the crafted URL</a:t>
            </a:r>
            <a:endParaRPr sz="2400"/>
          </a:p>
        </p:txBody>
      </p:sp>
      <p:sp>
        <p:nvSpPr>
          <p:cNvPr id="214" name="Google Shape;214;p29"/>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1</a:t>
            </a:r>
            <a:endParaRPr/>
          </a:p>
        </p:txBody>
      </p:sp>
      <p:pic>
        <p:nvPicPr>
          <p:cNvPr id="215" name="Google Shape;215;p29"/>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0"/>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Time for the SW-XSS!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But first, what is a Service Worker??</a:t>
            </a:r>
            <a:endParaRPr sz="2400"/>
          </a:p>
          <a:p>
            <a:pPr indent="-361950" lvl="0" marL="457200" rtl="0" algn="l">
              <a:spcBef>
                <a:spcPts val="0"/>
              </a:spcBef>
              <a:spcAft>
                <a:spcPts val="0"/>
              </a:spcAft>
              <a:buSzPts val="2100"/>
              <a:buChar char="●"/>
            </a:pPr>
            <a:r>
              <a:rPr lang="en" sz="2100"/>
              <a:t>Web workers</a:t>
            </a:r>
            <a:endParaRPr sz="2100"/>
          </a:p>
          <a:p>
            <a:pPr indent="-361950" lvl="0" marL="457200" rtl="0" algn="l">
              <a:spcBef>
                <a:spcPts val="0"/>
              </a:spcBef>
              <a:spcAft>
                <a:spcPts val="0"/>
              </a:spcAft>
              <a:buSzPts val="2100"/>
              <a:buChar char="●"/>
            </a:pPr>
            <a:r>
              <a:rPr lang="en" sz="2100"/>
              <a:t>JavaScript files running in a separate thread </a:t>
            </a:r>
            <a:r>
              <a:rPr i="1" lang="en" sz="2100" u="sng"/>
              <a:t>on the browser</a:t>
            </a:r>
            <a:endParaRPr i="1" sz="2100" u="sng"/>
          </a:p>
          <a:p>
            <a:pPr indent="-361950" lvl="0" marL="457200" rtl="0" algn="l">
              <a:spcBef>
                <a:spcPts val="0"/>
              </a:spcBef>
              <a:spcAft>
                <a:spcPts val="0"/>
              </a:spcAft>
              <a:buSzPts val="2100"/>
              <a:buChar char="●"/>
            </a:pPr>
            <a:r>
              <a:rPr lang="en" sz="2100"/>
              <a:t>Network traffic interception, session persistence, instant push notifications</a:t>
            </a:r>
            <a:endParaRPr sz="2100"/>
          </a:p>
        </p:txBody>
      </p:sp>
      <p:sp>
        <p:nvSpPr>
          <p:cNvPr id="221" name="Google Shape;221;p30"/>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2</a:t>
            </a:r>
            <a:endParaRPr/>
          </a:p>
        </p:txBody>
      </p:sp>
      <p:pic>
        <p:nvPicPr>
          <p:cNvPr id="222" name="Google Shape;222;p30"/>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1"/>
          <p:cNvSpPr txBox="1"/>
          <p:nvPr>
            <p:ph idx="1" type="subTitle"/>
          </p:nvPr>
        </p:nvSpPr>
        <p:spPr>
          <a:xfrm>
            <a:off x="0" y="837150"/>
            <a:ext cx="8773500" cy="43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Service Worker Lifecycle</a:t>
            </a:r>
            <a:endParaRPr sz="2100"/>
          </a:p>
        </p:txBody>
      </p:sp>
      <p:sp>
        <p:nvSpPr>
          <p:cNvPr id="228" name="Google Shape;228;p31"/>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2</a:t>
            </a:r>
            <a:endParaRPr/>
          </a:p>
        </p:txBody>
      </p:sp>
      <p:pic>
        <p:nvPicPr>
          <p:cNvPr id="229" name="Google Shape;229;p31"/>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2"/>
          <p:cNvSpPr txBox="1"/>
          <p:nvPr>
            <p:ph idx="1" type="subTitle"/>
          </p:nvPr>
        </p:nvSpPr>
        <p:spPr>
          <a:xfrm>
            <a:off x="0" y="837150"/>
            <a:ext cx="8773200" cy="43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Registration</a:t>
            </a:r>
            <a:endParaRPr sz="2400"/>
          </a:p>
          <a:p>
            <a:pPr indent="0" lvl="0" marL="0" rtl="0" algn="ctr">
              <a:spcBef>
                <a:spcPts val="0"/>
              </a:spcBef>
              <a:spcAft>
                <a:spcPts val="0"/>
              </a:spcAft>
              <a:buNone/>
            </a:pPr>
            <a:r>
              <a:rPr lang="en" sz="2100">
                <a:solidFill>
                  <a:schemeClr val="lt1"/>
                </a:solidFill>
              </a:rPr>
              <a:t>Requires the file path to the SW and may or may not determine its control scope</a:t>
            </a:r>
            <a:endParaRPr sz="2100">
              <a:solidFill>
                <a:schemeClr val="lt1"/>
              </a:solidFill>
            </a:endParaRPr>
          </a:p>
          <a:p>
            <a:pPr indent="0" lvl="0" marL="0" rtl="0" algn="ctr">
              <a:spcBef>
                <a:spcPts val="0"/>
              </a:spcBef>
              <a:spcAft>
                <a:spcPts val="0"/>
              </a:spcAft>
              <a:buNone/>
            </a:pPr>
            <a:r>
              <a:rPr lang="en" sz="2100">
                <a:solidFill>
                  <a:schemeClr val="lt1"/>
                </a:solidFill>
              </a:rPr>
              <a:t>Critical point, only occurs once!</a:t>
            </a:r>
            <a:endParaRPr sz="2100">
              <a:solidFill>
                <a:schemeClr val="lt1"/>
              </a:solidFill>
            </a:endParaRPr>
          </a:p>
        </p:txBody>
      </p:sp>
      <p:sp>
        <p:nvSpPr>
          <p:cNvPr id="235" name="Google Shape;235;p32"/>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2</a:t>
            </a:r>
            <a:endParaRPr/>
          </a:p>
        </p:txBody>
      </p:sp>
      <p:pic>
        <p:nvPicPr>
          <p:cNvPr id="236" name="Google Shape;236;p32"/>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ph idx="1" type="subTitle"/>
          </p:nvPr>
        </p:nvSpPr>
        <p:spPr>
          <a:xfrm>
            <a:off x="0" y="843850"/>
            <a:ext cx="8773500" cy="429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I</a:t>
            </a:r>
            <a:r>
              <a:rPr lang="en" sz="2400"/>
              <a:t>nstallation</a:t>
            </a:r>
            <a:endParaRPr sz="2400"/>
          </a:p>
          <a:p>
            <a:pPr indent="0" lvl="0" marL="914400" rtl="0" algn="ctr">
              <a:spcBef>
                <a:spcPts val="0"/>
              </a:spcBef>
              <a:spcAft>
                <a:spcPts val="0"/>
              </a:spcAft>
              <a:buNone/>
            </a:pPr>
            <a:r>
              <a:rPr lang="en" sz="2100">
                <a:solidFill>
                  <a:schemeClr val="lt1"/>
                </a:solidFill>
              </a:rPr>
              <a:t>Only happens if a new file is imported</a:t>
            </a:r>
            <a:endParaRPr sz="2100">
              <a:solidFill>
                <a:schemeClr val="lt1"/>
              </a:solidFill>
            </a:endParaRPr>
          </a:p>
        </p:txBody>
      </p:sp>
      <p:sp>
        <p:nvSpPr>
          <p:cNvPr id="242" name="Google Shape;242;p33"/>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2</a:t>
            </a:r>
            <a:endParaRPr/>
          </a:p>
        </p:txBody>
      </p:sp>
      <p:pic>
        <p:nvPicPr>
          <p:cNvPr id="243" name="Google Shape;243;p33"/>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857250"/>
            <a:ext cx="8800200" cy="4326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Ac</a:t>
            </a:r>
            <a:r>
              <a:rPr lang="en" sz="2400"/>
              <a:t>tivation</a:t>
            </a:r>
            <a:endParaRPr sz="2400"/>
          </a:p>
          <a:p>
            <a:pPr indent="0" lvl="0" marL="914400" rtl="0" algn="ctr">
              <a:spcBef>
                <a:spcPts val="0"/>
              </a:spcBef>
              <a:spcAft>
                <a:spcPts val="0"/>
              </a:spcAft>
              <a:buNone/>
            </a:pPr>
            <a:r>
              <a:rPr lang="en" sz="2100"/>
              <a:t>Service worker is alive!</a:t>
            </a:r>
            <a:endParaRPr sz="2100"/>
          </a:p>
          <a:p>
            <a:pPr indent="0" lvl="0" marL="914400" rtl="0" algn="ctr">
              <a:spcBef>
                <a:spcPts val="0"/>
              </a:spcBef>
              <a:spcAft>
                <a:spcPts val="0"/>
              </a:spcAft>
              <a:buNone/>
            </a:pPr>
            <a:r>
              <a:rPr lang="en" sz="2100"/>
              <a:t>Handles all programmed events</a:t>
            </a:r>
            <a:endParaRPr sz="2100"/>
          </a:p>
          <a:p>
            <a:pPr indent="0" lvl="0" marL="914400" rtl="0" algn="ctr">
              <a:spcBef>
                <a:spcPts val="0"/>
              </a:spcBef>
              <a:spcAft>
                <a:spcPts val="0"/>
              </a:spcAft>
              <a:buNone/>
            </a:pPr>
            <a:r>
              <a:rPr lang="en" sz="2100"/>
              <a:t>Remains </a:t>
            </a:r>
            <a:r>
              <a:rPr lang="en" sz="2100"/>
              <a:t>active</a:t>
            </a:r>
            <a:r>
              <a:rPr lang="en" sz="2100"/>
              <a:t> until the user stops it or the defined task is finished.</a:t>
            </a:r>
            <a:endParaRPr sz="2100"/>
          </a:p>
          <a:p>
            <a:pPr indent="0" lvl="0" marL="914400" rtl="0" algn="ctr">
              <a:spcBef>
                <a:spcPts val="0"/>
              </a:spcBef>
              <a:spcAft>
                <a:spcPts val="0"/>
              </a:spcAft>
              <a:buNone/>
            </a:pPr>
            <a:r>
              <a:rPr lang="en" sz="2100"/>
              <a:t>Restarts all tasks once activated again.</a:t>
            </a:r>
            <a:endParaRPr sz="2100"/>
          </a:p>
        </p:txBody>
      </p:sp>
      <p:sp>
        <p:nvSpPr>
          <p:cNvPr id="249" name="Google Shape;249;p34"/>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2</a:t>
            </a:r>
            <a:endParaRPr/>
          </a:p>
        </p:txBody>
      </p:sp>
      <p:pic>
        <p:nvPicPr>
          <p:cNvPr id="250" name="Google Shape;250;p34"/>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5"/>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2.1.1</a:t>
            </a:r>
            <a:endParaRPr/>
          </a:p>
        </p:txBody>
      </p:sp>
      <p:pic>
        <p:nvPicPr>
          <p:cNvPr id="256" name="Google Shape;256;p35"/>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57" name="Google Shape;257;p35"/>
          <p:cNvSpPr txBox="1"/>
          <p:nvPr/>
        </p:nvSpPr>
        <p:spPr>
          <a:xfrm>
            <a:off x="241100" y="984500"/>
            <a:ext cx="3971400" cy="9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latin typeface="Montserrat Medium"/>
                <a:ea typeface="Montserrat Medium"/>
                <a:cs typeface="Montserrat Medium"/>
                <a:sym typeface="Montserrat Medium"/>
              </a:rPr>
              <a:t>What are the three steps in a service worker’s life cycle and how</a:t>
            </a:r>
            <a:endParaRPr>
              <a:solidFill>
                <a:schemeClr val="lt1"/>
              </a:solidFill>
              <a:latin typeface="Montserrat Medium"/>
              <a:ea typeface="Montserrat Medium"/>
              <a:cs typeface="Montserrat Medium"/>
              <a:sym typeface="Montserrat Medium"/>
            </a:endParaRPr>
          </a:p>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do they impact the execution of the SW-XSS attack?</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6"/>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2.1.1</a:t>
            </a:r>
            <a:endParaRPr/>
          </a:p>
        </p:txBody>
      </p:sp>
      <p:pic>
        <p:nvPicPr>
          <p:cNvPr id="263" name="Google Shape;263;p36"/>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64" name="Google Shape;264;p36"/>
          <p:cNvSpPr txBox="1"/>
          <p:nvPr/>
        </p:nvSpPr>
        <p:spPr>
          <a:xfrm>
            <a:off x="241100" y="984500"/>
            <a:ext cx="3971400" cy="9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latin typeface="Montserrat Medium"/>
                <a:ea typeface="Montserrat Medium"/>
                <a:cs typeface="Montserrat Medium"/>
                <a:sym typeface="Montserrat Medium"/>
              </a:rPr>
              <a:t>What are the three steps in a service worker’s life cycle and how</a:t>
            </a:r>
            <a:endParaRPr>
              <a:solidFill>
                <a:schemeClr val="lt1"/>
              </a:solidFill>
              <a:latin typeface="Montserrat Medium"/>
              <a:ea typeface="Montserrat Medium"/>
              <a:cs typeface="Montserrat Medium"/>
              <a:sym typeface="Montserrat Medium"/>
            </a:endParaRPr>
          </a:p>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do they impact the execution of the SW-XSS attack?</a:t>
            </a:r>
            <a:endParaRPr>
              <a:solidFill>
                <a:schemeClr val="lt1"/>
              </a:solidFill>
              <a:latin typeface="Montserrat Medium"/>
              <a:ea typeface="Montserrat Medium"/>
              <a:cs typeface="Montserrat Medium"/>
              <a:sym typeface="Montserrat Medium"/>
            </a:endParaRPr>
          </a:p>
        </p:txBody>
      </p:sp>
      <p:sp>
        <p:nvSpPr>
          <p:cNvPr id="265" name="Google Shape;265;p36"/>
          <p:cNvSpPr txBox="1"/>
          <p:nvPr/>
        </p:nvSpPr>
        <p:spPr>
          <a:xfrm>
            <a:off x="1926600" y="2350750"/>
            <a:ext cx="5290800" cy="227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Montserrat Medium"/>
                <a:ea typeface="Montserrat Medium"/>
                <a:cs typeface="Montserrat Medium"/>
                <a:sym typeface="Montserrat Medium"/>
              </a:rPr>
              <a:t>The three steps are </a:t>
            </a:r>
            <a:r>
              <a:rPr lang="en">
                <a:solidFill>
                  <a:schemeClr val="accent1"/>
                </a:solidFill>
                <a:latin typeface="Montserrat Medium"/>
                <a:ea typeface="Montserrat Medium"/>
                <a:cs typeface="Montserrat Medium"/>
                <a:sym typeface="Montserrat Medium"/>
              </a:rPr>
              <a:t>Registration</a:t>
            </a:r>
            <a:r>
              <a:rPr lang="en">
                <a:solidFill>
                  <a:schemeClr val="lt1"/>
                </a:solidFill>
                <a:latin typeface="Montserrat Medium"/>
                <a:ea typeface="Montserrat Medium"/>
                <a:cs typeface="Montserrat Medium"/>
                <a:sym typeface="Montserrat Medium"/>
              </a:rPr>
              <a:t>, </a:t>
            </a:r>
            <a:r>
              <a:rPr lang="en">
                <a:solidFill>
                  <a:schemeClr val="accent1"/>
                </a:solidFill>
                <a:latin typeface="Montserrat Medium"/>
                <a:ea typeface="Montserrat Medium"/>
                <a:cs typeface="Montserrat Medium"/>
                <a:sym typeface="Montserrat Medium"/>
              </a:rPr>
              <a:t>Installation</a:t>
            </a:r>
            <a:r>
              <a:rPr lang="en">
                <a:solidFill>
                  <a:schemeClr val="lt1"/>
                </a:solidFill>
                <a:latin typeface="Montserrat Medium"/>
                <a:ea typeface="Montserrat Medium"/>
                <a:cs typeface="Montserrat Medium"/>
                <a:sym typeface="Montserrat Medium"/>
              </a:rPr>
              <a:t>, and </a:t>
            </a:r>
            <a:r>
              <a:rPr lang="en">
                <a:solidFill>
                  <a:schemeClr val="accent1"/>
                </a:solidFill>
                <a:latin typeface="Montserrat Medium"/>
                <a:ea typeface="Montserrat Medium"/>
                <a:cs typeface="Montserrat Medium"/>
                <a:sym typeface="Montserrat Medium"/>
              </a:rPr>
              <a:t>Activation</a:t>
            </a:r>
            <a:r>
              <a:rPr lang="en">
                <a:solidFill>
                  <a:schemeClr val="lt1"/>
                </a:solidFill>
                <a:latin typeface="Montserrat Medium"/>
                <a:ea typeface="Montserrat Medium"/>
                <a:cs typeface="Montserrat Medium"/>
                <a:sym typeface="Montserrat Medium"/>
              </a:rPr>
              <a:t>. These steps impact the execution of a SW-XSS attack by </a:t>
            </a:r>
            <a:r>
              <a:rPr lang="en">
                <a:solidFill>
                  <a:schemeClr val="accent1"/>
                </a:solidFill>
                <a:latin typeface="Montserrat Medium"/>
                <a:ea typeface="Montserrat Medium"/>
                <a:cs typeface="Montserrat Medium"/>
                <a:sym typeface="Montserrat Medium"/>
              </a:rPr>
              <a:t>limiting when the attacker can replace the standard service worker file</a:t>
            </a:r>
            <a:r>
              <a:rPr lang="en">
                <a:solidFill>
                  <a:schemeClr val="lt1"/>
                </a:solidFill>
                <a:latin typeface="Montserrat Medium"/>
                <a:ea typeface="Montserrat Medium"/>
                <a:cs typeface="Montserrat Medium"/>
                <a:sym typeface="Montserrat Medium"/>
              </a:rPr>
              <a:t> with their own malicious file.</a:t>
            </a:r>
            <a:endParaRPr>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t/>
            </a:r>
            <a:endParaRPr>
              <a:solidFill>
                <a:schemeClr val="lt1"/>
              </a:solidFill>
              <a:latin typeface="Montserrat Medium"/>
              <a:ea typeface="Montserrat Medium"/>
              <a:cs typeface="Montserrat Medium"/>
              <a:sym typeface="Montserrat Medium"/>
            </a:endParaRPr>
          </a:p>
          <a:p>
            <a:pPr indent="0" lvl="0" marL="0" rtl="0" algn="ctr">
              <a:spcBef>
                <a:spcPts val="0"/>
              </a:spcBef>
              <a:spcAft>
                <a:spcPts val="0"/>
              </a:spcAft>
              <a:buNone/>
            </a:pPr>
            <a:r>
              <a:rPr lang="en">
                <a:solidFill>
                  <a:schemeClr val="lt1"/>
                </a:solidFill>
                <a:latin typeface="Montserrat Medium"/>
                <a:ea typeface="Montserrat Medium"/>
                <a:cs typeface="Montserrat Medium"/>
                <a:sym typeface="Montserrat Medium"/>
              </a:rPr>
              <a:t>The attacker’s service worker script would need to be imported into the website </a:t>
            </a:r>
            <a:r>
              <a:rPr lang="en">
                <a:solidFill>
                  <a:schemeClr val="accent1"/>
                </a:solidFill>
                <a:latin typeface="Montserrat Medium"/>
                <a:ea typeface="Montserrat Medium"/>
                <a:cs typeface="Montserrat Medium"/>
                <a:sym typeface="Montserrat Medium"/>
              </a:rPr>
              <a:t>prior to the Registration event firing</a:t>
            </a:r>
            <a:r>
              <a:rPr lang="en">
                <a:solidFill>
                  <a:schemeClr val="lt1"/>
                </a:solidFill>
                <a:latin typeface="Montserrat Medium"/>
                <a:ea typeface="Montserrat Medium"/>
                <a:cs typeface="Montserrat Medium"/>
                <a:sym typeface="Montserrat Medium"/>
              </a:rPr>
              <a:t> and pointed to in an </a:t>
            </a:r>
            <a:r>
              <a:rPr lang="en">
                <a:solidFill>
                  <a:schemeClr val="accent1"/>
                </a:solidFill>
                <a:latin typeface="Montserrat Medium"/>
                <a:ea typeface="Montserrat Medium"/>
                <a:cs typeface="Montserrat Medium"/>
                <a:sym typeface="Montserrat Medium"/>
              </a:rPr>
              <a:t>event listener in the Installation phase</a:t>
            </a:r>
            <a:r>
              <a:rPr lang="en">
                <a:solidFill>
                  <a:schemeClr val="lt1"/>
                </a:solidFill>
                <a:latin typeface="Montserrat Medium"/>
                <a:ea typeface="Montserrat Medium"/>
                <a:cs typeface="Montserrat Medium"/>
                <a:sym typeface="Montserrat Medium"/>
              </a:rPr>
              <a: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7"/>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SW-XSS Overview</a:t>
            </a:r>
            <a:endParaRPr sz="2400"/>
          </a:p>
          <a:p>
            <a:pPr indent="-361950" lvl="0" marL="457200" rtl="0" algn="l">
              <a:spcBef>
                <a:spcPts val="0"/>
              </a:spcBef>
              <a:spcAft>
                <a:spcPts val="0"/>
              </a:spcAft>
              <a:buSzPts val="2100"/>
              <a:buChar char="●"/>
            </a:pPr>
            <a:r>
              <a:rPr b="0" lang="en" sz="2100"/>
              <a:t>Source and Sink approach</a:t>
            </a:r>
            <a:endParaRPr b="0" sz="2100"/>
          </a:p>
          <a:p>
            <a:pPr indent="-361950" lvl="0" marL="457200" rtl="0" algn="l">
              <a:spcBef>
                <a:spcPts val="0"/>
              </a:spcBef>
              <a:spcAft>
                <a:spcPts val="0"/>
              </a:spcAft>
              <a:buSzPts val="2100"/>
              <a:buChar char="●"/>
            </a:pPr>
            <a:r>
              <a:rPr b="0" lang="en" sz="2100"/>
              <a:t>Leverages:</a:t>
            </a:r>
            <a:endParaRPr b="0" sz="2100"/>
          </a:p>
          <a:p>
            <a:pPr indent="-361950" lvl="1" marL="914400" rtl="0" algn="l">
              <a:spcBef>
                <a:spcPts val="0"/>
              </a:spcBef>
              <a:spcAft>
                <a:spcPts val="0"/>
              </a:spcAft>
              <a:buClr>
                <a:schemeClr val="lt1"/>
              </a:buClr>
              <a:buSzPts val="2100"/>
              <a:buChar char="○"/>
            </a:pPr>
            <a:r>
              <a:rPr lang="en" sz="1800">
                <a:solidFill>
                  <a:schemeClr val="lt1"/>
                </a:solidFill>
                <a:highlight>
                  <a:schemeClr val="dk1"/>
                </a:highlight>
                <a:latin typeface="Roboto Mono Medium"/>
                <a:ea typeface="Roboto Mono Medium"/>
                <a:cs typeface="Roboto Mono Medium"/>
                <a:sym typeface="Roboto Mono Medium"/>
              </a:rPr>
              <a:t>importScripts()</a:t>
            </a:r>
            <a:r>
              <a:rPr b="0" lang="en" sz="2100">
                <a:solidFill>
                  <a:schemeClr val="lt1"/>
                </a:solidFill>
              </a:rPr>
              <a:t> sink function to import external JavaScript into the current file</a:t>
            </a:r>
            <a:endParaRPr b="0" sz="2100">
              <a:solidFill>
                <a:schemeClr val="lt1"/>
              </a:solidFill>
            </a:endParaRPr>
          </a:p>
          <a:p>
            <a:pPr indent="-361950" lvl="1" marL="914400" rtl="0" algn="l">
              <a:spcBef>
                <a:spcPts val="0"/>
              </a:spcBef>
              <a:spcAft>
                <a:spcPts val="0"/>
              </a:spcAft>
              <a:buClr>
                <a:schemeClr val="lt1"/>
              </a:buClr>
              <a:buSzPts val="2100"/>
              <a:buChar char="○"/>
            </a:pPr>
            <a:r>
              <a:rPr lang="en" sz="2100">
                <a:solidFill>
                  <a:schemeClr val="lt1"/>
                </a:solidFill>
              </a:rPr>
              <a:t>CORS to fetch external </a:t>
            </a:r>
            <a:r>
              <a:rPr lang="en" sz="2100">
                <a:solidFill>
                  <a:schemeClr val="lt1"/>
                </a:solidFill>
              </a:rPr>
              <a:t>scripts</a:t>
            </a:r>
            <a:endParaRPr b="0" sz="2100">
              <a:solidFill>
                <a:schemeClr val="lt1"/>
              </a:solidFill>
            </a:endParaRPr>
          </a:p>
        </p:txBody>
      </p:sp>
      <p:sp>
        <p:nvSpPr>
          <p:cNvPr id="271" name="Google Shape;271;p37"/>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2</a:t>
            </a:r>
            <a:endParaRPr/>
          </a:p>
        </p:txBody>
      </p:sp>
      <p:pic>
        <p:nvPicPr>
          <p:cNvPr id="272" name="Google Shape;272;p37"/>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2</a:t>
            </a:r>
            <a:endParaRPr/>
          </a:p>
        </p:txBody>
      </p:sp>
      <p:pic>
        <p:nvPicPr>
          <p:cNvPr id="278" name="Google Shape;278;p38"/>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279" name="Google Shape;279;p38" title="SWXSS.mp4">
            <a:hlinkClick r:id="rId4"/>
          </p:cNvPr>
          <p:cNvPicPr preferRelativeResize="0"/>
          <p:nvPr/>
        </p:nvPicPr>
        <p:blipFill>
          <a:blip r:embed="rId5">
            <a:alphaModFix/>
          </a:blip>
          <a:stretch>
            <a:fillRect/>
          </a:stretch>
        </p:blipFill>
        <p:spPr>
          <a:xfrm>
            <a:off x="1558350" y="1587375"/>
            <a:ext cx="6027288" cy="3390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9"/>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2.3.1</a:t>
            </a:r>
            <a:endParaRPr/>
          </a:p>
        </p:txBody>
      </p:sp>
      <p:pic>
        <p:nvPicPr>
          <p:cNvPr id="285" name="Google Shape;285;p39"/>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86" name="Google Shape;286;p39"/>
          <p:cNvSpPr txBox="1"/>
          <p:nvPr/>
        </p:nvSpPr>
        <p:spPr>
          <a:xfrm>
            <a:off x="241100" y="984500"/>
            <a:ext cx="3971400" cy="9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Open a new Firefox tab to the “SW-XSS” bookmark. Inspect the web page, click the application tab, and click on sw.js. What is the source and sink?</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2.3.1</a:t>
            </a:r>
            <a:endParaRPr/>
          </a:p>
        </p:txBody>
      </p:sp>
      <p:pic>
        <p:nvPicPr>
          <p:cNvPr id="292" name="Google Shape;292;p40"/>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93" name="Google Shape;293;p40"/>
          <p:cNvSpPr txBox="1"/>
          <p:nvPr/>
        </p:nvSpPr>
        <p:spPr>
          <a:xfrm>
            <a:off x="241100" y="984500"/>
            <a:ext cx="3971400" cy="9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Open a new Firefox tab to the “SW-XSS” bookmark. Inspect the web page, click the debugger tab, and click on sw.js on the far right. What is the source and sink?</a:t>
            </a:r>
            <a:endParaRPr>
              <a:solidFill>
                <a:schemeClr val="lt1"/>
              </a:solidFill>
              <a:latin typeface="Montserrat Medium"/>
              <a:ea typeface="Montserrat Medium"/>
              <a:cs typeface="Montserrat Medium"/>
              <a:sym typeface="Montserrat Medium"/>
            </a:endParaRPr>
          </a:p>
        </p:txBody>
      </p:sp>
      <p:sp>
        <p:nvSpPr>
          <p:cNvPr id="294" name="Google Shape;294;p40"/>
          <p:cNvSpPr txBox="1"/>
          <p:nvPr/>
        </p:nvSpPr>
        <p:spPr>
          <a:xfrm>
            <a:off x="1926600" y="2350750"/>
            <a:ext cx="5290800" cy="227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800">
                <a:solidFill>
                  <a:schemeClr val="lt1"/>
                </a:solidFill>
                <a:latin typeface="Montserrat Medium"/>
                <a:ea typeface="Montserrat Medium"/>
                <a:cs typeface="Montserrat Medium"/>
                <a:sym typeface="Montserrat Medium"/>
              </a:rPr>
              <a:t>The source is the sw_fn.js file stored in the machine somewhere and the sink is the fetching function where it is being read in.</a:t>
            </a:r>
            <a:endParaRPr sz="18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1"/>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2.3.2</a:t>
            </a:r>
            <a:endParaRPr/>
          </a:p>
        </p:txBody>
      </p:sp>
      <p:pic>
        <p:nvPicPr>
          <p:cNvPr id="300" name="Google Shape;300;p41"/>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01" name="Google Shape;301;p41"/>
          <p:cNvSpPr txBox="1"/>
          <p:nvPr/>
        </p:nvSpPr>
        <p:spPr>
          <a:xfrm>
            <a:off x="227700" y="1448350"/>
            <a:ext cx="8130600" cy="155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Open a new terminal and create a new file at /var/www/html/sw_fn.js with the touch command as the super user. Insert a personalized console message with a console.log function call.</a:t>
            </a:r>
            <a:endParaRPr>
              <a:solidFill>
                <a:schemeClr val="lt1"/>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a:solidFill>
                <a:schemeClr val="lt1"/>
              </a:solidFill>
              <a:latin typeface="Montserrat Medium"/>
              <a:ea typeface="Montserrat Medium"/>
              <a:cs typeface="Montserrat Medium"/>
              <a:sym typeface="Montserrat Medium"/>
            </a:endParaRPr>
          </a:p>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Remove the old service worker and reload the SW-XSS page. Navigate back to the debugging page and observe the console output.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2"/>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2.3.2</a:t>
            </a:r>
            <a:endParaRPr/>
          </a:p>
        </p:txBody>
      </p:sp>
      <p:pic>
        <p:nvPicPr>
          <p:cNvPr id="307" name="Google Shape;307;p42"/>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08" name="Google Shape;308;p42"/>
          <p:cNvSpPr txBox="1"/>
          <p:nvPr/>
        </p:nvSpPr>
        <p:spPr>
          <a:xfrm>
            <a:off x="227700" y="1448350"/>
            <a:ext cx="8130600" cy="155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Open a new terminal and create a new file at /var/www/html/sw_fn.js with the touch command as the super user. Insert a personalized console message with a console.log </a:t>
            </a:r>
            <a:r>
              <a:rPr lang="en">
                <a:solidFill>
                  <a:schemeClr val="lt1"/>
                </a:solidFill>
                <a:latin typeface="Montserrat Medium"/>
                <a:ea typeface="Montserrat Medium"/>
                <a:cs typeface="Montserrat Medium"/>
                <a:sym typeface="Montserrat Medium"/>
              </a:rPr>
              <a:t>function</a:t>
            </a:r>
            <a:r>
              <a:rPr lang="en">
                <a:solidFill>
                  <a:schemeClr val="lt1"/>
                </a:solidFill>
                <a:latin typeface="Montserrat Medium"/>
                <a:ea typeface="Montserrat Medium"/>
                <a:cs typeface="Montserrat Medium"/>
                <a:sym typeface="Montserrat Medium"/>
              </a:rPr>
              <a:t> call.</a:t>
            </a:r>
            <a:endParaRPr>
              <a:solidFill>
                <a:schemeClr val="lt1"/>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a:solidFill>
                <a:schemeClr val="lt1"/>
              </a:solidFill>
              <a:latin typeface="Montserrat Medium"/>
              <a:ea typeface="Montserrat Medium"/>
              <a:cs typeface="Montserrat Medium"/>
              <a:sym typeface="Montserrat Medium"/>
            </a:endParaRPr>
          </a:p>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Remove the old service worker and reload the SW-XSS page. Navigate back to the debugging page and observe the console output.</a:t>
            </a:r>
            <a:endParaRPr>
              <a:solidFill>
                <a:schemeClr val="lt1"/>
              </a:solidFill>
              <a:latin typeface="Montserrat Medium"/>
              <a:ea typeface="Montserrat Medium"/>
              <a:cs typeface="Montserrat Medium"/>
              <a:sym typeface="Montserrat Medium"/>
            </a:endParaRPr>
          </a:p>
        </p:txBody>
      </p:sp>
      <p:pic>
        <p:nvPicPr>
          <p:cNvPr id="309" name="Google Shape;309;p42"/>
          <p:cNvPicPr preferRelativeResize="0"/>
          <p:nvPr/>
        </p:nvPicPr>
        <p:blipFill>
          <a:blip r:embed="rId4">
            <a:alphaModFix/>
          </a:blip>
          <a:stretch>
            <a:fillRect/>
          </a:stretch>
        </p:blipFill>
        <p:spPr>
          <a:xfrm>
            <a:off x="1242400" y="2863175"/>
            <a:ext cx="5810250" cy="2181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3"/>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2</a:t>
            </a:r>
            <a:endParaRPr/>
          </a:p>
        </p:txBody>
      </p:sp>
      <p:pic>
        <p:nvPicPr>
          <p:cNvPr id="315" name="Google Shape;315;p43"/>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316" name="Google Shape;316;p43"/>
          <p:cNvPicPr preferRelativeResize="0"/>
          <p:nvPr/>
        </p:nvPicPr>
        <p:blipFill>
          <a:blip r:embed="rId4">
            <a:alphaModFix/>
          </a:blip>
          <a:stretch>
            <a:fillRect/>
          </a:stretch>
        </p:blipFill>
        <p:spPr>
          <a:xfrm>
            <a:off x="2444888" y="1448350"/>
            <a:ext cx="4254222" cy="36494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4"/>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2.3.2</a:t>
            </a:r>
            <a:endParaRPr/>
          </a:p>
        </p:txBody>
      </p:sp>
      <p:pic>
        <p:nvPicPr>
          <p:cNvPr id="322" name="Google Shape;322;p44"/>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23" name="Google Shape;323;p44"/>
          <p:cNvSpPr txBox="1"/>
          <p:nvPr/>
        </p:nvSpPr>
        <p:spPr>
          <a:xfrm>
            <a:off x="241100" y="984500"/>
            <a:ext cx="3971400" cy="9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In the file sw_fn.js, edit the functions to add the install, activate, and fetch handlers. Add a </a:t>
            </a:r>
            <a:r>
              <a:rPr i="1" lang="en">
                <a:solidFill>
                  <a:schemeClr val="lt1"/>
                </a:solidFill>
                <a:latin typeface="Montserrat Medium"/>
                <a:ea typeface="Montserrat Medium"/>
                <a:cs typeface="Montserrat Medium"/>
                <a:sym typeface="Montserrat Medium"/>
              </a:rPr>
              <a:t>console.log</a:t>
            </a:r>
            <a:r>
              <a:rPr lang="en">
                <a:solidFill>
                  <a:schemeClr val="lt1"/>
                </a:solidFill>
                <a:latin typeface="Montserrat Medium"/>
                <a:ea typeface="Montserrat Medium"/>
                <a:cs typeface="Montserrat Medium"/>
                <a:sym typeface="Montserrat Medium"/>
              </a:rPr>
              <a:t> to each function and observe the log output.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5"/>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2.3.2</a:t>
            </a:r>
            <a:endParaRPr/>
          </a:p>
        </p:txBody>
      </p:sp>
      <p:pic>
        <p:nvPicPr>
          <p:cNvPr id="329" name="Google Shape;329;p45"/>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30" name="Google Shape;330;p45"/>
          <p:cNvSpPr txBox="1"/>
          <p:nvPr/>
        </p:nvSpPr>
        <p:spPr>
          <a:xfrm>
            <a:off x="241100" y="984500"/>
            <a:ext cx="3971400" cy="9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In the file sw_fn.js, edit the functions to add the install, activate, and fetch handlers. Add a </a:t>
            </a:r>
            <a:r>
              <a:rPr i="1" lang="en">
                <a:solidFill>
                  <a:schemeClr val="lt1"/>
                </a:solidFill>
                <a:latin typeface="Montserrat Medium"/>
                <a:ea typeface="Montserrat Medium"/>
                <a:cs typeface="Montserrat Medium"/>
                <a:sym typeface="Montserrat Medium"/>
              </a:rPr>
              <a:t>console.log</a:t>
            </a:r>
            <a:r>
              <a:rPr lang="en">
                <a:solidFill>
                  <a:schemeClr val="lt1"/>
                </a:solidFill>
                <a:latin typeface="Montserrat Medium"/>
                <a:ea typeface="Montserrat Medium"/>
                <a:cs typeface="Montserrat Medium"/>
                <a:sym typeface="Montserrat Medium"/>
              </a:rPr>
              <a:t> to each function and observe the log output.</a:t>
            </a:r>
            <a:endParaRPr>
              <a:solidFill>
                <a:schemeClr val="lt1"/>
              </a:solidFill>
              <a:latin typeface="Montserrat Medium"/>
              <a:ea typeface="Montserrat Medium"/>
              <a:cs typeface="Montserrat Medium"/>
              <a:sym typeface="Montserrat Medium"/>
            </a:endParaRPr>
          </a:p>
        </p:txBody>
      </p:sp>
      <p:pic>
        <p:nvPicPr>
          <p:cNvPr id="331" name="Google Shape;331;p45"/>
          <p:cNvPicPr preferRelativeResize="0"/>
          <p:nvPr/>
        </p:nvPicPr>
        <p:blipFill>
          <a:blip r:embed="rId4">
            <a:alphaModFix/>
          </a:blip>
          <a:stretch>
            <a:fillRect/>
          </a:stretch>
        </p:blipFill>
        <p:spPr>
          <a:xfrm>
            <a:off x="241100" y="2022300"/>
            <a:ext cx="4175676" cy="3018800"/>
          </a:xfrm>
          <a:prstGeom prst="rect">
            <a:avLst/>
          </a:prstGeom>
          <a:noFill/>
          <a:ln>
            <a:noFill/>
          </a:ln>
        </p:spPr>
      </p:pic>
      <p:pic>
        <p:nvPicPr>
          <p:cNvPr id="332" name="Google Shape;332;p45"/>
          <p:cNvPicPr preferRelativeResize="0"/>
          <p:nvPr/>
        </p:nvPicPr>
        <p:blipFill>
          <a:blip r:embed="rId5">
            <a:alphaModFix/>
          </a:blip>
          <a:stretch>
            <a:fillRect/>
          </a:stretch>
        </p:blipFill>
        <p:spPr>
          <a:xfrm>
            <a:off x="4482200" y="2531825"/>
            <a:ext cx="4244349" cy="15933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6"/>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2.3.2</a:t>
            </a:r>
            <a:endParaRPr/>
          </a:p>
        </p:txBody>
      </p:sp>
      <p:pic>
        <p:nvPicPr>
          <p:cNvPr id="338" name="Google Shape;338;p46"/>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39" name="Google Shape;339;p46"/>
          <p:cNvSpPr txBox="1"/>
          <p:nvPr/>
        </p:nvSpPr>
        <p:spPr>
          <a:xfrm>
            <a:off x="2586300" y="2377525"/>
            <a:ext cx="3971400" cy="9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ontserrat Medium"/>
                <a:ea typeface="Montserrat Medium"/>
                <a:cs typeface="Montserrat Medium"/>
                <a:sym typeface="Montserrat Medium"/>
              </a:rPr>
              <a:t>In the same file, edit the fetch handler function to replace an HTML element on the SW-XSS page like we did in the DOM-XSS section.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7"/>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2.3.2</a:t>
            </a:r>
            <a:endParaRPr/>
          </a:p>
        </p:txBody>
      </p:sp>
      <p:pic>
        <p:nvPicPr>
          <p:cNvPr id="345" name="Google Shape;345;p47"/>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346" name="Google Shape;346;p47"/>
          <p:cNvPicPr preferRelativeResize="0"/>
          <p:nvPr/>
        </p:nvPicPr>
        <p:blipFill>
          <a:blip r:embed="rId4">
            <a:alphaModFix/>
          </a:blip>
          <a:stretch>
            <a:fillRect/>
          </a:stretch>
        </p:blipFill>
        <p:spPr>
          <a:xfrm>
            <a:off x="1666875" y="1652600"/>
            <a:ext cx="5810250" cy="3124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8"/>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2.3.2</a:t>
            </a:r>
            <a:endParaRPr/>
          </a:p>
        </p:txBody>
      </p:sp>
      <p:pic>
        <p:nvPicPr>
          <p:cNvPr id="352" name="Google Shape;352;p48"/>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353" name="Google Shape;353;p48"/>
          <p:cNvPicPr preferRelativeResize="0"/>
          <p:nvPr/>
        </p:nvPicPr>
        <p:blipFill>
          <a:blip r:embed="rId4">
            <a:alphaModFix/>
          </a:blip>
          <a:stretch>
            <a:fillRect/>
          </a:stretch>
        </p:blipFill>
        <p:spPr>
          <a:xfrm>
            <a:off x="1666875" y="1538725"/>
            <a:ext cx="5810250" cy="3429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9"/>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3</a:t>
            </a:r>
            <a:endParaRPr/>
          </a:p>
        </p:txBody>
      </p:sp>
      <p:pic>
        <p:nvPicPr>
          <p:cNvPr id="359" name="Google Shape;359;p49"/>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descr="http://gametheory101.com/&#10;&#10;This lecture explains pooling equilibrium, a type of perfect Bayesian equilibrium used in signaling games. In a pooling equilibrium, the different types play the same strategy. Thus, the uninformed player cannot update their information based on the strategy they observe. We begin with a very simple example in this lecture before tackling some problems that can pop up next time." id="360" name="Google Shape;360;p49" title="Game Theory 101 (#79): Pooling Equilibrium">
            <a:hlinkClick r:id="rId4"/>
          </p:cNvPr>
          <p:cNvPicPr preferRelativeResize="0"/>
          <p:nvPr/>
        </p:nvPicPr>
        <p:blipFill>
          <a:blip r:embed="rId5">
            <a:alphaModFix/>
          </a:blip>
          <a:stretch>
            <a:fillRect/>
          </a:stretch>
        </p:blipFill>
        <p:spPr>
          <a:xfrm>
            <a:off x="1969288" y="1801675"/>
            <a:ext cx="5205425" cy="2928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0"/>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3</a:t>
            </a:r>
            <a:endParaRPr/>
          </a:p>
        </p:txBody>
      </p:sp>
      <p:pic>
        <p:nvPicPr>
          <p:cNvPr id="366" name="Google Shape;366;p50"/>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67" name="Google Shape;367;p50"/>
          <p:cNvSpPr txBox="1"/>
          <p:nvPr/>
        </p:nvSpPr>
        <p:spPr>
          <a:xfrm>
            <a:off x="839025" y="926050"/>
            <a:ext cx="22167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lt1"/>
                </a:solidFill>
                <a:latin typeface="Montserrat"/>
                <a:ea typeface="Montserrat"/>
                <a:cs typeface="Montserrat"/>
                <a:sym typeface="Montserrat"/>
              </a:rPr>
              <a:t>Our Scenario</a:t>
            </a:r>
            <a:endParaRPr b="1" sz="2300">
              <a:solidFill>
                <a:schemeClr val="lt1"/>
              </a:solidFill>
              <a:latin typeface="Montserrat"/>
              <a:ea typeface="Montserrat"/>
              <a:cs typeface="Montserrat"/>
              <a:sym typeface="Montserrat"/>
            </a:endParaRPr>
          </a:p>
        </p:txBody>
      </p:sp>
      <p:sp>
        <p:nvSpPr>
          <p:cNvPr id="368" name="Google Shape;368;p50"/>
          <p:cNvSpPr txBox="1"/>
          <p:nvPr/>
        </p:nvSpPr>
        <p:spPr>
          <a:xfrm>
            <a:off x="455425" y="1553775"/>
            <a:ext cx="7735200" cy="3281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Signaling Game</a:t>
            </a:r>
            <a:endParaRPr sz="2000">
              <a:solidFill>
                <a:schemeClr val="lt1"/>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Developer = Player 1 (p1)</a:t>
            </a:r>
            <a:endParaRPr sz="2000">
              <a:solidFill>
                <a:schemeClr val="lt1"/>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Attacker = Player 2 (p2)</a:t>
            </a:r>
            <a:endParaRPr sz="2000">
              <a:solidFill>
                <a:schemeClr val="lt1"/>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Website has a service worker installed</a:t>
            </a:r>
            <a:endParaRPr sz="2000">
              <a:solidFill>
                <a:schemeClr val="lt1"/>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Players have a choice of 2 actions</a:t>
            </a:r>
            <a:endParaRPr sz="2000">
              <a:solidFill>
                <a:schemeClr val="lt1"/>
              </a:solidFill>
              <a:latin typeface="Montserrat Medium"/>
              <a:ea typeface="Montserrat Medium"/>
              <a:cs typeface="Montserrat Medium"/>
              <a:sym typeface="Montserrat Medium"/>
            </a:endParaRPr>
          </a:p>
          <a:p>
            <a:pPr indent="-355600" lvl="1" marL="9144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P1 can either sanitize the URL params or “forget to”</a:t>
            </a:r>
            <a:endParaRPr sz="2000">
              <a:solidFill>
                <a:schemeClr val="lt1"/>
              </a:solidFill>
              <a:latin typeface="Montserrat Medium"/>
              <a:ea typeface="Montserrat Medium"/>
              <a:cs typeface="Montserrat Medium"/>
              <a:sym typeface="Montserrat Medium"/>
            </a:endParaRPr>
          </a:p>
          <a:p>
            <a:pPr indent="-355600" lvl="1" marL="9144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P2 can either attack or move on</a:t>
            </a:r>
            <a:endParaRPr sz="2000">
              <a:solidFill>
                <a:schemeClr val="lt1"/>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P1 can be either an experienced or inexperienced developer (nature)</a:t>
            </a:r>
            <a:endParaRPr sz="2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1"/>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3</a:t>
            </a:r>
            <a:endParaRPr/>
          </a:p>
        </p:txBody>
      </p:sp>
      <p:pic>
        <p:nvPicPr>
          <p:cNvPr id="374" name="Google Shape;374;p51"/>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75" name="Google Shape;375;p51"/>
          <p:cNvSpPr txBox="1"/>
          <p:nvPr/>
        </p:nvSpPr>
        <p:spPr>
          <a:xfrm>
            <a:off x="839025" y="926050"/>
            <a:ext cx="22167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lt1"/>
                </a:solidFill>
                <a:latin typeface="Montserrat"/>
                <a:ea typeface="Montserrat"/>
                <a:cs typeface="Montserrat"/>
                <a:sym typeface="Montserrat"/>
              </a:rPr>
              <a:t>Strategies</a:t>
            </a:r>
            <a:endParaRPr b="1" sz="2300">
              <a:solidFill>
                <a:schemeClr val="lt1"/>
              </a:solidFill>
              <a:latin typeface="Montserrat"/>
              <a:ea typeface="Montserrat"/>
              <a:cs typeface="Montserrat"/>
              <a:sym typeface="Montserrat"/>
            </a:endParaRPr>
          </a:p>
        </p:txBody>
      </p:sp>
      <p:sp>
        <p:nvSpPr>
          <p:cNvPr id="376" name="Google Shape;376;p51"/>
          <p:cNvSpPr txBox="1"/>
          <p:nvPr/>
        </p:nvSpPr>
        <p:spPr>
          <a:xfrm>
            <a:off x="455425" y="1553775"/>
            <a:ext cx="7735200" cy="3281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Developer</a:t>
            </a:r>
            <a:endParaRPr sz="2000">
              <a:solidFill>
                <a:schemeClr val="lt1"/>
              </a:solidFill>
              <a:latin typeface="Montserrat Medium"/>
              <a:ea typeface="Montserrat Medium"/>
              <a:cs typeface="Montserrat Medium"/>
              <a:sym typeface="Montserrat Medium"/>
            </a:endParaRPr>
          </a:p>
          <a:p>
            <a:pPr indent="-355600" lvl="1" marL="9144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Sanitize</a:t>
            </a:r>
            <a:endParaRPr sz="2000">
              <a:solidFill>
                <a:schemeClr val="lt1"/>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Attacker</a:t>
            </a:r>
            <a:endParaRPr sz="2000">
              <a:solidFill>
                <a:schemeClr val="lt1"/>
              </a:solidFill>
              <a:latin typeface="Montserrat Medium"/>
              <a:ea typeface="Montserrat Medium"/>
              <a:cs typeface="Montserrat Medium"/>
              <a:sym typeface="Montserrat Medium"/>
            </a:endParaRPr>
          </a:p>
          <a:p>
            <a:pPr indent="-355600" lvl="1" marL="9144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Attack if developer </a:t>
            </a:r>
            <a:r>
              <a:rPr lang="en" sz="2000">
                <a:solidFill>
                  <a:schemeClr val="lt1"/>
                </a:solidFill>
                <a:latin typeface="Montserrat Medium"/>
                <a:ea typeface="Montserrat Medium"/>
                <a:cs typeface="Montserrat Medium"/>
                <a:sym typeface="Montserrat Medium"/>
              </a:rPr>
              <a:t>does not</a:t>
            </a:r>
            <a:r>
              <a:rPr lang="en" sz="2000">
                <a:solidFill>
                  <a:schemeClr val="lt1"/>
                </a:solidFill>
                <a:latin typeface="Montserrat Medium"/>
                <a:ea typeface="Montserrat Medium"/>
                <a:cs typeface="Montserrat Medium"/>
                <a:sym typeface="Montserrat Medium"/>
              </a:rPr>
              <a:t> sanitize</a:t>
            </a:r>
            <a:endParaRPr sz="2000">
              <a:solidFill>
                <a:schemeClr val="lt1"/>
              </a:solidFill>
              <a:latin typeface="Montserrat Medium"/>
              <a:ea typeface="Montserrat Medium"/>
              <a:cs typeface="Montserrat Medium"/>
              <a:sym typeface="Montserrat Medium"/>
            </a:endParaRPr>
          </a:p>
          <a:p>
            <a:pPr indent="-355600" lvl="1" marL="9144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Ignore when experienced dev sanitizes</a:t>
            </a:r>
            <a:endParaRPr sz="2000">
              <a:solidFill>
                <a:schemeClr val="lt1"/>
              </a:solidFill>
              <a:latin typeface="Montserrat Medium"/>
              <a:ea typeface="Montserrat Medium"/>
              <a:cs typeface="Montserrat Medium"/>
              <a:sym typeface="Montserrat Medium"/>
            </a:endParaRPr>
          </a:p>
          <a:p>
            <a:pPr indent="-355600" lvl="1" marL="9144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Different attack when inexperienced dev sanitizes</a:t>
            </a:r>
            <a:endParaRPr sz="2000">
              <a:solidFill>
                <a:schemeClr val="lt1"/>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Attacker’s Belief</a:t>
            </a:r>
            <a:endParaRPr sz="2000">
              <a:solidFill>
                <a:schemeClr val="lt1"/>
              </a:solidFill>
              <a:latin typeface="Montserrat Medium"/>
              <a:ea typeface="Montserrat Medium"/>
              <a:cs typeface="Montserrat Medium"/>
              <a:sym typeface="Montserrat Medium"/>
            </a:endParaRPr>
          </a:p>
          <a:p>
            <a:pPr indent="-355600" lvl="1" marL="9144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47% chance of experienced dev</a:t>
            </a:r>
            <a:endParaRPr sz="2000">
              <a:solidFill>
                <a:schemeClr val="lt1"/>
              </a:solidFill>
              <a:latin typeface="Montserrat Medium"/>
              <a:ea typeface="Montserrat Medium"/>
              <a:cs typeface="Montserrat Medium"/>
              <a:sym typeface="Montserrat Medium"/>
            </a:endParaRPr>
          </a:p>
          <a:p>
            <a:pPr indent="-355600" lvl="1" marL="914400" rtl="0" algn="l">
              <a:spcBef>
                <a:spcPts val="0"/>
              </a:spcBef>
              <a:spcAft>
                <a:spcPts val="0"/>
              </a:spcAft>
              <a:buClr>
                <a:schemeClr val="lt1"/>
              </a:buClr>
              <a:buSzPts val="2000"/>
              <a:buFont typeface="Montserrat Medium"/>
              <a:buChar char="○"/>
            </a:pPr>
            <a:r>
              <a:rPr lang="en" sz="2000">
                <a:solidFill>
                  <a:schemeClr val="lt1"/>
                </a:solidFill>
                <a:latin typeface="Montserrat Medium"/>
                <a:ea typeface="Montserrat Medium"/>
                <a:cs typeface="Montserrat Medium"/>
                <a:sym typeface="Montserrat Medium"/>
              </a:rPr>
              <a:t>53% chance of inexperienced dev</a:t>
            </a:r>
            <a:endParaRPr sz="2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2"/>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Task Set 3</a:t>
            </a:r>
            <a:endParaRPr/>
          </a:p>
        </p:txBody>
      </p:sp>
      <p:pic>
        <p:nvPicPr>
          <p:cNvPr id="382" name="Google Shape;382;p52"/>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83" name="Google Shape;383;p52"/>
          <p:cNvSpPr txBox="1"/>
          <p:nvPr/>
        </p:nvSpPr>
        <p:spPr>
          <a:xfrm>
            <a:off x="839025" y="926050"/>
            <a:ext cx="26034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lt1"/>
                </a:solidFill>
                <a:latin typeface="Montserrat"/>
                <a:ea typeface="Montserrat"/>
                <a:cs typeface="Montserrat"/>
                <a:sym typeface="Montserrat"/>
              </a:rPr>
              <a:t>Game as a Tree</a:t>
            </a:r>
            <a:endParaRPr b="1" sz="2300">
              <a:solidFill>
                <a:schemeClr val="lt1"/>
              </a:solidFill>
              <a:latin typeface="Montserrat"/>
              <a:ea typeface="Montserrat"/>
              <a:cs typeface="Montserrat"/>
              <a:sym typeface="Montserrat"/>
            </a:endParaRPr>
          </a:p>
        </p:txBody>
      </p:sp>
      <p:pic>
        <p:nvPicPr>
          <p:cNvPr id="384" name="Google Shape;384;p52"/>
          <p:cNvPicPr preferRelativeResize="0"/>
          <p:nvPr/>
        </p:nvPicPr>
        <p:blipFill>
          <a:blip r:embed="rId4">
            <a:alphaModFix/>
          </a:blip>
          <a:stretch>
            <a:fillRect/>
          </a:stretch>
        </p:blipFill>
        <p:spPr>
          <a:xfrm>
            <a:off x="2311763" y="1580650"/>
            <a:ext cx="4520467" cy="33903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3"/>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3.1.1</a:t>
            </a:r>
            <a:endParaRPr/>
          </a:p>
        </p:txBody>
      </p:sp>
      <p:pic>
        <p:nvPicPr>
          <p:cNvPr id="390" name="Google Shape;390;p53"/>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91" name="Google Shape;391;p53"/>
          <p:cNvSpPr txBox="1"/>
          <p:nvPr/>
        </p:nvSpPr>
        <p:spPr>
          <a:xfrm>
            <a:off x="140650" y="910825"/>
            <a:ext cx="40317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the attacker’s expected utility for this game.</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4"/>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3.1.1</a:t>
            </a:r>
            <a:endParaRPr/>
          </a:p>
        </p:txBody>
      </p:sp>
      <p:pic>
        <p:nvPicPr>
          <p:cNvPr id="397" name="Google Shape;397;p54"/>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98" name="Google Shape;398;p54"/>
          <p:cNvSpPr txBox="1"/>
          <p:nvPr/>
        </p:nvSpPr>
        <p:spPr>
          <a:xfrm>
            <a:off x="140650" y="910825"/>
            <a:ext cx="40317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the attacker’s expected utility for this game.</a:t>
            </a:r>
            <a:endParaRPr>
              <a:solidFill>
                <a:schemeClr val="lt1"/>
              </a:solidFill>
              <a:latin typeface="Montserrat Medium"/>
              <a:ea typeface="Montserrat Medium"/>
              <a:cs typeface="Montserrat Medium"/>
              <a:sym typeface="Montserrat Medium"/>
            </a:endParaRPr>
          </a:p>
        </p:txBody>
      </p:sp>
      <p:sp>
        <p:nvSpPr>
          <p:cNvPr id="399" name="Google Shape;399;p54"/>
          <p:cNvSpPr txBox="1"/>
          <p:nvPr/>
        </p:nvSpPr>
        <p:spPr>
          <a:xfrm>
            <a:off x="1189800" y="1540350"/>
            <a:ext cx="6764400" cy="1031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Pooling game since devs will always sanitize</a:t>
            </a:r>
            <a:endParaRPr>
              <a:solidFill>
                <a:schemeClr val="lt1"/>
              </a:solidFill>
              <a:latin typeface="Montserrat Medium"/>
              <a:ea typeface="Montserrat Medium"/>
              <a:cs typeface="Montserrat Medium"/>
              <a:sym typeface="Montserrat Medium"/>
            </a:endParaRPr>
          </a:p>
          <a:p>
            <a:pPr indent="-317500" lvl="0" marL="4572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Attacker will choose to ignore if experienced dev or attempt a different attack if inexperienced</a:t>
            </a:r>
            <a:endParaRPr>
              <a:solidFill>
                <a:schemeClr val="lt1"/>
              </a:solidFill>
              <a:latin typeface="Montserrat Medium"/>
              <a:ea typeface="Montserrat Medium"/>
              <a:cs typeface="Montserrat Medium"/>
              <a:sym typeface="Montserrat Medium"/>
            </a:endParaRPr>
          </a:p>
          <a:p>
            <a:pPr indent="-317500" lvl="0" marL="4572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Bottom half of tree can be eliminated since we know P1’s action</a:t>
            </a:r>
            <a:endParaRPr>
              <a:solidFill>
                <a:schemeClr val="lt1"/>
              </a:solidFill>
              <a:latin typeface="Montserrat Medium"/>
              <a:ea typeface="Montserrat Medium"/>
              <a:cs typeface="Montserrat Medium"/>
              <a:sym typeface="Montserrat Medium"/>
            </a:endParaRPr>
          </a:p>
        </p:txBody>
      </p:sp>
      <p:pic>
        <p:nvPicPr>
          <p:cNvPr id="400" name="Google Shape;400;p54"/>
          <p:cNvPicPr preferRelativeResize="0"/>
          <p:nvPr/>
        </p:nvPicPr>
        <p:blipFill>
          <a:blip r:embed="rId4">
            <a:alphaModFix/>
          </a:blip>
          <a:stretch>
            <a:fillRect/>
          </a:stretch>
        </p:blipFill>
        <p:spPr>
          <a:xfrm>
            <a:off x="2200275" y="2750950"/>
            <a:ext cx="4743450" cy="19145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5"/>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3.1.1</a:t>
            </a:r>
            <a:endParaRPr/>
          </a:p>
        </p:txBody>
      </p:sp>
      <p:pic>
        <p:nvPicPr>
          <p:cNvPr id="406" name="Google Shape;406;p55"/>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07" name="Google Shape;407;p55"/>
          <p:cNvSpPr txBox="1"/>
          <p:nvPr/>
        </p:nvSpPr>
        <p:spPr>
          <a:xfrm>
            <a:off x="140650" y="910825"/>
            <a:ext cx="40317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the attacker’s expected utility for this game.</a:t>
            </a:r>
            <a:endParaRPr>
              <a:solidFill>
                <a:schemeClr val="lt1"/>
              </a:solidFill>
              <a:latin typeface="Montserrat Medium"/>
              <a:ea typeface="Montserrat Medium"/>
              <a:cs typeface="Montserrat Medium"/>
              <a:sym typeface="Montserrat Medium"/>
            </a:endParaRPr>
          </a:p>
        </p:txBody>
      </p:sp>
      <p:pic>
        <p:nvPicPr>
          <p:cNvPr id="408" name="Google Shape;408;p55"/>
          <p:cNvPicPr preferRelativeResize="0"/>
          <p:nvPr/>
        </p:nvPicPr>
        <p:blipFill>
          <a:blip r:embed="rId4">
            <a:alphaModFix/>
          </a:blip>
          <a:stretch>
            <a:fillRect/>
          </a:stretch>
        </p:blipFill>
        <p:spPr>
          <a:xfrm>
            <a:off x="2200275" y="1578950"/>
            <a:ext cx="4743450" cy="1914525"/>
          </a:xfrm>
          <a:prstGeom prst="rect">
            <a:avLst/>
          </a:prstGeom>
          <a:noFill/>
          <a:ln>
            <a:noFill/>
          </a:ln>
        </p:spPr>
      </p:pic>
      <p:sp>
        <p:nvSpPr>
          <p:cNvPr id="409" name="Google Shape;409;p55"/>
          <p:cNvSpPr txBox="1"/>
          <p:nvPr/>
        </p:nvSpPr>
        <p:spPr>
          <a:xfrm>
            <a:off x="895200" y="3589725"/>
            <a:ext cx="7353600" cy="6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E(P2’s utility) = (P(experienced) * U(ignore)) + (P(inexperienced) * U(different))</a:t>
            </a:r>
            <a:endParaRPr>
              <a:solidFill>
                <a:schemeClr val="lt1"/>
              </a:solidFill>
              <a:latin typeface="Montserrat Medium"/>
              <a:ea typeface="Montserrat Medium"/>
              <a:cs typeface="Montserrat Medium"/>
              <a:sym typeface="Montserrat Medium"/>
            </a:endParaRPr>
          </a:p>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E(P2’s utility) = (0.47 * 0) + (0.53 * 0.1) = </a:t>
            </a:r>
            <a:r>
              <a:rPr lang="en">
                <a:solidFill>
                  <a:schemeClr val="accent1"/>
                </a:solidFill>
                <a:latin typeface="Montserrat Medium"/>
                <a:ea typeface="Montserrat Medium"/>
                <a:cs typeface="Montserrat Medium"/>
                <a:sym typeface="Montserrat Medium"/>
              </a:rPr>
              <a:t>0.053</a:t>
            </a:r>
            <a:endParaRPr>
              <a:solidFill>
                <a:schemeClr val="accent1"/>
              </a:solidFill>
              <a:latin typeface="Montserrat Medium"/>
              <a:ea typeface="Montserrat Medium"/>
              <a:cs typeface="Montserrat Medium"/>
              <a:sym typeface="Montserrat Mediu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6"/>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3.1.2</a:t>
            </a:r>
            <a:endParaRPr/>
          </a:p>
        </p:txBody>
      </p:sp>
      <p:pic>
        <p:nvPicPr>
          <p:cNvPr id="415" name="Google Shape;415;p56"/>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16" name="Google Shape;416;p56"/>
          <p:cNvSpPr txBox="1"/>
          <p:nvPr/>
        </p:nvSpPr>
        <p:spPr>
          <a:xfrm>
            <a:off x="140650" y="910825"/>
            <a:ext cx="40317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What does the expected utility tell about the attacker’s decision?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7"/>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3.1.2</a:t>
            </a:r>
            <a:endParaRPr/>
          </a:p>
        </p:txBody>
      </p:sp>
      <p:pic>
        <p:nvPicPr>
          <p:cNvPr id="422" name="Google Shape;422;p57"/>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23" name="Google Shape;423;p57"/>
          <p:cNvSpPr txBox="1"/>
          <p:nvPr/>
        </p:nvSpPr>
        <p:spPr>
          <a:xfrm>
            <a:off x="140650" y="910825"/>
            <a:ext cx="40317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What does the expected utility tell about the attacker’s decision?</a:t>
            </a:r>
            <a:endParaRPr>
              <a:solidFill>
                <a:schemeClr val="lt1"/>
              </a:solidFill>
              <a:latin typeface="Montserrat Medium"/>
              <a:ea typeface="Montserrat Medium"/>
              <a:cs typeface="Montserrat Medium"/>
              <a:sym typeface="Montserrat Medium"/>
            </a:endParaRPr>
          </a:p>
        </p:txBody>
      </p:sp>
      <p:pic>
        <p:nvPicPr>
          <p:cNvPr id="424" name="Google Shape;424;p57"/>
          <p:cNvPicPr preferRelativeResize="0"/>
          <p:nvPr/>
        </p:nvPicPr>
        <p:blipFill>
          <a:blip r:embed="rId4">
            <a:alphaModFix/>
          </a:blip>
          <a:stretch>
            <a:fillRect/>
          </a:stretch>
        </p:blipFill>
        <p:spPr>
          <a:xfrm>
            <a:off x="2200275" y="1578950"/>
            <a:ext cx="4743450" cy="1914525"/>
          </a:xfrm>
          <a:prstGeom prst="rect">
            <a:avLst/>
          </a:prstGeom>
          <a:noFill/>
          <a:ln>
            <a:noFill/>
          </a:ln>
        </p:spPr>
      </p:pic>
      <p:sp>
        <p:nvSpPr>
          <p:cNvPr id="425" name="Google Shape;425;p57"/>
          <p:cNvSpPr txBox="1"/>
          <p:nvPr/>
        </p:nvSpPr>
        <p:spPr>
          <a:xfrm>
            <a:off x="895200" y="3589725"/>
            <a:ext cx="7353600" cy="79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0.053 is a very low value but still positive, this tells us that the attacker’s decision will be of benefit to the attacker, and likewise of </a:t>
            </a:r>
            <a:r>
              <a:rPr lang="en">
                <a:solidFill>
                  <a:schemeClr val="lt1"/>
                </a:solidFill>
                <a:latin typeface="Montserrat Medium"/>
                <a:ea typeface="Montserrat Medium"/>
                <a:cs typeface="Montserrat Medium"/>
                <a:sym typeface="Montserrat Medium"/>
              </a:rPr>
              <a:t>detriment</a:t>
            </a:r>
            <a:r>
              <a:rPr lang="en">
                <a:solidFill>
                  <a:schemeClr val="lt1"/>
                </a:solidFill>
                <a:latin typeface="Montserrat Medium"/>
                <a:ea typeface="Montserrat Medium"/>
                <a:cs typeface="Montserrat Medium"/>
                <a:sym typeface="Montserrat Medium"/>
              </a:rPr>
              <a:t> to the developer, but will not hold much value.</a:t>
            </a:r>
            <a:endParaRPr>
              <a:solidFill>
                <a:schemeClr val="accent1"/>
              </a:solidFill>
              <a:latin typeface="Montserrat Medium"/>
              <a:ea typeface="Montserrat Medium"/>
              <a:cs typeface="Montserrat Medium"/>
              <a:sym typeface="Montserrat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8"/>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3.1.3</a:t>
            </a:r>
            <a:endParaRPr/>
          </a:p>
        </p:txBody>
      </p:sp>
      <p:pic>
        <p:nvPicPr>
          <p:cNvPr id="431" name="Google Shape;431;p58"/>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32" name="Google Shape;432;p58"/>
          <p:cNvSpPr txBox="1"/>
          <p:nvPr/>
        </p:nvSpPr>
        <p:spPr>
          <a:xfrm>
            <a:off x="140650" y="910825"/>
            <a:ext cx="40317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the expected utility for P2 if P1 chooses the forget option.</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9"/>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3.1.3</a:t>
            </a:r>
            <a:endParaRPr/>
          </a:p>
        </p:txBody>
      </p:sp>
      <p:pic>
        <p:nvPicPr>
          <p:cNvPr id="438" name="Google Shape;438;p59"/>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39" name="Google Shape;439;p59"/>
          <p:cNvSpPr txBox="1"/>
          <p:nvPr/>
        </p:nvSpPr>
        <p:spPr>
          <a:xfrm>
            <a:off x="140650" y="910825"/>
            <a:ext cx="40317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the expected utility for P2 if P1 chooses the forget option.</a:t>
            </a:r>
            <a:endParaRPr>
              <a:solidFill>
                <a:schemeClr val="lt1"/>
              </a:solidFill>
              <a:latin typeface="Montserrat Medium"/>
              <a:ea typeface="Montserrat Medium"/>
              <a:cs typeface="Montserrat Medium"/>
              <a:sym typeface="Montserrat Medium"/>
            </a:endParaRPr>
          </a:p>
        </p:txBody>
      </p:sp>
      <p:sp>
        <p:nvSpPr>
          <p:cNvPr id="440" name="Google Shape;440;p59"/>
          <p:cNvSpPr txBox="1"/>
          <p:nvPr/>
        </p:nvSpPr>
        <p:spPr>
          <a:xfrm>
            <a:off x="349350" y="3636625"/>
            <a:ext cx="8445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E(P2’s utility) = (P(experienced) * U(attack)) + (P(inexperienced) * U(attack))</a:t>
            </a:r>
            <a:endParaRPr>
              <a:solidFill>
                <a:schemeClr val="lt1"/>
              </a:solidFill>
              <a:latin typeface="Montserrat Medium"/>
              <a:ea typeface="Montserrat Medium"/>
              <a:cs typeface="Montserrat Medium"/>
              <a:sym typeface="Montserrat Medium"/>
            </a:endParaRPr>
          </a:p>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E(P2’s utility) = (0.47 * 3) + (0.53 * 3) = </a:t>
            </a:r>
            <a:r>
              <a:rPr lang="en">
                <a:solidFill>
                  <a:schemeClr val="accent1"/>
                </a:solidFill>
                <a:latin typeface="Montserrat Medium"/>
                <a:ea typeface="Montserrat Medium"/>
                <a:cs typeface="Montserrat Medium"/>
                <a:sym typeface="Montserrat Medium"/>
              </a:rPr>
              <a:t>3</a:t>
            </a:r>
            <a:endParaRPr>
              <a:solidFill>
                <a:schemeClr val="accent1"/>
              </a:solidFill>
              <a:latin typeface="Montserrat Medium"/>
              <a:ea typeface="Montserrat Medium"/>
              <a:cs typeface="Montserrat Medium"/>
              <a:sym typeface="Montserrat Medium"/>
            </a:endParaRPr>
          </a:p>
        </p:txBody>
      </p:sp>
      <p:pic>
        <p:nvPicPr>
          <p:cNvPr id="441" name="Google Shape;441;p59"/>
          <p:cNvPicPr preferRelativeResize="0"/>
          <p:nvPr/>
        </p:nvPicPr>
        <p:blipFill>
          <a:blip r:embed="rId4">
            <a:alphaModFix/>
          </a:blip>
          <a:stretch>
            <a:fillRect/>
          </a:stretch>
        </p:blipFill>
        <p:spPr>
          <a:xfrm>
            <a:off x="2238375" y="1721375"/>
            <a:ext cx="4667250" cy="17907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0"/>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3.1.4</a:t>
            </a:r>
            <a:endParaRPr/>
          </a:p>
        </p:txBody>
      </p:sp>
      <p:pic>
        <p:nvPicPr>
          <p:cNvPr id="447" name="Google Shape;447;p60"/>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48" name="Google Shape;448;p60"/>
          <p:cNvSpPr txBox="1"/>
          <p:nvPr/>
        </p:nvSpPr>
        <p:spPr>
          <a:xfrm>
            <a:off x="140650" y="910825"/>
            <a:ext cx="40317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Does this game have an equilibrium? Explain your reasoning.</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1"/>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3.1.4</a:t>
            </a:r>
            <a:endParaRPr/>
          </a:p>
        </p:txBody>
      </p:sp>
      <p:pic>
        <p:nvPicPr>
          <p:cNvPr id="454" name="Google Shape;454;p61"/>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55" name="Google Shape;455;p61"/>
          <p:cNvSpPr txBox="1"/>
          <p:nvPr/>
        </p:nvSpPr>
        <p:spPr>
          <a:xfrm>
            <a:off x="140650" y="910825"/>
            <a:ext cx="40317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Does this game have an equilibrium? Explain your reasoning.</a:t>
            </a:r>
            <a:endParaRPr>
              <a:solidFill>
                <a:schemeClr val="lt1"/>
              </a:solidFill>
              <a:latin typeface="Montserrat Medium"/>
              <a:ea typeface="Montserrat Medium"/>
              <a:cs typeface="Montserrat Medium"/>
              <a:sym typeface="Montserrat Medium"/>
            </a:endParaRPr>
          </a:p>
        </p:txBody>
      </p:sp>
      <p:sp>
        <p:nvSpPr>
          <p:cNvPr id="456" name="Google Shape;456;p61"/>
          <p:cNvSpPr txBox="1"/>
          <p:nvPr/>
        </p:nvSpPr>
        <p:spPr>
          <a:xfrm>
            <a:off x="354950" y="1660925"/>
            <a:ext cx="8157300" cy="3167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2 different pooling strategies:</a:t>
            </a:r>
            <a:endParaRPr>
              <a:solidFill>
                <a:schemeClr val="lt1"/>
              </a:solidFill>
              <a:latin typeface="Montserrat Medium"/>
              <a:ea typeface="Montserrat Medium"/>
              <a:cs typeface="Montserrat Medium"/>
              <a:sym typeface="Montserrat Medium"/>
            </a:endParaRPr>
          </a:p>
          <a:p>
            <a:pPr indent="-317500" lvl="1" marL="9144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P1 chooses to sanitize regardless of nature.</a:t>
            </a:r>
            <a:endParaRPr>
              <a:solidFill>
                <a:schemeClr val="lt1"/>
              </a:solidFill>
              <a:latin typeface="Montserrat Medium"/>
              <a:ea typeface="Montserrat Medium"/>
              <a:cs typeface="Montserrat Medium"/>
              <a:sym typeface="Montserrat Medium"/>
            </a:endParaRPr>
          </a:p>
          <a:p>
            <a:pPr indent="-317500" lvl="2" marL="13716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P2 will always choose the non-attack option resulting in an expected utility of 1 </a:t>
            </a:r>
            <a:r>
              <a:rPr b="1" lang="en">
                <a:solidFill>
                  <a:schemeClr val="accent1"/>
                </a:solidFill>
                <a:latin typeface="Montserrat"/>
                <a:ea typeface="Montserrat"/>
                <a:cs typeface="Montserrat"/>
                <a:sym typeface="Montserrat"/>
              </a:rPr>
              <a:t>for P1</a:t>
            </a:r>
            <a:r>
              <a:rPr lang="en">
                <a:solidFill>
                  <a:schemeClr val="lt1"/>
                </a:solidFill>
                <a:latin typeface="Montserrat Medium"/>
                <a:ea typeface="Montserrat Medium"/>
                <a:cs typeface="Montserrat Medium"/>
                <a:sym typeface="Montserrat Medium"/>
              </a:rPr>
              <a:t>.</a:t>
            </a:r>
            <a:endParaRPr>
              <a:solidFill>
                <a:schemeClr val="lt1"/>
              </a:solidFill>
              <a:latin typeface="Montserrat Medium"/>
              <a:ea typeface="Montserrat Medium"/>
              <a:cs typeface="Montserrat Medium"/>
              <a:sym typeface="Montserrat Medium"/>
            </a:endParaRPr>
          </a:p>
          <a:p>
            <a:pPr indent="-317500" lvl="1" marL="9144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P1 chooses to forget regardless of nature.</a:t>
            </a:r>
            <a:endParaRPr>
              <a:solidFill>
                <a:schemeClr val="lt1"/>
              </a:solidFill>
              <a:latin typeface="Montserrat Medium"/>
              <a:ea typeface="Montserrat Medium"/>
              <a:cs typeface="Montserrat Medium"/>
              <a:sym typeface="Montserrat Medium"/>
            </a:endParaRPr>
          </a:p>
          <a:p>
            <a:pPr indent="-317500" lvl="2" marL="13716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P2 will always choose the attack option resulting in an expected utility of -4.94 </a:t>
            </a:r>
            <a:r>
              <a:rPr lang="en">
                <a:solidFill>
                  <a:schemeClr val="lt1"/>
                </a:solidFill>
                <a:latin typeface="Montserrat Medium"/>
                <a:ea typeface="Montserrat Medium"/>
                <a:cs typeface="Montserrat Medium"/>
                <a:sym typeface="Montserrat Medium"/>
              </a:rPr>
              <a:t> </a:t>
            </a:r>
            <a:r>
              <a:rPr b="1" lang="en">
                <a:solidFill>
                  <a:schemeClr val="accent1"/>
                </a:solidFill>
                <a:latin typeface="Montserrat"/>
                <a:ea typeface="Montserrat"/>
                <a:cs typeface="Montserrat"/>
                <a:sym typeface="Montserrat"/>
              </a:rPr>
              <a:t>for P1</a:t>
            </a:r>
            <a:r>
              <a:rPr lang="en">
                <a:solidFill>
                  <a:schemeClr val="lt1"/>
                </a:solidFill>
                <a:latin typeface="Montserrat Medium"/>
                <a:ea typeface="Montserrat Medium"/>
                <a:cs typeface="Montserrat Medium"/>
                <a:sym typeface="Montserrat Medium"/>
              </a:rPr>
              <a: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2"/>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Action 3.1.4</a:t>
            </a:r>
            <a:endParaRPr/>
          </a:p>
        </p:txBody>
      </p:sp>
      <p:pic>
        <p:nvPicPr>
          <p:cNvPr id="462" name="Google Shape;462;p62"/>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63" name="Google Shape;463;p62"/>
          <p:cNvSpPr txBox="1"/>
          <p:nvPr/>
        </p:nvSpPr>
        <p:spPr>
          <a:xfrm>
            <a:off x="140650" y="910825"/>
            <a:ext cx="40317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Does this game have an equilibrium? Explain your reasoning.</a:t>
            </a:r>
            <a:endParaRPr>
              <a:solidFill>
                <a:schemeClr val="lt1"/>
              </a:solidFill>
              <a:latin typeface="Montserrat Medium"/>
              <a:ea typeface="Montserrat Medium"/>
              <a:cs typeface="Montserrat Medium"/>
              <a:sym typeface="Montserrat Medium"/>
            </a:endParaRPr>
          </a:p>
        </p:txBody>
      </p:sp>
      <p:sp>
        <p:nvSpPr>
          <p:cNvPr id="464" name="Google Shape;464;p62"/>
          <p:cNvSpPr txBox="1"/>
          <p:nvPr/>
        </p:nvSpPr>
        <p:spPr>
          <a:xfrm>
            <a:off x="354950" y="1660925"/>
            <a:ext cx="8157300" cy="3167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Determine if there’s a profitable deviation</a:t>
            </a:r>
            <a:endParaRPr>
              <a:solidFill>
                <a:schemeClr val="lt1"/>
              </a:solidFill>
              <a:latin typeface="Montserrat Medium"/>
              <a:ea typeface="Montserrat Medium"/>
              <a:cs typeface="Montserrat Medium"/>
              <a:sym typeface="Montserrat Medium"/>
            </a:endParaRPr>
          </a:p>
          <a:p>
            <a:pPr indent="-317500" lvl="1" marL="9144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If P1 is an experienced dev:</a:t>
            </a:r>
            <a:endParaRPr>
              <a:solidFill>
                <a:schemeClr val="lt1"/>
              </a:solidFill>
              <a:latin typeface="Montserrat Medium"/>
              <a:ea typeface="Montserrat Medium"/>
              <a:cs typeface="Montserrat Medium"/>
              <a:sym typeface="Montserrat Medium"/>
            </a:endParaRPr>
          </a:p>
          <a:p>
            <a:pPr indent="-317500" lvl="2" marL="13716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P2 will ignore if P1 sticks to equilibrium strategy and sanitizes. This results in a payoff of 1  </a:t>
            </a:r>
            <a:r>
              <a:rPr b="1" lang="en">
                <a:solidFill>
                  <a:schemeClr val="accent1"/>
                </a:solidFill>
                <a:latin typeface="Montserrat"/>
                <a:ea typeface="Montserrat"/>
                <a:cs typeface="Montserrat"/>
                <a:sym typeface="Montserrat"/>
              </a:rPr>
              <a:t>for P1</a:t>
            </a:r>
            <a:endParaRPr b="1">
              <a:solidFill>
                <a:schemeClr val="accent1"/>
              </a:solidFill>
              <a:latin typeface="Montserrat"/>
              <a:ea typeface="Montserrat"/>
              <a:cs typeface="Montserrat"/>
              <a:sym typeface="Montserrat"/>
            </a:endParaRPr>
          </a:p>
          <a:p>
            <a:pPr indent="-317500" lvl="2" marL="13716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If P1 deviates, P2 will always attack resulting in a payoff of -6  </a:t>
            </a:r>
            <a:r>
              <a:rPr b="1" lang="en">
                <a:solidFill>
                  <a:schemeClr val="accent1"/>
                </a:solidFill>
                <a:latin typeface="Montserrat"/>
                <a:ea typeface="Montserrat"/>
                <a:cs typeface="Montserrat"/>
                <a:sym typeface="Montserrat"/>
              </a:rPr>
              <a:t>for P1</a:t>
            </a:r>
            <a:endParaRPr b="1">
              <a:solidFill>
                <a:schemeClr val="accent1"/>
              </a:solidFill>
              <a:latin typeface="Montserrat"/>
              <a:ea typeface="Montserrat"/>
              <a:cs typeface="Montserrat"/>
              <a:sym typeface="Montserrat"/>
            </a:endParaRPr>
          </a:p>
          <a:p>
            <a:pPr indent="-317500" lvl="2" marL="13716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Based on the above two points, if P1 is an experienced dev, there’s no profitable deviation.</a:t>
            </a:r>
            <a:endParaRPr>
              <a:solidFill>
                <a:schemeClr val="lt1"/>
              </a:solidFill>
              <a:latin typeface="Montserrat Medium"/>
              <a:ea typeface="Montserrat Medium"/>
              <a:cs typeface="Montserrat Medium"/>
              <a:sym typeface="Montserrat Medium"/>
            </a:endParaRPr>
          </a:p>
          <a:p>
            <a:pPr indent="-317500" lvl="1" marL="9144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If P1 is an inexperienced dev:</a:t>
            </a:r>
            <a:endParaRPr>
              <a:solidFill>
                <a:schemeClr val="lt1"/>
              </a:solidFill>
              <a:latin typeface="Montserrat Medium"/>
              <a:ea typeface="Montserrat Medium"/>
              <a:cs typeface="Montserrat Medium"/>
              <a:sym typeface="Montserrat Medium"/>
            </a:endParaRPr>
          </a:p>
          <a:p>
            <a:pPr indent="-317500" lvl="2" marL="13716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P2 will choose a different attack if P1 sticks to equilibrium strategy and sanitizes. This results in a payoff of 1 </a:t>
            </a:r>
            <a:r>
              <a:rPr b="1" lang="en">
                <a:solidFill>
                  <a:schemeClr val="accent1"/>
                </a:solidFill>
                <a:latin typeface="Montserrat"/>
                <a:ea typeface="Montserrat"/>
                <a:cs typeface="Montserrat"/>
                <a:sym typeface="Montserrat"/>
              </a:rPr>
              <a:t>for P1</a:t>
            </a:r>
            <a:endParaRPr b="1">
              <a:solidFill>
                <a:schemeClr val="accent1"/>
              </a:solidFill>
              <a:latin typeface="Montserrat"/>
              <a:ea typeface="Montserrat"/>
              <a:cs typeface="Montserrat"/>
              <a:sym typeface="Montserrat"/>
            </a:endParaRPr>
          </a:p>
          <a:p>
            <a:pPr indent="-317500" lvl="2" marL="13716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If P1 deviates, P2 will always attack resulting in a payoff of -4 </a:t>
            </a:r>
            <a:r>
              <a:rPr b="1" lang="en">
                <a:solidFill>
                  <a:schemeClr val="accent1"/>
                </a:solidFill>
                <a:latin typeface="Montserrat"/>
                <a:ea typeface="Montserrat"/>
                <a:cs typeface="Montserrat"/>
                <a:sym typeface="Montserrat"/>
              </a:rPr>
              <a:t>for P1</a:t>
            </a:r>
            <a:endParaRPr b="1">
              <a:solidFill>
                <a:schemeClr val="accent1"/>
              </a:solidFill>
              <a:latin typeface="Montserrat"/>
              <a:ea typeface="Montserrat"/>
              <a:cs typeface="Montserrat"/>
              <a:sym typeface="Montserrat"/>
            </a:endParaRPr>
          </a:p>
          <a:p>
            <a:pPr indent="-317500" lvl="2" marL="13716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Based on the above two points, if P1 is an inexperienced dev, there’s also no profitable deviation.</a:t>
            </a:r>
            <a:endParaRPr>
              <a:solidFill>
                <a:schemeClr val="lt1"/>
              </a:solidFill>
              <a:latin typeface="Montserrat Medium"/>
              <a:ea typeface="Montserrat Medium"/>
              <a:cs typeface="Montserrat Medium"/>
              <a:sym typeface="Montserrat Medium"/>
            </a:endParaRPr>
          </a:p>
          <a:p>
            <a:pPr indent="-317500" lvl="0" marL="457200" rtl="0" algn="l">
              <a:spcBef>
                <a:spcPts val="0"/>
              </a:spcBef>
              <a:spcAft>
                <a:spcPts val="0"/>
              </a:spcAft>
              <a:buClr>
                <a:schemeClr val="accent1"/>
              </a:buClr>
              <a:buSzPts val="1400"/>
              <a:buFont typeface="Montserrat Medium"/>
              <a:buChar char="●"/>
            </a:pPr>
            <a:r>
              <a:rPr lang="en">
                <a:solidFill>
                  <a:schemeClr val="accent1"/>
                </a:solidFill>
                <a:latin typeface="Montserrat Medium"/>
                <a:ea typeface="Montserrat Medium"/>
                <a:cs typeface="Montserrat Medium"/>
                <a:sym typeface="Montserrat Medium"/>
              </a:rPr>
              <a:t>Since there’s no profitable deviation, there </a:t>
            </a:r>
            <a:r>
              <a:rPr i="1" lang="en">
                <a:solidFill>
                  <a:schemeClr val="accent1"/>
                </a:solidFill>
                <a:latin typeface="Montserrat Medium"/>
                <a:ea typeface="Montserrat Medium"/>
                <a:cs typeface="Montserrat Medium"/>
                <a:sym typeface="Montserrat Medium"/>
              </a:rPr>
              <a:t>is</a:t>
            </a:r>
            <a:r>
              <a:rPr lang="en">
                <a:solidFill>
                  <a:schemeClr val="accent1"/>
                </a:solidFill>
                <a:latin typeface="Montserrat Medium"/>
                <a:ea typeface="Montserrat Medium"/>
                <a:cs typeface="Montserrat Medium"/>
                <a:sym typeface="Montserrat Medium"/>
              </a:rPr>
              <a:t> a pooling equilibrium for this game.</a:t>
            </a:r>
            <a:endParaRPr>
              <a:solidFill>
                <a:schemeClr val="accent1"/>
              </a:solidFill>
              <a:latin typeface="Montserrat Medium"/>
              <a:ea typeface="Montserrat Medium"/>
              <a:cs typeface="Montserrat Medium"/>
              <a:sym typeface="Montserrat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3"/>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 Summary</a:t>
            </a:r>
            <a:endParaRPr/>
          </a:p>
        </p:txBody>
      </p:sp>
      <p:pic>
        <p:nvPicPr>
          <p:cNvPr id="470" name="Google Shape;470;p63"/>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71" name="Google Shape;471;p63"/>
          <p:cNvSpPr txBox="1"/>
          <p:nvPr/>
        </p:nvSpPr>
        <p:spPr>
          <a:xfrm>
            <a:off x="647400" y="1768075"/>
            <a:ext cx="7849200" cy="28128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lt1"/>
              </a:buClr>
              <a:buSzPts val="2300"/>
              <a:buFont typeface="Montserrat Medium"/>
              <a:buChar char="●"/>
            </a:pPr>
            <a:r>
              <a:rPr lang="en" sz="2300">
                <a:solidFill>
                  <a:schemeClr val="lt1"/>
                </a:solidFill>
                <a:latin typeface="Montserrat Medium"/>
                <a:ea typeface="Montserrat Medium"/>
                <a:cs typeface="Montserrat Medium"/>
                <a:sym typeface="Montserrat Medium"/>
              </a:rPr>
              <a:t>Learned what Service Workers are.</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Char char="●"/>
            </a:pPr>
            <a:r>
              <a:rPr lang="en" sz="2300">
                <a:solidFill>
                  <a:schemeClr val="lt1"/>
                </a:solidFill>
                <a:latin typeface="Montserrat Medium"/>
                <a:ea typeface="Montserrat Medium"/>
                <a:cs typeface="Montserrat Medium"/>
                <a:sym typeface="Montserrat Medium"/>
              </a:rPr>
              <a:t>Learned how the SW-XSS attack works and what makes it possible.</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Char char="●"/>
            </a:pPr>
            <a:r>
              <a:rPr lang="en" sz="2300">
                <a:solidFill>
                  <a:schemeClr val="lt1"/>
                </a:solidFill>
                <a:latin typeface="Montserrat Medium"/>
                <a:ea typeface="Montserrat Medium"/>
                <a:cs typeface="Montserrat Medium"/>
                <a:sym typeface="Montserrat Medium"/>
              </a:rPr>
              <a:t>From that, we’ve learned what needs to be done to prevent it.</a:t>
            </a:r>
            <a:endParaRPr sz="2300">
              <a:solidFill>
                <a:schemeClr val="lt1"/>
              </a:solidFill>
              <a:latin typeface="Montserrat Medium"/>
              <a:ea typeface="Montserrat Medium"/>
              <a:cs typeface="Montserrat Medium"/>
              <a:sym typeface="Montserrat Medium"/>
            </a:endParaRPr>
          </a:p>
          <a:p>
            <a:pPr indent="-374650" lvl="0" marL="457200" rtl="0" algn="l">
              <a:spcBef>
                <a:spcPts val="0"/>
              </a:spcBef>
              <a:spcAft>
                <a:spcPts val="0"/>
              </a:spcAft>
              <a:buClr>
                <a:schemeClr val="lt1"/>
              </a:buClr>
              <a:buSzPts val="2300"/>
              <a:buFont typeface="Montserrat Medium"/>
              <a:buChar char="●"/>
            </a:pPr>
            <a:r>
              <a:rPr lang="en" sz="2300">
                <a:solidFill>
                  <a:schemeClr val="lt1"/>
                </a:solidFill>
                <a:latin typeface="Montserrat Medium"/>
                <a:ea typeface="Montserrat Medium"/>
                <a:cs typeface="Montserrat Medium"/>
                <a:sym typeface="Montserrat Medium"/>
              </a:rPr>
              <a:t>Demonstrated how simple oversights can lead to extreme issues.</a:t>
            </a:r>
            <a:endParaRPr sz="23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4"/>
          <p:cNvSpPr txBox="1"/>
          <p:nvPr>
            <p:ph type="ctrTitle"/>
          </p:nvPr>
        </p:nvSpPr>
        <p:spPr>
          <a:xfrm>
            <a:off x="311708" y="191121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Questions?</a:t>
            </a:r>
            <a:endParaRPr/>
          </a:p>
        </p:txBody>
      </p:sp>
      <p:sp>
        <p:nvSpPr>
          <p:cNvPr id="477" name="Google Shape;477;p6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Wrap-up</a:t>
            </a:r>
            <a:endParaRPr/>
          </a:p>
        </p:txBody>
      </p:sp>
      <p:pic>
        <p:nvPicPr>
          <p:cNvPr id="478" name="Google Shape;478;p64"/>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5"/>
          <p:cNvSpPr txBox="1"/>
          <p:nvPr>
            <p:ph type="ctrTitle"/>
          </p:nvPr>
        </p:nvSpPr>
        <p:spPr>
          <a:xfrm>
            <a:off x="311708" y="191121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 for participating in this activity!</a:t>
            </a:r>
            <a:endParaRPr/>
          </a:p>
        </p:txBody>
      </p:sp>
      <p:sp>
        <p:nvSpPr>
          <p:cNvPr id="484" name="Google Shape;484;p6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WS - SWXSS</a:t>
            </a:r>
            <a:endParaRPr/>
          </a:p>
        </p:txBody>
      </p:sp>
      <p:pic>
        <p:nvPicPr>
          <p:cNvPr id="485" name="Google Shape;485;p65"/>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ise State - Simple Light">
  <a:themeElements>
    <a:clrScheme name="Simple Light">
      <a:dk1>
        <a:srgbClr val="000000"/>
      </a:dk1>
      <a:lt1>
        <a:srgbClr val="FFFFFF"/>
      </a:lt1>
      <a:dk2>
        <a:srgbClr val="595959"/>
      </a:dk2>
      <a:lt2>
        <a:srgbClr val="EEEEEE"/>
      </a:lt2>
      <a:accent1>
        <a:srgbClr val="D64309"/>
      </a:accent1>
      <a:accent2>
        <a:srgbClr val="F6F7F9"/>
      </a:accent2>
      <a:accent3>
        <a:srgbClr val="0033A0"/>
      </a:accent3>
      <a:accent4>
        <a:srgbClr val="0072CE"/>
      </a:accent4>
      <a:accent5>
        <a:srgbClr val="003A70"/>
      </a:accent5>
      <a:accent6>
        <a:srgbClr val="C8C9C7"/>
      </a:accent6>
      <a:hlink>
        <a:srgbClr val="0033A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