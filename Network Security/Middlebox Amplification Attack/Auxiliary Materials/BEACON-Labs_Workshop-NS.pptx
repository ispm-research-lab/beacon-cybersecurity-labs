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Montserrat Black"/>
      <p:bold r:id="rId70"/>
      <p:boldItalic r:id="rId71"/>
    </p:embeddedFont>
    <p:embeddedFont>
      <p:font typeface="Montserrat"/>
      <p:regular r:id="rId72"/>
      <p:bold r:id="rId73"/>
      <p:italic r:id="rId74"/>
      <p:boldItalic r:id="rId75"/>
    </p:embeddedFont>
    <p:embeddedFont>
      <p:font typeface="Montserrat Medium"/>
      <p:regular r:id="rId76"/>
      <p:bold r:id="rId77"/>
      <p:italic r:id="rId78"/>
      <p:boldItalic r:id="rId79"/>
    </p:embeddedFont>
    <p:embeddedFont>
      <p:font typeface="Graduate"/>
      <p:regular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Graduat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ontserrat-bold.fntdata"/><Relationship Id="rId72" Type="http://schemas.openxmlformats.org/officeDocument/2006/relationships/font" Target="fonts/Montserrat-regular.fntdata"/><Relationship Id="rId31" Type="http://schemas.openxmlformats.org/officeDocument/2006/relationships/slide" Target="slides/slide26.xml"/><Relationship Id="rId75" Type="http://schemas.openxmlformats.org/officeDocument/2006/relationships/font" Target="fonts/Montserrat-boldItalic.fntdata"/><Relationship Id="rId30" Type="http://schemas.openxmlformats.org/officeDocument/2006/relationships/slide" Target="slides/slide25.xml"/><Relationship Id="rId74" Type="http://schemas.openxmlformats.org/officeDocument/2006/relationships/font" Target="fonts/Montserrat-italic.fntdata"/><Relationship Id="rId33" Type="http://schemas.openxmlformats.org/officeDocument/2006/relationships/slide" Target="slides/slide28.xml"/><Relationship Id="rId77" Type="http://schemas.openxmlformats.org/officeDocument/2006/relationships/font" Target="fonts/MontserratMedium-bold.fntdata"/><Relationship Id="rId32" Type="http://schemas.openxmlformats.org/officeDocument/2006/relationships/slide" Target="slides/slide27.xml"/><Relationship Id="rId76" Type="http://schemas.openxmlformats.org/officeDocument/2006/relationships/font" Target="fonts/MontserratMedium-regular.fntdata"/><Relationship Id="rId35" Type="http://schemas.openxmlformats.org/officeDocument/2006/relationships/slide" Target="slides/slide30.xml"/><Relationship Id="rId79" Type="http://schemas.openxmlformats.org/officeDocument/2006/relationships/font" Target="fonts/MontserratMedium-boldItalic.fntdata"/><Relationship Id="rId34" Type="http://schemas.openxmlformats.org/officeDocument/2006/relationships/slide" Target="slides/slide29.xml"/><Relationship Id="rId78" Type="http://schemas.openxmlformats.org/officeDocument/2006/relationships/font" Target="fonts/MontserratMedium-italic.fntdata"/><Relationship Id="rId71" Type="http://schemas.openxmlformats.org/officeDocument/2006/relationships/font" Target="fonts/MontserratBlack-boldItalic.fntdata"/><Relationship Id="rId70" Type="http://schemas.openxmlformats.org/officeDocument/2006/relationships/font" Target="fonts/MontserratBlack-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20a3ccf3f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20a3ccf3f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Welcome to the BEACON Labs Workshop created under Boise State University’s ISPM Research Lab, directed by Dr. Gaby Dagher. My name is Dylan Gresham and I’ll be the one guiding everyone through the workshop.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f17be74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f17be74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d3ea5c8a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d3ea5c8a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get started, I just want to make sure that everyone has gotten VirtualBox installed, the three accompanying virtual machine images downloaded, and the instruction document opened up as well. If not, go ahead and get those downloads started and we will continue on. If you’re unable to get things installed before we get to the actions, feel free to follow along and take notes and attempt it on your own time or post a message in the chat and try and group up with someone else who does have everything installed.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f17be741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f17be741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so just to give a brief overview of what this workshop is all about. We’ll be introducing some advances in attacks in network and web security today and mobile security tomorrow. All of these attacks have been published from within the last 5 years and are still relevant today. Our first activity will be a TCP reflection-based attack, following that will be an attack </a:t>
            </a:r>
            <a:r>
              <a:rPr lang="en">
                <a:solidFill>
                  <a:schemeClr val="dk1"/>
                </a:solidFill>
              </a:rPr>
              <a:t>taking advantage of the Android API to hijack physical input mechanisms</a:t>
            </a:r>
            <a:r>
              <a:rPr lang="en"/>
              <a:t>. T</a:t>
            </a:r>
            <a:r>
              <a:rPr lang="en"/>
              <a:t>omorrow we’ll finish up by going over a </a:t>
            </a:r>
            <a:r>
              <a:rPr lang="en">
                <a:solidFill>
                  <a:schemeClr val="dk1"/>
                </a:solidFill>
              </a:rPr>
              <a:t>cross-site scripting attack executed via service workers</a:t>
            </a:r>
            <a:r>
              <a:rPr lang="en"/>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f1a32e5b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2f1a32e5b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goal of this workshop is to get our students to be able to analyze these attacks, implement them, and start thinking about how to defend against them, all while gaining practical insights into these topics.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we begin, are there any questions?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2f17be74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2f17be74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 until this paper was released in 2021, reflection based attacks were thought to only be possible through UDP. This paper proved them to be possible through TCP as well. With that being said, it relies on the implementation of the protocol and not in a vulnerability in the protocol itself. The attack is performed through middleboxes, which are the devices that sit between one person and another on the internet. A middlebox could be a firewall, a router, another server, or some random device sitting in a coffee shop.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f17be741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2f17be741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some of the different strategies the researches used for the packets. They tried combining different flags and checked how many responses they got and how much of an </a:t>
            </a:r>
            <a:r>
              <a:rPr lang="en"/>
              <a:t>amplification</a:t>
            </a:r>
            <a:r>
              <a:rPr lang="en"/>
              <a:t> was in the response itself.</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f17be741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f17be741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five </a:t>
            </a:r>
            <a:r>
              <a:rPr lang="en"/>
              <a:t>types of reflection attacks.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Destination reflection which results in a direct response of a static size.</a:t>
            </a:r>
            <a:endParaRPr/>
          </a:p>
          <a:p>
            <a:pPr indent="0" lvl="0" marL="0" rtl="0" algn="l">
              <a:spcBef>
                <a:spcPts val="0"/>
              </a:spcBef>
              <a:spcAft>
                <a:spcPts val="0"/>
              </a:spcAft>
              <a:buNone/>
            </a:pPr>
            <a:r>
              <a:rPr lang="en"/>
              <a:t>Middlebox reflection which results in a block page of static size (more than </a:t>
            </a:r>
            <a:r>
              <a:rPr lang="en"/>
              <a:t>destination</a:t>
            </a:r>
            <a:r>
              <a:rPr lang="en"/>
              <a:t> reflection).</a:t>
            </a:r>
            <a:endParaRPr/>
          </a:p>
          <a:p>
            <a:pPr indent="0" lvl="0" marL="0" rtl="0" algn="l">
              <a:spcBef>
                <a:spcPts val="0"/>
              </a:spcBef>
              <a:spcAft>
                <a:spcPts val="0"/>
              </a:spcAft>
              <a:buNone/>
            </a:pPr>
            <a:r>
              <a:rPr lang="en"/>
              <a:t>Destination &amp; Middlebox reflection is a combination of the previous two, size is equivalent to destination + middlebox sizes.</a:t>
            </a:r>
            <a:endParaRPr/>
          </a:p>
          <a:p>
            <a:pPr indent="0" lvl="0" marL="0" rtl="0" algn="l">
              <a:spcBef>
                <a:spcPts val="0"/>
              </a:spcBef>
              <a:spcAft>
                <a:spcPts val="0"/>
              </a:spcAft>
              <a:buNone/>
            </a:pPr>
            <a:r>
              <a:rPr lang="en"/>
              <a:t>Routing Loop reflection is where all routers that a packet travels through produces a middlebox response and loop back to each other.</a:t>
            </a:r>
            <a:endParaRPr/>
          </a:p>
          <a:p>
            <a:pPr indent="0" lvl="0" marL="0" rtl="0" algn="l">
              <a:spcBef>
                <a:spcPts val="0"/>
              </a:spcBef>
              <a:spcAft>
                <a:spcPts val="0"/>
              </a:spcAft>
              <a:buNone/>
            </a:pPr>
            <a:r>
              <a:rPr lang="en"/>
              <a:t>Victim-Sustained reflection is where the victim responds to the packets, prompting the </a:t>
            </a:r>
            <a:r>
              <a:rPr lang="en"/>
              <a:t>destination</a:t>
            </a:r>
            <a:r>
              <a:rPr lang="en"/>
              <a:t> for another response. Since the victim never sent the request themselves, this results in a long series of interactions, sometimes leading to an “infinite amplification factor.”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f17be741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2f17be741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in this table we can see several different URLs that resulted in an amplification factor of +100x for each flag combination. The main thing to note here are the bolded values representing the URL that produced the most responses with that combination of flags.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d3ea5c8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d3ea5c8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e9d3aa2e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2e9d3aa2e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first task set, we’re focusing on matching visual representations of the different type of reflection attacks to the type.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e9d3aa2e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e9d3aa2e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minute to figure out what type of reflection this is.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e9d3aa2e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e9d3aa2e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victim-sustained reflection. The attacker sends a packet to the destination which then prompts a response to the victim. The victim then responds back and starts a loop of responses between the victim and destination.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e9d3aa2e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2e9d3aa2e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minute for this one.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e9d3aa2e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2e9d3aa2e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we’ve got an example of a destination &amp; middlebox reflection. We’ve got the attacker sending a packet to the destination and in the process of arriving at the destination, it passes through a middlebox which also sends a response to the victim, causing the victim to get responses from two sources.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e9d3aa2e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2e9d3aa2e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minute to try this one.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2e9d3aa2e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2e9d3aa2e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one is just middlebox. The attacker sends a packet to the destination which doesn’t send a response to the victim but the middlebox that the packet passed through on its way to the destination did send a response to the victim.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e9d3aa2e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2e9d3aa2e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take a second for this one.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2e9d3aa2e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2e9d3aa2e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Hopefully, we got that this is a destination </a:t>
            </a:r>
            <a:r>
              <a:rPr lang="en"/>
              <a:t>reflection. The attacker is sending a packet to the destination. Destination then sends a response to the victim.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e9d3aa2e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2e9d3aa2e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but not least, take a second or two for this one.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e9d3aa2e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e9d3aa2e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we’ve got a case of a routing loop reflection. The attacker sends a packet to the destination but along the way, a router picks it up and sends it through a middlebox to another router. The middlebox then sends a response to the victim and the second router sends the packet back to the first router. The router then continuously sends the packet back and forth between routers causing the middlebox to shell out a ton of responses to the victim.</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2f17be741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2f17be741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going to utilize the Java application in the virtual machine to classify IP addresses based on the type of reflection.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f17be741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2f17be741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haven’t already, open up the middlebox vm in virtualbox and log in with the username and password middlebox, all lowercase and all one word. Once logged in, go ahead and open a terminal and enter the command middlebox to start the program.</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2e9d3aa2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2e9d3aa2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program is started, read through the text and then choose to use 2 packets. Your terminal’s output should look similar to what is shown on screen.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2f17be741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2f17be741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need to set the packet up. We’ll be setting the HTTP Header, which corresponds to the domain that we’ll be simulating sending a packet to, the flags, </a:t>
            </a:r>
            <a:r>
              <a:rPr lang="en"/>
              <a:t>which we can determine by looking at the tables and figures in the instruction document, the packet’s time to live, size, and the payload’s size.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2e9d3aa2e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2e9d3aa2e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off, let’s all use the domain “youchange.com”. Select the option 0 and enter yoochange.com then hit enter and the letter y to confirm. Now I am obligated to mention that this domain was changed from the paper’s source material. Originally it was an adult film website which was deemed inappropriate for educational purposes so for this workshop we’ve changed it to youchange instead of its original name.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354a7ac2c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354a7ac2c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for each packet we need to set the appropriate flags. Use the tables shown earlier in the slides and the instruction document and choose two sets of flags to set, one for each packet. They can be the same if you wish them to be.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2e9d3aa2e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2e9d3aa2e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sake of consistency, please set the first packet to just have the SYN flag and the second packet to have the PSH and ACK flags.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2e9d3aa2ee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2e9d3aa2ee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we’ll be setting the time to live to as long as possible which is 255 for both packets.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2e9d3aa2e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2e9d3aa2e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then make sure that the packet size is the default.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2e9d3aa2e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2e9d3aa2e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Then we’ll make sure that the payload size is also the default.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e9d3aa2ee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e9d3aa2ee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we’ve set up our packet, let’s print out our configuration to double check everything and then close the configuration. Take a moment to double check that you’ve got </a:t>
            </a:r>
            <a:r>
              <a:rPr lang="en"/>
              <a:t>everything</a:t>
            </a:r>
            <a:r>
              <a:rPr lang="en"/>
              <a:t> the same as what I’ve got, otherwise it may throw the rest of the lab off. This guided walkthrough will be to get a 100% score on the final quiz but, students may need to try out more than one packet configuration to get enough data.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2f17be741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2f17be741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got our packets configured, we have multiple options of what to do next. We can either perform a wide attack which will send our packets to every single IP address. We can do a targeted attack in which we send our packets to a single address. Or we can do a traceroute where we send our packets to one address and be able to see the route it took to get to the destination.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2f17be741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2f17be741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the end of this activity has a quiz that we’ll need to do in order to “pass” the activity. For this quiz, we need to know all five IP addresses that produced an amplification, which type of </a:t>
            </a:r>
            <a:r>
              <a:rPr lang="en"/>
              <a:t>amplification each address is, the size of the destination amplification, both of the middlebox response sizes since there’s the middlebox amplification and the destination and middlebox reflection, the number of routers in the routing loop amplification, and how many packets the victim sent in the victim-sustained attack. While that sounds like a lot, following the steps we’ll go through will allow us to get everything in a systematic way</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2e9d3aa2ee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2e9d3aa2ee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step is to do a wide attack and jot down the 5 IP addresses that resulted in an amplification attack. I’ve already gone ahead and done so here, but take a few minutes to do it yourself and sort through the IPs to find your five. As you find each IP address, make sure you write it down either on a piece of scratch paper or a text file on your computer or virtual machine.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2e9d3aa2e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2e9d3aa2e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got all five, we need to perform a traceroute on each one to determine its path. This will give us more clues as to which IP address was a victim of which type of reflection. Take a few minutes to go through each of yours and then we’ll go through what I’ve got. For each traceroute, it is a good idea to save the details of the traceroute to another file by copy pasting or writing down the essential details manually.</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2e9d3aa2e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2e9d3aa2e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2e9d3aa2ee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2e9d3aa2ee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2e9d3aa2ee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2e9d3aa2ee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2e9d3aa2ee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2e9d3aa2ee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we’ve got the meat of the lab, the quiz. We’ve devised a strategy that should be able to guarantee us a 100% on the quiz. We’ll first order our IP addresses by the size of the response. From earlier on in this activity, we know the relative sizes of </a:t>
            </a:r>
            <a:r>
              <a:rPr lang="en"/>
              <a:t>the</a:t>
            </a:r>
            <a:r>
              <a:rPr lang="en"/>
              <a:t> response generated by each type of reflection in relation to the rest of the types. By starting with the smallest we should be able to get all of them one by one until we’re done with the quiz.</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2e9d3aa2ee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2e9d3aa2ee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off, start the quiz by entering in 5 and confirming that we want to take the quiz. Then take your smallest IP address and enter in the last three digits of the address, representing the host. If we go back to the list of the different types of amplifications, we can see from the descriptions that the one that produces the smallest response is Destination Reflection, choose that for this and that should prompt you for the size of the response sent to the victim. Enter the size of the response, in my case 50, and that should be the first 18 points!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2e9d3aa2ee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2e9d3aa2ee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to the second address, we enter the host once again, look at our list of types and determine that Middlebox Reflection is the one that has the 2nd smallest reflection size so we pick that option for the quiz. Once again we enter the size of the response sent to the victim which, once again, is just the size of the amplification, in my case 138. That should get you to 36 points now.</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e9d3aa2ee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e9d3aa2ee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IP address. Same process, enter the host, check our list and find that the types are </a:t>
            </a:r>
            <a:r>
              <a:rPr lang="en"/>
              <a:t>conspicuously</a:t>
            </a:r>
            <a:r>
              <a:rPr lang="en"/>
              <a:t> in ascending order of size and that the third smallest is Destination and Middlebox Reflection. Choosing that option we’re now prompted for the size of the response which is, once again, the size we received. In my case 188 which you’ll notice is the sum of the sizes of the previous two reflections. You should now be up to 54 points.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2e9d3aa2ee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2e9d3aa2ee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for our fourth smallest IP address, we take a look the list once more, find that it’s the routing loop reflection and this time we’re asked how many routers and not the packet size, what a change! If we go to our traceroute and look at the router IP addresses, we can count the number of </a:t>
            </a:r>
            <a:r>
              <a:rPr lang="en"/>
              <a:t>unique</a:t>
            </a:r>
            <a:r>
              <a:rPr lang="en"/>
              <a:t> IPs. For me, that was 5, getting me to a total of 77 points thus far. When counting up your number of routers, take care to make sure you’re counting just the </a:t>
            </a:r>
            <a:r>
              <a:rPr lang="en"/>
              <a:t>routers</a:t>
            </a:r>
            <a:r>
              <a:rPr lang="en"/>
              <a:t> and not the routers AND middleboxes.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2e9d3aa2ee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2e9d3aa2ee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we’ve got our final IP address, we only have one option for the type of amplification for this address, that being the victim sustained reflection. Now for the quirky part of this one, the number of packets the VICTIM sent, not the middlebox or the routers. Since we are sending two packets at the same time, we need to take the floor of half the packets we see as a result of our simulation. For me, this is the floor of 100,337 / 2 which is 50,168. That should end the quiz for us and print out some statistics for us to observe. There’s additionally an optional feedback survey that we ask everyone to fill out for this activity, feel free to fill that out when you get a chance if you’d like.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2e9d3aa2ee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2e9d3aa2ee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some basic instructions on getting the link from the terminal to firefox if you’re not able to directly open the link from your terminal.</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2f17be741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2f17be741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before we jump into the game theory section, let’s take a look at the video that Jordan prepared for us.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2f17be7410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2f17be7410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Jordam, let’s do our own summaries of what Bayesian Nash Equilibrium is to really reinforce it for us. So Bayesian Nash Equilibrium only works when there’s no incentive for any of the involved parties to change their strategy based on prior beliefs.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2f17be7410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2f17be7410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take a look at our own example. Here we’ve got a game of two players, each with the option of </a:t>
            </a:r>
            <a:r>
              <a:rPr lang="en"/>
              <a:t>taking</a:t>
            </a:r>
            <a:r>
              <a:rPr lang="en"/>
              <a:t> two actions. Player 1 can either go up or down and player 2 can either go left or right. The catch here is that player 1 can be either A-Type or B-Type and based on Player 2’s belief on what kind of type player 1 is, their decisions will change. Take a second to look over these tables and see if you notice anything about them.</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2f17be741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2f17be741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Player 1 knows what type of player they are but player 2 doesn’t. Player 2 can see both tables, meanwhile player 1 can only see the table corresponding to their type. Player 2’s first step is to see what the dominant strategy for player 1 is for each of their types. We can see these dominating strategies in the image on screen.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2f17be741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2f17be741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we’ve got to calculate the utility of Player 2’s actions. We can create our inequalities by taking the expected value for each of </a:t>
            </a:r>
            <a:r>
              <a:rPr lang="en"/>
              <a:t>player</a:t>
            </a:r>
            <a:r>
              <a:rPr lang="en"/>
              <a:t> 2’s actions times the probability of the type and summing them together to get the total utility for that action. For </a:t>
            </a:r>
            <a:r>
              <a:rPr lang="en"/>
              <a:t>example, Player 2 will get a utility of 2 if player 1 is the A-Type, we write this as 2 times P. Now if we look at the B-Type table, we see that player 2 gets a utility of 3, we write this as 3 times 1 minus P. The sum of these two is the total utility for the left action. We do the same process for the right action. We can then set them up in an inequality and solve for P to get our value for decision making. In this case we see that if P is greater than three fifths, player 2 should play the left action, otherwise they should play the right action.</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2f17be741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2f17be741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gone through an example, let’s look at what our hypothetical situation is. We’ve got a server located in one of two countries but we don’t know which one. Country One is the primary target of our attack and Country Two is an ally that we don’t want to attack. If the server is in Country One, our target, we call this the A-Type, likewise, the server is B-Type if it is in the ally country, country two. We have two methods of attack, the older less effective method and the newer more effective method that will only work once. Our goal here is to weigh our options for each type of server and determine which method of attack we should go with that will have the highest chance of </a:t>
            </a:r>
            <a:r>
              <a:rPr lang="en"/>
              <a:t>benefiting</a:t>
            </a:r>
            <a:r>
              <a:rPr lang="en"/>
              <a:t> us.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2f17be741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2f17be741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we’ve got this situation represented in tables. The server can either have someone watching the server or have no one watching the server and the attacker can either do the new or old attack.</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354a7ac2c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354a7ac2c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Following the same approach as our example, l</a:t>
            </a:r>
            <a:r>
              <a:rPr lang="en">
                <a:solidFill>
                  <a:schemeClr val="dk1"/>
                </a:solidFill>
              </a:rPr>
              <a:t>et’s take 5 minutes to determine dominating strategies and set up our inequalities.</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2e9d3aa2ee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2e9d3aa2ee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There is a chance that the Attacker will be either a-type or b-type. P is represented with this. There are still only two options for both Attacker and Server to choose, but Server does not know what type Attacker is. Server can only see whichever table their type is while Server can see both. Server must first see what the dominant strategy is for the Attacker in each scenario. This is quite simple though as with a-type up strictly dominates Someone watching server, and as b-type Someone watching server strictly dominates No one watching server. We can then setup our inequalities as shown above and then finally set up our equation itself, highlighted in orange.</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354a7ac2c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354a7ac2c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Now let’s take another few minutes to do some good old fashioned algebra and solve our inequality for P.</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2e9d3aa2ee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2e9d3aa2ee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we can see our solution. So when P is greater than 1/3 Server should play New Attack, but when it is less than 1/3 they should play Old Attack.</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2e9d3aa2ee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2e9d3aa2ee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here’s a few questions to make sure we’ve got a good understanding of what our inequality means. If there’s a 50% </a:t>
            </a:r>
            <a:r>
              <a:rPr lang="en"/>
              <a:t>chance the server is owned by the target country, which attack do we go with?</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2e9d3aa2ee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2e9d3aa2ee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go with the New Attack since our </a:t>
            </a:r>
            <a:r>
              <a:rPr lang="en"/>
              <a:t>inequality</a:t>
            </a:r>
            <a:r>
              <a:rPr lang="en"/>
              <a:t> for P is satisfied.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Now, i</a:t>
            </a:r>
            <a:r>
              <a:rPr lang="en">
                <a:solidFill>
                  <a:schemeClr val="dk1"/>
                </a:solidFill>
              </a:rPr>
              <a:t>f there’s a 33% chance the server is owned by the target country, which attack do we go with?</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2e9d3aa2ee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2e9d3aa2ee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should use the Old attack since our inequality isn’t satisfied.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if there’s a 25% chance the server is owned by the target country, which attack do we go with?</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2e9d3aa2ee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2e9d3aa2ee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again, the old attack since our inequality isn’t satisfied.</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2e9d3aa2ee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2e9d3aa2ee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would be the ideal time to do the survey if you’d like to, no pressure if you don’t feel like doing it. The survey is also anonymous so feel free to be as critical as you’d like.</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2f17be7410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2f17be7410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people are filling out the survey, let’s recap a little. We’ve gone over what reflection based attacks are and covered how they’re possible over TCP and not just UDP anymore. We’ve gone over the five types of reflections and seen how we can identify them. While doing so, we’ve seen how large of a vulnerability this is. From a single attacker sending out a single packet of 1 megabyte in size, we saw responses of over 100 gigabytes getting sent back. One of the points that we really want to reinforce here is that for nations with a high amount of censorship, this can be a massive consequence as there could be some intentionally vulnerable middleboxes and domains and this attack could be used to quickly, easily, and effectively block someone from accessing the internet by blocking their ports.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2e9d3aa2ee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2e9d3aa2ee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finished the first lab, are there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nvSpPr>
        <p:spPr>
          <a:xfrm>
            <a:off x="0" y="836425"/>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0" name="Google Shape;10;p2"/>
          <p:cNvSpPr txBox="1"/>
          <p:nvPr>
            <p:ph type="ctrTitle"/>
          </p:nvPr>
        </p:nvSpPr>
        <p:spPr>
          <a:xfrm>
            <a:off x="311708" y="13329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100"/>
              <a:buFont typeface="Montserrat Black"/>
              <a:buNone/>
              <a:defRPr sz="4100">
                <a:solidFill>
                  <a:schemeClr val="lt1"/>
                </a:solidFill>
                <a:latin typeface="Montserrat Black"/>
                <a:ea typeface="Montserrat Black"/>
                <a:cs typeface="Montserrat Black"/>
                <a:sym typeface="Montserrat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333900"/>
            <a:ext cx="8520600" cy="792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300"/>
              <a:buFont typeface="Montserrat"/>
              <a:buNone/>
              <a:defRPr b="1" sz="23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4335925" y="323375"/>
            <a:ext cx="5452800" cy="11121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13" name="Google Shape;13;p2"/>
          <p:cNvPicPr preferRelativeResize="0"/>
          <p:nvPr/>
        </p:nvPicPr>
        <p:blipFill>
          <a:blip r:embed="rId2">
            <a:alphaModFix/>
          </a:blip>
          <a:stretch>
            <a:fillRect/>
          </a:stretch>
        </p:blipFill>
        <p:spPr>
          <a:xfrm>
            <a:off x="0" y="1"/>
            <a:ext cx="886899" cy="767976"/>
          </a:xfrm>
          <a:prstGeom prst="rect">
            <a:avLst/>
          </a:prstGeom>
          <a:noFill/>
          <a:ln>
            <a:noFill/>
          </a:ln>
        </p:spPr>
      </p:pic>
      <p:sp>
        <p:nvSpPr>
          <p:cNvPr id="14" name="Google Shape;14;p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lvl1pPr lvl="0" algn="l">
              <a:spcBef>
                <a:spcPts val="0"/>
              </a:spcBef>
              <a:spcAft>
                <a:spcPts val="0"/>
              </a:spcAft>
              <a:buClr>
                <a:schemeClr val="lt1"/>
              </a:buClr>
              <a:buSzPts val="1700"/>
              <a:buFont typeface="Montserrat"/>
              <a:buNone/>
              <a:defRPr b="1" sz="1700">
                <a:solidFill>
                  <a:schemeClr val="lt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5" name="Google Shape;15;p2"/>
          <p:cNvCxnSpPr/>
          <p:nvPr/>
        </p:nvCxnSpPr>
        <p:spPr>
          <a:xfrm>
            <a:off x="8779725" y="1373000"/>
            <a:ext cx="0" cy="3399900"/>
          </a:xfrm>
          <a:prstGeom prst="straightConnector1">
            <a:avLst/>
          </a:prstGeom>
          <a:noFill/>
          <a:ln cap="flat" cmpd="sng" w="19050">
            <a:solidFill>
              <a:srgbClr val="D64309"/>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Section header" type="secHead">
  <p:cSld name="SECTION_HEADER">
    <p:spTree>
      <p:nvGrpSpPr>
        <p:cNvPr id="16" name="Shape 16"/>
        <p:cNvGrpSpPr/>
        <p:nvPr/>
      </p:nvGrpSpPr>
      <p:grpSpPr>
        <a:xfrm>
          <a:off x="0" y="0"/>
          <a:ext cx="0" cy="0"/>
          <a:chOff x="0" y="0"/>
          <a:chExt cx="0" cy="0"/>
        </a:xfrm>
      </p:grpSpPr>
      <p:sp>
        <p:nvSpPr>
          <p:cNvPr id="17" name="Google Shape;17;p3"/>
          <p:cNvSpPr txBox="1"/>
          <p:nvPr/>
        </p:nvSpPr>
        <p:spPr>
          <a:xfrm>
            <a:off x="0" y="0"/>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8" name="Google Shape;18;p3"/>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pic>
        <p:nvPicPr>
          <p:cNvPr id="19" name="Google Shape;19;p3"/>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0" name="Google Shape;20;p3"/>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1" name="Google Shape;21;p3"/>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a:spcBef>
                <a:spcPts val="0"/>
              </a:spcBef>
              <a:spcAft>
                <a:spcPts val="0"/>
              </a:spcAft>
              <a:buClr>
                <a:srgbClr val="D64309"/>
              </a:buClr>
              <a:buSzPts val="1300"/>
              <a:buFont typeface="Montserrat"/>
              <a:buNone/>
              <a:defRPr b="1" sz="1300">
                <a:solidFill>
                  <a:srgbClr val="D64309"/>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Section header">
  <p:cSld name="SECTION_HEADER_1">
    <p:spTree>
      <p:nvGrpSpPr>
        <p:cNvPr id="22" name="Shape 22"/>
        <p:cNvGrpSpPr/>
        <p:nvPr/>
      </p:nvGrpSpPr>
      <p:grpSpPr>
        <a:xfrm>
          <a:off x="0" y="0"/>
          <a:ext cx="0" cy="0"/>
          <a:chOff x="0" y="0"/>
          <a:chExt cx="0" cy="0"/>
        </a:xfrm>
      </p:grpSpPr>
      <p:sp>
        <p:nvSpPr>
          <p:cNvPr id="23" name="Google Shape;23;p4"/>
          <p:cNvSpPr txBox="1"/>
          <p:nvPr/>
        </p:nvSpPr>
        <p:spPr>
          <a:xfrm>
            <a:off x="0" y="0"/>
            <a:ext cx="9144000" cy="4307100"/>
          </a:xfrm>
          <a:prstGeom prst="rect">
            <a:avLst/>
          </a:prstGeom>
          <a:solidFill>
            <a:srgbClr val="D64309"/>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D64309"/>
              </a:highlight>
              <a:latin typeface="Montserrat"/>
              <a:ea typeface="Montserrat"/>
              <a:cs typeface="Montserrat"/>
              <a:sym typeface="Montserrat"/>
            </a:endParaRPr>
          </a:p>
        </p:txBody>
      </p:sp>
      <p:sp>
        <p:nvSpPr>
          <p:cNvPr id="24" name="Google Shape;24;p4"/>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pic>
        <p:nvPicPr>
          <p:cNvPr id="25" name="Google Shape;25;p4"/>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6" name="Google Shape;26;p4"/>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7" name="Google Shape;27;p4"/>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33A0"/>
              </a:buClr>
              <a:buSzPts val="1300"/>
              <a:buFont typeface="Montserrat"/>
              <a:buNone/>
              <a:defRPr b="1" sz="1300">
                <a:solidFill>
                  <a:srgbClr val="0033A0"/>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5"/>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30" name="Google Shape;30;p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31" name="Google Shape;31;p5"/>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32" name="Google Shape;32;p5"/>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33" name="Google Shape;33;p5"/>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34" name="Google Shape;34;p5"/>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35" name="Google Shape;35;p5"/>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6"/>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39" name="Google Shape;39;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40" name="Google Shape;40;p6"/>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1" name="Google Shape;41;p6"/>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2" name="Google Shape;42;p6"/>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43" name="Google Shape;43;p6"/>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44" name="Google Shape;44;p6"/>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9pPr>
          </a:lstStyle>
          <a:p/>
        </p:txBody>
      </p:sp>
      <p:sp>
        <p:nvSpPr>
          <p:cNvPr id="47" name="Google Shape;47;p7"/>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8" name="Google Shape;48;p7"/>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9" name="Google Shape;49;p7"/>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0" name="Google Shape;50;p7"/>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1" name="Google Shape;51;p7"/>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txBox="1"/>
          <p:nvPr>
            <p:ph type="title"/>
          </p:nvPr>
        </p:nvSpPr>
        <p:spPr>
          <a:xfrm>
            <a:off x="490250" y="450150"/>
            <a:ext cx="794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1pPr>
            <a:lvl2pPr lvl="1">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2pPr>
            <a:lvl3pPr lvl="2">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3pPr>
            <a:lvl4pPr lvl="3">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4pPr>
            <a:lvl5pPr lvl="4">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5pPr>
            <a:lvl6pPr lvl="5">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6pPr>
            <a:lvl7pPr lvl="6">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7pPr>
            <a:lvl8pPr lvl="7">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8pPr>
            <a:lvl9pPr lvl="8">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9pPr>
          </a:lstStyle>
          <a:p/>
        </p:txBody>
      </p:sp>
      <p:sp>
        <p:nvSpPr>
          <p:cNvPr id="54" name="Google Shape;5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 name="Google Shape;55;p8"/>
          <p:cNvSpPr txBox="1"/>
          <p:nvPr>
            <p:ph idx="1" type="subTitle"/>
          </p:nvPr>
        </p:nvSpPr>
        <p:spPr>
          <a:xfrm>
            <a:off x="5452225" y="4247575"/>
            <a:ext cx="3570300" cy="320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6" name="Google Shape;56;p8"/>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57" name="Google Shape;57;p8"/>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58" name="Google Shape;58;p8"/>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9" name="Google Shape;59;p8"/>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60" name="Google Shape;60;p8"/>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4572000" y="-125"/>
            <a:ext cx="4572000" cy="5143500"/>
          </a:xfrm>
          <a:prstGeom prst="rect">
            <a:avLst/>
          </a:prstGeom>
          <a:solidFill>
            <a:srgbClr val="F6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4200"/>
              <a:buFont typeface="Montserrat Medium"/>
              <a:buNone/>
              <a:defRPr sz="4200">
                <a:solidFill>
                  <a:srgbClr val="0033A0"/>
                </a:solidFill>
                <a:latin typeface="Montserrat Medium"/>
                <a:ea typeface="Montserrat Medium"/>
                <a:cs typeface="Montserrat Medium"/>
                <a:sym typeface="Montserrat Medium"/>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4" name="Google Shape;64;p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sp>
        <p:nvSpPr>
          <p:cNvPr id="66" name="Google Shape;66;p9"/>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67" name="Google Shape;67;p9"/>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68" name="Google Shape;68;p9"/>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69" name="Google Shape;69;p9"/>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0" name="Google Shape;70;p9"/>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12000"/>
              <a:buFont typeface="Montserrat Black"/>
              <a:buNone/>
              <a:defRPr sz="12000">
                <a:solidFill>
                  <a:srgbClr val="0033A0"/>
                </a:solidFill>
                <a:latin typeface="Montserrat Black"/>
                <a:ea typeface="Montserrat Black"/>
                <a:cs typeface="Montserrat Black"/>
                <a:sym typeface="Montserrat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0"/>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74" name="Google Shape;74;p10"/>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75" name="Google Shape;75;p10"/>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76" name="Google Shape;76;p10"/>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7" name="Google Shape;77;p10"/>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ype="blank">
  <p:cSld name="BLANK">
    <p:spTree>
      <p:nvGrpSpPr>
        <p:cNvPr id="78" name="Shape 78"/>
        <p:cNvGrpSpPr/>
        <p:nvPr/>
      </p:nvGrpSpPr>
      <p:grpSpPr>
        <a:xfrm>
          <a:off x="0" y="0"/>
          <a:ext cx="0" cy="0"/>
          <a:chOff x="0" y="0"/>
          <a:chExt cx="0" cy="0"/>
        </a:xfrm>
      </p:grpSpPr>
      <p:sp>
        <p:nvSpPr>
          <p:cNvPr id="79" name="Google Shape;79;p11"/>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0" name="Google Shape;80;p11"/>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1" name="Google Shape;81;p11"/>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BLANK_1">
    <p:spTree>
      <p:nvGrpSpPr>
        <p:cNvPr id="82" name="Shape 82"/>
        <p:cNvGrpSpPr/>
        <p:nvPr/>
      </p:nvGrpSpPr>
      <p:grpSpPr>
        <a:xfrm>
          <a:off x="0" y="0"/>
          <a:ext cx="0" cy="0"/>
          <a:chOff x="0" y="0"/>
          <a:chExt cx="0" cy="0"/>
        </a:xfrm>
      </p:grpSpPr>
      <p:sp>
        <p:nvSpPr>
          <p:cNvPr id="83" name="Google Shape;83;p12"/>
          <p:cNvSpPr/>
          <p:nvPr>
            <p:ph idx="2" type="pic"/>
          </p:nvPr>
        </p:nvSpPr>
        <p:spPr>
          <a:xfrm>
            <a:off x="-28050" y="0"/>
            <a:ext cx="9200100" cy="4629300"/>
          </a:xfrm>
          <a:prstGeom prst="rect">
            <a:avLst/>
          </a:prstGeom>
          <a:noFill/>
          <a:ln>
            <a:noFill/>
          </a:ln>
        </p:spPr>
      </p:sp>
      <p:sp>
        <p:nvSpPr>
          <p:cNvPr id="84" name="Google Shape;84;p12"/>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5" name="Google Shape;85;p12"/>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6" name="Google Shape;86;p12"/>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ith text">
  <p:cSld name="BLANK_1_1">
    <p:spTree>
      <p:nvGrpSpPr>
        <p:cNvPr id="87" name="Shape 87"/>
        <p:cNvGrpSpPr/>
        <p:nvPr/>
      </p:nvGrpSpPr>
      <p:grpSpPr>
        <a:xfrm>
          <a:off x="0" y="0"/>
          <a:ext cx="0" cy="0"/>
          <a:chOff x="0" y="0"/>
          <a:chExt cx="0" cy="0"/>
        </a:xfrm>
      </p:grpSpPr>
      <p:sp>
        <p:nvSpPr>
          <p:cNvPr id="88" name="Google Shape;88;p13"/>
          <p:cNvSpPr/>
          <p:nvPr>
            <p:ph idx="2" type="pic"/>
          </p:nvPr>
        </p:nvSpPr>
        <p:spPr>
          <a:xfrm>
            <a:off x="0" y="0"/>
            <a:ext cx="4196400" cy="4629300"/>
          </a:xfrm>
          <a:prstGeom prst="rect">
            <a:avLst/>
          </a:prstGeom>
          <a:noFill/>
          <a:ln>
            <a:noFill/>
          </a:ln>
        </p:spPr>
      </p:sp>
      <p:sp>
        <p:nvSpPr>
          <p:cNvPr id="89" name="Google Shape;89;p13"/>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90" name="Google Shape;90;p13"/>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91" name="Google Shape;91;p13"/>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2" name="Google Shape;92;p13"/>
          <p:cNvSpPr txBox="1"/>
          <p:nvPr>
            <p:ph type="title"/>
          </p:nvPr>
        </p:nvSpPr>
        <p:spPr>
          <a:xfrm>
            <a:off x="4702725" y="228000"/>
            <a:ext cx="41295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93" name="Google Shape;93;p13"/>
          <p:cNvSpPr txBox="1"/>
          <p:nvPr>
            <p:ph idx="3" type="body"/>
          </p:nvPr>
        </p:nvSpPr>
        <p:spPr>
          <a:xfrm>
            <a:off x="4702800" y="863550"/>
            <a:ext cx="41295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94" name="Google Shape;94;p13"/>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sp>
        <p:nvSpPr>
          <p:cNvPr id="95" name="Google Shape;95;p13"/>
          <p:cNvSpPr txBox="1"/>
          <p:nvPr>
            <p:ph idx="4"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2800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https://www.boisestate.edu/coen-isp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usenix.org/conference/usenixsecurity21/presentation/bock"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hyperlink" Target="http://www.youtube.com/watch?v=O4Vs_g--5d4" TargetMode="External"/><Relationship Id="rId5"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25.png"/><Relationship Id="rId5"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3.png"/><Relationship Id="rId8"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3.png"/><Relationship Id="rId4" Type="http://schemas.openxmlformats.org/officeDocument/2006/relationships/image" Target="../media/image26.png"/><Relationship Id="rId5"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7.png"/><Relationship Id="rId4" Type="http://schemas.openxmlformats.org/officeDocument/2006/relationships/image" Target="../media/image28.png"/><Relationship Id="rId5"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37.png"/><Relationship Id="rId5"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3.png"/><Relationship Id="rId4" Type="http://schemas.openxmlformats.org/officeDocument/2006/relationships/image" Target="../media/image32.png"/><Relationship Id="rId5"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6.png"/><Relationship Id="rId4" Type="http://schemas.openxmlformats.org/officeDocument/2006/relationships/image" Target="../media/image39.png"/><Relationship Id="rId5"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hyperlink" Target="http://www.youtube.com/watch?v=sUKqUV76Av4" TargetMode="External"/><Relationship Id="rId5" Type="http://schemas.openxmlformats.org/officeDocument/2006/relationships/image" Target="../media/image2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35.png"/><Relationship Id="rId5"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BEACON Labs Workshop - Lab 1</a:t>
            </a:r>
            <a:endParaRPr/>
          </a:p>
        </p:txBody>
      </p:sp>
      <p:pic>
        <p:nvPicPr>
          <p:cNvPr id="101" name="Google Shape;101;p1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02" name="Google Shape;102;p14"/>
          <p:cNvSpPr txBox="1"/>
          <p:nvPr/>
        </p:nvSpPr>
        <p:spPr>
          <a:xfrm>
            <a:off x="311700" y="1332975"/>
            <a:ext cx="8520600" cy="1598100"/>
          </a:xfrm>
          <a:prstGeom prst="rect">
            <a:avLst/>
          </a:prstGeom>
          <a:noFill/>
          <a:ln>
            <a:noFill/>
          </a:ln>
        </p:spPr>
        <p:txBody>
          <a:bodyPr anchorCtr="0" anchor="b" bIns="91425" lIns="91425" spcFirstLastPara="1" rIns="91425" wrap="square" tIns="91425">
            <a:normAutofit/>
          </a:bodyPr>
          <a:lstStyle/>
          <a:p>
            <a:pPr indent="0" lvl="0" marL="0" rtl="0" algn="ctr">
              <a:lnSpc>
                <a:spcPct val="115000"/>
              </a:lnSpc>
              <a:spcBef>
                <a:spcPts val="0"/>
              </a:spcBef>
              <a:spcAft>
                <a:spcPts val="0"/>
              </a:spcAft>
              <a:buSzPts val="935"/>
              <a:buNone/>
            </a:pPr>
            <a:r>
              <a:rPr b="1" lang="en" sz="3250">
                <a:solidFill>
                  <a:srgbClr val="F1C232"/>
                </a:solidFill>
                <a:latin typeface="Graduate"/>
                <a:ea typeface="Graduate"/>
                <a:cs typeface="Graduate"/>
                <a:sym typeface="Graduate"/>
              </a:rPr>
              <a:t>Middlebox Amplification Attack </a:t>
            </a:r>
            <a:r>
              <a:rPr b="1" lang="en" sz="2950">
                <a:solidFill>
                  <a:srgbClr val="FFF2CC"/>
                </a:solidFill>
              </a:rPr>
              <a:t>Network Security Lab</a:t>
            </a:r>
            <a:endParaRPr b="1" sz="2185">
              <a:solidFill>
                <a:srgbClr val="FFF2CC"/>
              </a:solidFill>
            </a:endParaRPr>
          </a:p>
        </p:txBody>
      </p:sp>
      <p:sp>
        <p:nvSpPr>
          <p:cNvPr id="103" name="Google Shape;103;p14"/>
          <p:cNvSpPr txBox="1"/>
          <p:nvPr/>
        </p:nvSpPr>
        <p:spPr>
          <a:xfrm>
            <a:off x="0" y="3333900"/>
            <a:ext cx="4395300" cy="7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Gaby Dagher, PhD</a:t>
            </a:r>
            <a:br>
              <a:rPr b="1" lang="en" sz="20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ISPM Research Lab</a:t>
            </a:r>
            <a:br>
              <a:rPr lang="en" sz="16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Boise State University</a:t>
            </a:r>
            <a:endParaRPr sz="1600">
              <a:solidFill>
                <a:srgbClr val="FFFFFF"/>
              </a:solidFill>
              <a:latin typeface="Montserrat"/>
              <a:ea typeface="Montserrat"/>
              <a:cs typeface="Montserrat"/>
              <a:sym typeface="Montserrat"/>
            </a:endParaRPr>
          </a:p>
        </p:txBody>
      </p:sp>
      <p:sp>
        <p:nvSpPr>
          <p:cNvPr id="104" name="Google Shape;104;p14"/>
          <p:cNvSpPr txBox="1"/>
          <p:nvPr/>
        </p:nvSpPr>
        <p:spPr>
          <a:xfrm>
            <a:off x="311700" y="4476900"/>
            <a:ext cx="8520600" cy="39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Montserrat Medium"/>
                <a:ea typeface="Montserrat Medium"/>
                <a:cs typeface="Montserrat Medium"/>
                <a:sym typeface="Montserrat Medium"/>
              </a:rPr>
              <a:t>Created by: </a:t>
            </a:r>
            <a:r>
              <a:rPr lang="en">
                <a:solidFill>
                  <a:schemeClr val="lt1"/>
                </a:solidFill>
                <a:latin typeface="Montserrat Medium"/>
                <a:ea typeface="Montserrat Medium"/>
                <a:cs typeface="Montserrat Medium"/>
                <a:sym typeface="Montserrat Medium"/>
              </a:rPr>
              <a:t>Jordan Whyte</a:t>
            </a:r>
            <a:r>
              <a:rPr lang="en">
                <a:solidFill>
                  <a:srgbClr val="FFFFFF"/>
                </a:solidFill>
                <a:latin typeface="Montserrat Medium"/>
                <a:ea typeface="Montserrat Medium"/>
                <a:cs typeface="Montserrat Medium"/>
                <a:sym typeface="Montserrat Medium"/>
              </a:rPr>
              <a:t>, </a:t>
            </a:r>
            <a:r>
              <a:rPr lang="en" sz="1600" u="sng">
                <a:solidFill>
                  <a:srgbClr val="FFFFFF"/>
                </a:solidFill>
                <a:latin typeface="Montserrat"/>
                <a:ea typeface="Montserrat"/>
                <a:cs typeface="Montserrat"/>
                <a:sym typeface="Montserrat"/>
                <a:hlinkClick r:id="rId4">
                  <a:extLst>
                    <a:ext uri="{A12FA001-AC4F-418D-AE19-62706E023703}">
                      <ahyp:hlinkClr val="tx"/>
                    </a:ext>
                  </a:extLst>
                </a:hlinkClick>
              </a:rPr>
              <a:t>ISPM Research Lab</a:t>
            </a:r>
            <a:r>
              <a:rPr lang="en">
                <a:solidFill>
                  <a:srgbClr val="FFFFFF"/>
                </a:solidFill>
                <a:latin typeface="Montserrat Medium"/>
                <a:ea typeface="Montserrat Medium"/>
                <a:cs typeface="Montserrat Medium"/>
                <a:sym typeface="Montserrat Medium"/>
              </a:rPr>
              <a:t> </a:t>
            </a:r>
            <a:endParaRPr>
              <a:solidFill>
                <a:srgbClr val="FFFFFF"/>
              </a:solidFill>
              <a:latin typeface="Montserrat Medium"/>
              <a:ea typeface="Montserrat Medium"/>
              <a:cs typeface="Montserrat Medium"/>
              <a:sym typeface="Montserrat Medium"/>
            </a:endParaRPr>
          </a:p>
        </p:txBody>
      </p:sp>
      <p:sp>
        <p:nvSpPr>
          <p:cNvPr id="105" name="Google Shape;105;p14"/>
          <p:cNvSpPr txBox="1"/>
          <p:nvPr/>
        </p:nvSpPr>
        <p:spPr>
          <a:xfrm>
            <a:off x="4169575" y="3333900"/>
            <a:ext cx="4395300" cy="7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Dylan Gresham</a:t>
            </a:r>
            <a:br>
              <a:rPr b="1" lang="en" sz="20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ISPM Research Lab</a:t>
            </a:r>
            <a:br>
              <a:rPr lang="en" sz="16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Boise State University</a:t>
            </a:r>
            <a:endParaRPr sz="160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lnSpc>
                <a:spcPct val="150000"/>
              </a:lnSpc>
              <a:spcBef>
                <a:spcPts val="0"/>
              </a:spcBef>
              <a:spcAft>
                <a:spcPts val="0"/>
              </a:spcAft>
              <a:buSzPts val="2300"/>
              <a:buChar char="●"/>
            </a:pPr>
            <a:r>
              <a:rPr lang="en"/>
              <a:t>Title: </a:t>
            </a:r>
            <a:r>
              <a:rPr b="0" lang="en" u="sng">
                <a:solidFill>
                  <a:srgbClr val="FFFFFF"/>
                </a:solidFill>
                <a:hlinkClick r:id="rId3">
                  <a:extLst>
                    <a:ext uri="{A12FA001-AC4F-418D-AE19-62706E023703}">
                      <ahyp:hlinkClr val="tx"/>
                    </a:ext>
                  </a:extLst>
                </a:hlinkClick>
              </a:rPr>
              <a:t>Weaponizing Middleboxes for TCP Reflected Amplification</a:t>
            </a:r>
            <a:endParaRPr b="0">
              <a:solidFill>
                <a:srgbClr val="FFFFFF"/>
              </a:solidFill>
            </a:endParaRPr>
          </a:p>
          <a:p>
            <a:pPr indent="-374650" lvl="0" marL="457200" rtl="0" algn="l">
              <a:lnSpc>
                <a:spcPct val="150000"/>
              </a:lnSpc>
              <a:spcBef>
                <a:spcPts val="0"/>
              </a:spcBef>
              <a:spcAft>
                <a:spcPts val="0"/>
              </a:spcAft>
              <a:buSzPts val="2300"/>
              <a:buChar char="●"/>
            </a:pPr>
            <a:r>
              <a:rPr lang="en"/>
              <a:t>Authors: </a:t>
            </a:r>
            <a:r>
              <a:rPr b="0" lang="en"/>
              <a:t>Kevin Bock et al.</a:t>
            </a:r>
            <a:endParaRPr b="0"/>
          </a:p>
          <a:p>
            <a:pPr indent="-374650" lvl="0" marL="457200" rtl="0" algn="l">
              <a:lnSpc>
                <a:spcPct val="150000"/>
              </a:lnSpc>
              <a:spcBef>
                <a:spcPts val="0"/>
              </a:spcBef>
              <a:spcAft>
                <a:spcPts val="0"/>
              </a:spcAft>
              <a:buSzPts val="2300"/>
              <a:buChar char="●"/>
            </a:pPr>
            <a:r>
              <a:rPr lang="en"/>
              <a:t>Conference:</a:t>
            </a:r>
            <a:r>
              <a:rPr b="0" lang="en"/>
              <a:t> USENIX Security</a:t>
            </a:r>
            <a:endParaRPr b="0"/>
          </a:p>
          <a:p>
            <a:pPr indent="-374650" lvl="0" marL="457200" rtl="0" algn="l">
              <a:lnSpc>
                <a:spcPct val="150000"/>
              </a:lnSpc>
              <a:spcBef>
                <a:spcPts val="0"/>
              </a:spcBef>
              <a:spcAft>
                <a:spcPts val="0"/>
              </a:spcAft>
              <a:buSzPts val="2300"/>
              <a:buChar char="●"/>
            </a:pPr>
            <a:r>
              <a:rPr lang="en"/>
              <a:t>Year:</a:t>
            </a:r>
            <a:r>
              <a:rPr b="0" lang="en"/>
              <a:t> 2021</a:t>
            </a:r>
            <a:endParaRPr b="0"/>
          </a:p>
          <a:p>
            <a:pPr indent="0" lvl="0" marL="0" rtl="0" algn="l">
              <a:spcBef>
                <a:spcPts val="0"/>
              </a:spcBef>
              <a:spcAft>
                <a:spcPts val="0"/>
              </a:spcAft>
              <a:buNone/>
            </a:pPr>
            <a:r>
              <a:t/>
            </a:r>
            <a:endParaRPr b="0" sz="1300"/>
          </a:p>
          <a:p>
            <a:pPr indent="0" lvl="0" marL="0" rtl="0" algn="l">
              <a:spcBef>
                <a:spcPts val="0"/>
              </a:spcBef>
              <a:spcAft>
                <a:spcPts val="0"/>
              </a:spcAft>
              <a:buNone/>
            </a:pPr>
            <a:r>
              <a:rPr b="0" lang="en" sz="1500">
                <a:solidFill>
                  <a:srgbClr val="FFFF00"/>
                </a:solidFill>
                <a:latin typeface="Arial"/>
                <a:ea typeface="Arial"/>
                <a:cs typeface="Arial"/>
                <a:sym typeface="Arial"/>
              </a:rPr>
              <a:t>[Distinguished Paper Award Winner and Third Prize winner of the 2021 Internet Defense Prize]</a:t>
            </a:r>
            <a:endParaRPr b="0" sz="2600">
              <a:solidFill>
                <a:srgbClr val="FFFF00"/>
              </a:solidFill>
            </a:endParaRPr>
          </a:p>
        </p:txBody>
      </p:sp>
      <p:sp>
        <p:nvSpPr>
          <p:cNvPr id="111" name="Google Shape;111;p1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Source Paper</a:t>
            </a:r>
            <a:endParaRPr/>
          </a:p>
        </p:txBody>
      </p:sp>
      <p:pic>
        <p:nvPicPr>
          <p:cNvPr id="112" name="Google Shape;112;p15"/>
          <p:cNvPicPr preferRelativeResize="0"/>
          <p:nvPr/>
        </p:nvPicPr>
        <p:blipFill>
          <a:blip r:embed="rId4">
            <a:alphaModFix/>
          </a:blip>
          <a:stretch>
            <a:fillRect/>
          </a:stretch>
        </p:blipFill>
        <p:spPr>
          <a:xfrm>
            <a:off x="839025" y="69368"/>
            <a:ext cx="2442750" cy="673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AutoNum type="arabicPeriod"/>
            </a:pPr>
            <a:r>
              <a:rPr lang="en"/>
              <a:t>Download &amp; Install </a:t>
            </a:r>
            <a:r>
              <a:rPr lang="en">
                <a:solidFill>
                  <a:schemeClr val="accent1"/>
                </a:solidFill>
              </a:rPr>
              <a:t>Oracle VirtualBox</a:t>
            </a:r>
            <a:endParaRPr>
              <a:solidFill>
                <a:schemeClr val="accent1"/>
              </a:solidFill>
            </a:endParaRPr>
          </a:p>
          <a:p>
            <a:pPr indent="-374650" lvl="0" marL="457200" rtl="0" algn="l">
              <a:spcBef>
                <a:spcPts val="0"/>
              </a:spcBef>
              <a:spcAft>
                <a:spcPts val="0"/>
              </a:spcAft>
              <a:buSzPts val="2300"/>
              <a:buAutoNum type="arabicPeriod"/>
            </a:pPr>
            <a:r>
              <a:rPr lang="en"/>
              <a:t>Download </a:t>
            </a:r>
            <a:r>
              <a:rPr lang="en">
                <a:solidFill>
                  <a:schemeClr val="accent1"/>
                </a:solidFill>
              </a:rPr>
              <a:t>Virtual Machine Images</a:t>
            </a:r>
            <a:endParaRPr>
              <a:solidFill>
                <a:schemeClr val="accent1"/>
              </a:solidFill>
            </a:endParaRPr>
          </a:p>
          <a:p>
            <a:pPr indent="-374650" lvl="0" marL="457200" rtl="0" algn="l">
              <a:spcBef>
                <a:spcPts val="0"/>
              </a:spcBef>
              <a:spcAft>
                <a:spcPts val="0"/>
              </a:spcAft>
              <a:buSzPts val="2300"/>
              <a:buAutoNum type="arabicPeriod"/>
            </a:pPr>
            <a:r>
              <a:rPr lang="en"/>
              <a:t>Open the </a:t>
            </a:r>
            <a:r>
              <a:rPr lang="en">
                <a:solidFill>
                  <a:schemeClr val="accent1"/>
                </a:solidFill>
              </a:rPr>
              <a:t>Instruction Document</a:t>
            </a:r>
            <a:endParaRPr b="0" sz="200"/>
          </a:p>
        </p:txBody>
      </p:sp>
      <p:sp>
        <p:nvSpPr>
          <p:cNvPr id="118" name="Google Shape;118;p1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Preparation</a:t>
            </a:r>
            <a:endParaRPr/>
          </a:p>
        </p:txBody>
      </p:sp>
      <p:pic>
        <p:nvPicPr>
          <p:cNvPr id="119" name="Google Shape;119;p16"/>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sz="2800"/>
              <a:t>Introduce recent advances in attacks</a:t>
            </a:r>
            <a:endParaRPr sz="2800"/>
          </a:p>
          <a:p>
            <a:pPr indent="-406400" lvl="0" marL="457200" rtl="0" algn="l">
              <a:spcBef>
                <a:spcPts val="0"/>
              </a:spcBef>
              <a:spcAft>
                <a:spcPts val="0"/>
              </a:spcAft>
              <a:buSzPts val="2800"/>
              <a:buChar char="-"/>
            </a:pPr>
            <a:r>
              <a:rPr lang="en" sz="2800"/>
              <a:t>Activities</a:t>
            </a:r>
            <a:endParaRPr sz="2800"/>
          </a:p>
          <a:p>
            <a:pPr indent="-381000" lvl="1" marL="914400" rtl="0" algn="l">
              <a:spcBef>
                <a:spcPts val="0"/>
              </a:spcBef>
              <a:spcAft>
                <a:spcPts val="0"/>
              </a:spcAft>
              <a:buClr>
                <a:schemeClr val="accent1"/>
              </a:buClr>
              <a:buSzPts val="2400"/>
              <a:buChar char="-"/>
            </a:pPr>
            <a:r>
              <a:rPr lang="en" sz="2400">
                <a:solidFill>
                  <a:schemeClr val="accent1"/>
                </a:solidFill>
              </a:rPr>
              <a:t>Network Security (NS) - Reflection-Based Attacks</a:t>
            </a:r>
            <a:endParaRPr sz="2400">
              <a:solidFill>
                <a:schemeClr val="accent1"/>
              </a:solidFill>
            </a:endParaRPr>
          </a:p>
          <a:p>
            <a:pPr indent="-381000" lvl="1" marL="914400" rtl="0" algn="l">
              <a:spcBef>
                <a:spcPts val="0"/>
              </a:spcBef>
              <a:spcAft>
                <a:spcPts val="0"/>
              </a:spcAft>
              <a:buClr>
                <a:schemeClr val="accent1"/>
              </a:buClr>
              <a:buSzPts val="2400"/>
              <a:buChar char="-"/>
            </a:pPr>
            <a:r>
              <a:rPr lang="en" sz="2400">
                <a:solidFill>
                  <a:schemeClr val="accent1"/>
                </a:solidFill>
              </a:rPr>
              <a:t>Mobile Security (MS) - Mobile Security Exploits</a:t>
            </a:r>
            <a:endParaRPr sz="2400">
              <a:solidFill>
                <a:schemeClr val="accent1"/>
              </a:solidFill>
            </a:endParaRPr>
          </a:p>
          <a:p>
            <a:pPr indent="-381000" lvl="1" marL="914400" rtl="0" algn="l">
              <a:spcBef>
                <a:spcPts val="0"/>
              </a:spcBef>
              <a:spcAft>
                <a:spcPts val="0"/>
              </a:spcAft>
              <a:buClr>
                <a:schemeClr val="accent1"/>
              </a:buClr>
              <a:buSzPts val="2400"/>
              <a:buChar char="-"/>
            </a:pPr>
            <a:r>
              <a:rPr lang="en" sz="2400">
                <a:solidFill>
                  <a:schemeClr val="accent1"/>
                </a:solidFill>
              </a:rPr>
              <a:t>Web Security (WS) - XSS and Service Workers</a:t>
            </a:r>
            <a:endParaRPr sz="2400">
              <a:solidFill>
                <a:schemeClr val="accent1"/>
              </a:solidFill>
            </a:endParaRPr>
          </a:p>
          <a:p>
            <a:pPr indent="-406400" lvl="0" marL="457200" rtl="0" algn="l">
              <a:spcBef>
                <a:spcPts val="0"/>
              </a:spcBef>
              <a:spcAft>
                <a:spcPts val="0"/>
              </a:spcAft>
              <a:buSzPts val="2800"/>
              <a:buChar char="-"/>
            </a:pPr>
            <a:r>
              <a:rPr lang="en" sz="2800"/>
              <a:t>Game Theory</a:t>
            </a:r>
            <a:endParaRPr sz="2800"/>
          </a:p>
        </p:txBody>
      </p:sp>
      <p:sp>
        <p:nvSpPr>
          <p:cNvPr id="125" name="Google Shape;125;p1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a:t>
            </a:r>
            <a:endParaRPr/>
          </a:p>
        </p:txBody>
      </p:sp>
      <p:pic>
        <p:nvPicPr>
          <p:cNvPr id="126" name="Google Shape;126;p17"/>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sz="2800"/>
              <a:t>For each of the cyber threats we examine in our activities, students should be able to:</a:t>
            </a:r>
            <a:endParaRPr sz="2800"/>
          </a:p>
          <a:p>
            <a:pPr indent="-393700" lvl="1" marL="914400" rtl="0" algn="l">
              <a:spcBef>
                <a:spcPts val="0"/>
              </a:spcBef>
              <a:spcAft>
                <a:spcPts val="0"/>
              </a:spcAft>
              <a:buClr>
                <a:schemeClr val="accent1"/>
              </a:buClr>
              <a:buSzPts val="2600"/>
              <a:buChar char="-"/>
            </a:pPr>
            <a:r>
              <a:rPr lang="en" sz="2600">
                <a:solidFill>
                  <a:schemeClr val="accent1"/>
                </a:solidFill>
              </a:rPr>
              <a:t>Analyze them</a:t>
            </a:r>
            <a:endParaRPr sz="2600">
              <a:solidFill>
                <a:schemeClr val="accent1"/>
              </a:solidFill>
            </a:endParaRPr>
          </a:p>
          <a:p>
            <a:pPr indent="-393700" lvl="1" marL="914400" rtl="0" algn="l">
              <a:spcBef>
                <a:spcPts val="0"/>
              </a:spcBef>
              <a:spcAft>
                <a:spcPts val="0"/>
              </a:spcAft>
              <a:buClr>
                <a:schemeClr val="accent1"/>
              </a:buClr>
              <a:buSzPts val="2600"/>
              <a:buChar char="-"/>
            </a:pPr>
            <a:r>
              <a:rPr lang="en" sz="2600">
                <a:solidFill>
                  <a:schemeClr val="accent1"/>
                </a:solidFill>
              </a:rPr>
              <a:t>Implement them</a:t>
            </a:r>
            <a:endParaRPr sz="2600">
              <a:solidFill>
                <a:schemeClr val="accent1"/>
              </a:solidFill>
            </a:endParaRPr>
          </a:p>
          <a:p>
            <a:pPr indent="-393700" lvl="1" marL="914400" rtl="0" algn="l">
              <a:spcBef>
                <a:spcPts val="0"/>
              </a:spcBef>
              <a:spcAft>
                <a:spcPts val="0"/>
              </a:spcAft>
              <a:buClr>
                <a:schemeClr val="accent1"/>
              </a:buClr>
              <a:buSzPts val="2600"/>
              <a:buChar char="-"/>
            </a:pPr>
            <a:r>
              <a:rPr lang="en" sz="2600">
                <a:solidFill>
                  <a:schemeClr val="accent1"/>
                </a:solidFill>
              </a:rPr>
              <a:t>Think about how to defend against them</a:t>
            </a:r>
            <a:endParaRPr sz="2600">
              <a:solidFill>
                <a:schemeClr val="accent1"/>
              </a:solidFill>
            </a:endParaRPr>
          </a:p>
          <a:p>
            <a:pPr indent="-374650" lvl="0" marL="457200" rtl="0" algn="l">
              <a:spcBef>
                <a:spcPts val="0"/>
              </a:spcBef>
              <a:spcAft>
                <a:spcPts val="0"/>
              </a:spcAft>
              <a:buSzPts val="2300"/>
              <a:buChar char="-"/>
            </a:pPr>
            <a:r>
              <a:rPr lang="en"/>
              <a:t>Gain practical insights</a:t>
            </a:r>
            <a:endParaRPr/>
          </a:p>
        </p:txBody>
      </p:sp>
      <p:sp>
        <p:nvSpPr>
          <p:cNvPr id="132" name="Google Shape;132;p1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Goals</a:t>
            </a:r>
            <a:endParaRPr/>
          </a:p>
        </p:txBody>
      </p:sp>
      <p:pic>
        <p:nvPicPr>
          <p:cNvPr id="133" name="Google Shape;133;p18"/>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en" sz="2700"/>
              <a:t>Previously only possible in UDP</a:t>
            </a:r>
            <a:endParaRPr sz="2700"/>
          </a:p>
          <a:p>
            <a:pPr indent="-400050" lvl="0" marL="457200" rtl="0" algn="l">
              <a:spcBef>
                <a:spcPts val="0"/>
              </a:spcBef>
              <a:spcAft>
                <a:spcPts val="0"/>
              </a:spcAft>
              <a:buSzPts val="2700"/>
              <a:buChar char="●"/>
            </a:pPr>
            <a:r>
              <a:rPr lang="en" sz="2700"/>
              <a:t>Now possible through TCP</a:t>
            </a:r>
            <a:endParaRPr sz="2700"/>
          </a:p>
          <a:p>
            <a:pPr indent="-374650" lvl="1" marL="1371600" rtl="0" algn="l">
              <a:spcBef>
                <a:spcPts val="0"/>
              </a:spcBef>
              <a:spcAft>
                <a:spcPts val="0"/>
              </a:spcAft>
              <a:buClr>
                <a:schemeClr val="accent1"/>
              </a:buClr>
              <a:buSzPts val="2300"/>
              <a:buChar char="○"/>
            </a:pPr>
            <a:r>
              <a:rPr lang="en" sz="2300">
                <a:solidFill>
                  <a:schemeClr val="accent1"/>
                </a:solidFill>
              </a:rPr>
              <a:t>Implementation dependent</a:t>
            </a:r>
            <a:endParaRPr sz="2300">
              <a:solidFill>
                <a:schemeClr val="accent1"/>
              </a:solidFill>
            </a:endParaRPr>
          </a:p>
          <a:p>
            <a:pPr indent="-374650" lvl="1" marL="1371600" rtl="0" algn="l">
              <a:spcBef>
                <a:spcPts val="0"/>
              </a:spcBef>
              <a:spcAft>
                <a:spcPts val="0"/>
              </a:spcAft>
              <a:buClr>
                <a:schemeClr val="accent1"/>
              </a:buClr>
              <a:buSzPts val="2300"/>
              <a:buChar char="○"/>
            </a:pPr>
            <a:r>
              <a:rPr lang="en" sz="2300">
                <a:solidFill>
                  <a:schemeClr val="accent1"/>
                </a:solidFill>
              </a:rPr>
              <a:t>Middleboxes!</a:t>
            </a:r>
            <a:endParaRPr sz="2300">
              <a:solidFill>
                <a:schemeClr val="accent1"/>
              </a:solidFill>
            </a:endParaRPr>
          </a:p>
          <a:p>
            <a:pPr indent="-349250" lvl="2" marL="1828800" rtl="0" algn="l">
              <a:spcBef>
                <a:spcPts val="0"/>
              </a:spcBef>
              <a:spcAft>
                <a:spcPts val="0"/>
              </a:spcAft>
              <a:buClr>
                <a:schemeClr val="accent1"/>
              </a:buClr>
              <a:buSzPts val="1900"/>
              <a:buChar char="■"/>
            </a:pPr>
            <a:r>
              <a:rPr lang="en" sz="1900">
                <a:solidFill>
                  <a:schemeClr val="accent1"/>
                </a:solidFill>
              </a:rPr>
              <a:t>Firewalls, routers, “things in between”</a:t>
            </a:r>
            <a:endParaRPr sz="1900">
              <a:solidFill>
                <a:schemeClr val="accent1"/>
              </a:solidFill>
            </a:endParaRPr>
          </a:p>
          <a:p>
            <a:pPr indent="-400050" lvl="0" marL="457200" rtl="0" algn="l">
              <a:spcBef>
                <a:spcPts val="0"/>
              </a:spcBef>
              <a:spcAft>
                <a:spcPts val="0"/>
              </a:spcAft>
              <a:buSzPts val="2700"/>
              <a:buChar char="●"/>
            </a:pPr>
            <a:r>
              <a:rPr lang="en" sz="2700"/>
              <a:t>“Weaponizing middleboxes for TCP reflected amplification” in the 30th USENIX Security Symposium pages 3345-3361</a:t>
            </a:r>
            <a:endParaRPr sz="2700"/>
          </a:p>
        </p:txBody>
      </p:sp>
      <p:sp>
        <p:nvSpPr>
          <p:cNvPr id="139" name="Google Shape;139;p1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Overview</a:t>
            </a:r>
            <a:endParaRPr/>
          </a:p>
        </p:txBody>
      </p:sp>
      <p:pic>
        <p:nvPicPr>
          <p:cNvPr id="140" name="Google Shape;140;p19"/>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Overview</a:t>
            </a:r>
            <a:endParaRPr/>
          </a:p>
        </p:txBody>
      </p:sp>
      <p:pic>
        <p:nvPicPr>
          <p:cNvPr id="146" name="Google Shape;146;p20"/>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147" name="Google Shape;147;p20"/>
          <p:cNvPicPr preferRelativeResize="0"/>
          <p:nvPr/>
        </p:nvPicPr>
        <p:blipFill>
          <a:blip r:embed="rId4">
            <a:alphaModFix/>
          </a:blip>
          <a:stretch>
            <a:fillRect/>
          </a:stretch>
        </p:blipFill>
        <p:spPr>
          <a:xfrm>
            <a:off x="199275" y="1573975"/>
            <a:ext cx="8334375" cy="3343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Overview</a:t>
            </a:r>
            <a:endParaRPr/>
          </a:p>
        </p:txBody>
      </p:sp>
      <p:pic>
        <p:nvPicPr>
          <p:cNvPr id="153" name="Google Shape;153;p2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54" name="Google Shape;154;p21"/>
          <p:cNvSpPr txBox="1"/>
          <p:nvPr/>
        </p:nvSpPr>
        <p:spPr>
          <a:xfrm>
            <a:off x="361650" y="1486800"/>
            <a:ext cx="8163900" cy="34290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AutoNum type="arabicPeriod"/>
            </a:pPr>
            <a:r>
              <a:rPr lang="en" sz="3000">
                <a:solidFill>
                  <a:schemeClr val="lt1"/>
                </a:solidFill>
                <a:latin typeface="Montserrat Medium"/>
                <a:ea typeface="Montserrat Medium"/>
                <a:cs typeface="Montserrat Medium"/>
                <a:sym typeface="Montserrat Medium"/>
              </a:rPr>
              <a:t>Destination</a:t>
            </a:r>
            <a:r>
              <a:rPr lang="en" sz="3000">
                <a:solidFill>
                  <a:schemeClr val="lt1"/>
                </a:solidFill>
                <a:latin typeface="Montserrat Medium"/>
                <a:ea typeface="Montserrat Medium"/>
                <a:cs typeface="Montserrat Medium"/>
                <a:sym typeface="Montserrat Medium"/>
              </a:rPr>
              <a:t> Reflection</a:t>
            </a:r>
            <a:endParaRPr sz="26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AutoNum type="arabicPeriod"/>
            </a:pPr>
            <a:r>
              <a:rPr lang="en" sz="3000">
                <a:solidFill>
                  <a:schemeClr val="lt1"/>
                </a:solidFill>
                <a:latin typeface="Montserrat Medium"/>
                <a:ea typeface="Montserrat Medium"/>
                <a:cs typeface="Montserrat Medium"/>
                <a:sym typeface="Montserrat Medium"/>
              </a:rPr>
              <a:t>Middlebox Reflection</a:t>
            </a:r>
            <a:endParaRPr sz="26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AutoNum type="arabicPeriod"/>
            </a:pPr>
            <a:r>
              <a:rPr lang="en" sz="3000">
                <a:solidFill>
                  <a:schemeClr val="lt1"/>
                </a:solidFill>
                <a:latin typeface="Montserrat Medium"/>
                <a:ea typeface="Montserrat Medium"/>
                <a:cs typeface="Montserrat Medium"/>
                <a:sym typeface="Montserrat Medium"/>
              </a:rPr>
              <a:t>Destination &amp; Middlebox Reflection</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AutoNum type="arabicPeriod"/>
            </a:pPr>
            <a:r>
              <a:rPr lang="en" sz="3000">
                <a:solidFill>
                  <a:schemeClr val="lt1"/>
                </a:solidFill>
                <a:latin typeface="Montserrat Medium"/>
                <a:ea typeface="Montserrat Medium"/>
                <a:cs typeface="Montserrat Medium"/>
                <a:sym typeface="Montserrat Medium"/>
              </a:rPr>
              <a:t>Routing Loop Reflection</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AutoNum type="arabicPeriod"/>
            </a:pPr>
            <a:r>
              <a:rPr lang="en" sz="3000">
                <a:solidFill>
                  <a:schemeClr val="lt1"/>
                </a:solidFill>
                <a:latin typeface="Montserrat Medium"/>
                <a:ea typeface="Montserrat Medium"/>
                <a:cs typeface="Montserrat Medium"/>
                <a:sym typeface="Montserrat Medium"/>
              </a:rPr>
              <a:t>Victim-Sustained Reflection</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Overview</a:t>
            </a:r>
            <a:endParaRPr/>
          </a:p>
        </p:txBody>
      </p:sp>
      <p:pic>
        <p:nvPicPr>
          <p:cNvPr id="160" name="Google Shape;160;p22"/>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161" name="Google Shape;161;p22"/>
          <p:cNvPicPr preferRelativeResize="0"/>
          <p:nvPr/>
        </p:nvPicPr>
        <p:blipFill>
          <a:blip r:embed="rId4">
            <a:alphaModFix/>
          </a:blip>
          <a:stretch>
            <a:fillRect/>
          </a:stretch>
        </p:blipFill>
        <p:spPr>
          <a:xfrm>
            <a:off x="152400" y="1667425"/>
            <a:ext cx="8476076" cy="3323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Overview</a:t>
            </a:r>
            <a:endParaRPr/>
          </a:p>
        </p:txBody>
      </p:sp>
      <p:pic>
        <p:nvPicPr>
          <p:cNvPr id="167" name="Google Shape;167;p23"/>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descr="Weaponizing Middleboxes for TCP Reflected Amplification&#10;&#10;Kevin Bock, University of Maryland; Abdulrahman Alaraj, University of Colorado Boulder; Yair Fax and Kyle Hurley, University of Maryland; Eric Wustrow, University of Colorado Boulder; Dave Levin, University of Maryland&#10;&#10;Reflective amplification attacks are a powerful tool in the arsenal of a DDoS attacker, but to date have almost exclusively targeted UDP-based protocols. In this paper, we demonstrate that non-trivial TCP-based amplification is possible and can be orders of magnitude more effective than well-known UDP-based amplification. By taking advantage of TCP-noncompliance in network middleboxes, we show that attackers can induce middleboxes to respond and amplify network traffic. With the novel application of a recent genetic algorithm, we discover and maximize the efficacy of new TCP-based reflective amplification attacks, and present several packet sequences that cause network middleboxes to respond with substantially more packets than we send.&#10;&#10;We scanned the entire IPv4 Internet to measure how many IP addresses permit reflected amplification. We find hundreds of thousands of IP addresses that offer amplification factors greater than 100×. Through our Internet-wide measurements, we explore several open questions regarding DoS attacks, including the root cause of so-called &quot;mega amplifiers&quot;. We also report on network phenomena that causes some of the TCP-based attacks to be so effective as to technically have infinite amplification factor (after the attacker sends a constant number of bytes, the reflector generates traffic indefinitely). We have made our code publicly available.&#10;&#10;View the full USENIX Security '21 Program at https://www.usenix.org/conference/usenixsecurity21/technical-sessions" id="168" name="Google Shape;168;p23" title="USENIX Security '21 - Weaponizing Middleboxes for TCP Reflected Amplification">
            <a:hlinkClick r:id="rId4"/>
          </p:cNvPr>
          <p:cNvPicPr preferRelativeResize="0"/>
          <p:nvPr/>
        </p:nvPicPr>
        <p:blipFill>
          <a:blip r:embed="rId5">
            <a:alphaModFix/>
          </a:blip>
          <a:stretch>
            <a:fillRect/>
          </a:stretch>
        </p:blipFill>
        <p:spPr>
          <a:xfrm>
            <a:off x="1341900" y="1556700"/>
            <a:ext cx="5961550" cy="3353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174" name="Google Shape;174;p24"/>
          <p:cNvSpPr txBox="1"/>
          <p:nvPr>
            <p:ph type="ctrTitle"/>
          </p:nvPr>
        </p:nvSpPr>
        <p:spPr>
          <a:xfrm>
            <a:off x="311708" y="209722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Match the diagrams to their corresponding type of amplification.</a:t>
            </a:r>
            <a:endParaRPr/>
          </a:p>
        </p:txBody>
      </p:sp>
      <p:pic>
        <p:nvPicPr>
          <p:cNvPr id="175" name="Google Shape;175;p24"/>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5"/>
          <p:cNvPicPr preferRelativeResize="0"/>
          <p:nvPr/>
        </p:nvPicPr>
        <p:blipFill>
          <a:blip r:embed="rId3">
            <a:alphaModFix/>
          </a:blip>
          <a:stretch>
            <a:fillRect/>
          </a:stretch>
        </p:blipFill>
        <p:spPr>
          <a:xfrm>
            <a:off x="759425" y="2049138"/>
            <a:ext cx="2009775" cy="2028825"/>
          </a:xfrm>
          <a:prstGeom prst="rect">
            <a:avLst/>
          </a:prstGeom>
          <a:noFill/>
          <a:ln>
            <a:noFill/>
          </a:ln>
        </p:spPr>
      </p:pic>
      <p:sp>
        <p:nvSpPr>
          <p:cNvPr id="181" name="Google Shape;181;p25"/>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182" name="Google Shape;182;p25"/>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183" name="Google Shape;183;p2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184" name="Google Shape;184;p25"/>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6"/>
          <p:cNvPicPr preferRelativeResize="0"/>
          <p:nvPr/>
        </p:nvPicPr>
        <p:blipFill>
          <a:blip r:embed="rId3">
            <a:alphaModFix/>
          </a:blip>
          <a:stretch>
            <a:fillRect/>
          </a:stretch>
        </p:blipFill>
        <p:spPr>
          <a:xfrm>
            <a:off x="759425" y="2049138"/>
            <a:ext cx="2009775" cy="2028825"/>
          </a:xfrm>
          <a:prstGeom prst="rect">
            <a:avLst/>
          </a:prstGeom>
          <a:noFill/>
          <a:ln>
            <a:noFill/>
          </a:ln>
        </p:spPr>
      </p:pic>
      <p:sp>
        <p:nvSpPr>
          <p:cNvPr id="190" name="Google Shape;190;p26"/>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accent1"/>
              </a:buClr>
              <a:buSzPts val="2300"/>
              <a:buFont typeface="Montserrat Medium"/>
              <a:buAutoNum type="alphaUcParenR"/>
            </a:pPr>
            <a:r>
              <a:rPr lang="en" sz="2300">
                <a:solidFill>
                  <a:schemeClr val="accent1"/>
                </a:solidFill>
                <a:latin typeface="Montserrat Medium"/>
                <a:ea typeface="Montserrat Medium"/>
                <a:cs typeface="Montserrat Medium"/>
                <a:sym typeface="Montserrat Medium"/>
              </a:rPr>
              <a:t>Victim-Sustained Reflection</a:t>
            </a:r>
            <a:endParaRPr sz="2300">
              <a:solidFill>
                <a:schemeClr val="accent1"/>
              </a:solidFill>
              <a:latin typeface="Montserrat Medium"/>
              <a:ea typeface="Montserrat Medium"/>
              <a:cs typeface="Montserrat Medium"/>
              <a:sym typeface="Montserrat Medium"/>
            </a:endParaRPr>
          </a:p>
        </p:txBody>
      </p:sp>
      <p:pic>
        <p:nvPicPr>
          <p:cNvPr id="191" name="Google Shape;191;p26"/>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192" name="Google Shape;192;p2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193" name="Google Shape;193;p26"/>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199" name="Google Shape;199;p27"/>
          <p:cNvPicPr preferRelativeResize="0"/>
          <p:nvPr/>
        </p:nvPicPr>
        <p:blipFill>
          <a:blip r:embed="rId3">
            <a:alphaModFix/>
          </a:blip>
          <a:stretch>
            <a:fillRect/>
          </a:stretch>
        </p:blipFill>
        <p:spPr>
          <a:xfrm>
            <a:off x="922600" y="2191413"/>
            <a:ext cx="1412488" cy="1744337"/>
          </a:xfrm>
          <a:prstGeom prst="rect">
            <a:avLst/>
          </a:prstGeom>
          <a:noFill/>
          <a:ln>
            <a:noFill/>
          </a:ln>
        </p:spPr>
      </p:pic>
      <p:pic>
        <p:nvPicPr>
          <p:cNvPr id="200" name="Google Shape;200;p27"/>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01" name="Google Shape;201;p2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02" name="Google Shape;202;p27"/>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accent1"/>
              </a:buClr>
              <a:buSzPts val="2300"/>
              <a:buFont typeface="Montserrat Medium"/>
              <a:buAutoNum type="alphaUcParenR"/>
            </a:pPr>
            <a:r>
              <a:rPr lang="en" sz="2300">
                <a:solidFill>
                  <a:schemeClr val="accent1"/>
                </a:solidFill>
                <a:latin typeface="Montserrat Medium"/>
                <a:ea typeface="Montserrat Medium"/>
                <a:cs typeface="Montserrat Medium"/>
                <a:sym typeface="Montserrat Medium"/>
              </a:rPr>
              <a:t>Destination &amp; Middlebox Reflection</a:t>
            </a:r>
            <a:endParaRPr sz="2300">
              <a:solidFill>
                <a:schemeClr val="accen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08" name="Google Shape;208;p28"/>
          <p:cNvPicPr preferRelativeResize="0"/>
          <p:nvPr/>
        </p:nvPicPr>
        <p:blipFill>
          <a:blip r:embed="rId3">
            <a:alphaModFix/>
          </a:blip>
          <a:stretch>
            <a:fillRect/>
          </a:stretch>
        </p:blipFill>
        <p:spPr>
          <a:xfrm>
            <a:off x="922600" y="2191413"/>
            <a:ext cx="1412488" cy="1744337"/>
          </a:xfrm>
          <a:prstGeom prst="rect">
            <a:avLst/>
          </a:prstGeom>
          <a:noFill/>
          <a:ln>
            <a:noFill/>
          </a:ln>
        </p:spPr>
      </p:pic>
      <p:pic>
        <p:nvPicPr>
          <p:cNvPr id="209" name="Google Shape;209;p28"/>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10" name="Google Shape;210;p2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11" name="Google Shape;211;p28"/>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17" name="Google Shape;217;p29"/>
          <p:cNvPicPr preferRelativeResize="0"/>
          <p:nvPr/>
        </p:nvPicPr>
        <p:blipFill>
          <a:blip r:embed="rId3">
            <a:alphaModFix/>
          </a:blip>
          <a:stretch>
            <a:fillRect/>
          </a:stretch>
        </p:blipFill>
        <p:spPr>
          <a:xfrm>
            <a:off x="811650" y="1925338"/>
            <a:ext cx="1819275" cy="2276475"/>
          </a:xfrm>
          <a:prstGeom prst="rect">
            <a:avLst/>
          </a:prstGeom>
          <a:noFill/>
          <a:ln>
            <a:noFill/>
          </a:ln>
        </p:spPr>
      </p:pic>
      <p:pic>
        <p:nvPicPr>
          <p:cNvPr id="218" name="Google Shape;218;p29"/>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19" name="Google Shape;219;p2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20" name="Google Shape;220;p29"/>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accent1"/>
              </a:buClr>
              <a:buSzPts val="2300"/>
              <a:buFont typeface="Montserrat Medium"/>
              <a:buAutoNum type="alphaUcParenR"/>
            </a:pPr>
            <a:r>
              <a:rPr lang="en" sz="2300">
                <a:solidFill>
                  <a:schemeClr val="accent1"/>
                </a:solidFill>
                <a:latin typeface="Montserrat Medium"/>
                <a:ea typeface="Montserrat Medium"/>
                <a:cs typeface="Montserrat Medium"/>
                <a:sym typeface="Montserrat Medium"/>
              </a:rPr>
              <a:t>Middlebox Reflection</a:t>
            </a:r>
            <a:endParaRPr sz="2300">
              <a:solidFill>
                <a:schemeClr val="accen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26" name="Google Shape;226;p30"/>
          <p:cNvPicPr preferRelativeResize="0"/>
          <p:nvPr/>
        </p:nvPicPr>
        <p:blipFill>
          <a:blip r:embed="rId3">
            <a:alphaModFix/>
          </a:blip>
          <a:stretch>
            <a:fillRect/>
          </a:stretch>
        </p:blipFill>
        <p:spPr>
          <a:xfrm>
            <a:off x="811650" y="1925338"/>
            <a:ext cx="1819275" cy="2276475"/>
          </a:xfrm>
          <a:prstGeom prst="rect">
            <a:avLst/>
          </a:prstGeom>
          <a:noFill/>
          <a:ln>
            <a:noFill/>
          </a:ln>
        </p:spPr>
      </p:pic>
      <p:pic>
        <p:nvPicPr>
          <p:cNvPr id="227" name="Google Shape;227;p30"/>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28" name="Google Shape;228;p3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29" name="Google Shape;229;p30"/>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35" name="Google Shape;235;p31"/>
          <p:cNvPicPr preferRelativeResize="0"/>
          <p:nvPr/>
        </p:nvPicPr>
        <p:blipFill>
          <a:blip r:embed="rId3">
            <a:alphaModFix/>
          </a:blip>
          <a:stretch>
            <a:fillRect/>
          </a:stretch>
        </p:blipFill>
        <p:spPr>
          <a:xfrm>
            <a:off x="844300" y="2044400"/>
            <a:ext cx="1714500" cy="2038350"/>
          </a:xfrm>
          <a:prstGeom prst="rect">
            <a:avLst/>
          </a:prstGeom>
          <a:noFill/>
          <a:ln>
            <a:noFill/>
          </a:ln>
        </p:spPr>
      </p:pic>
      <p:pic>
        <p:nvPicPr>
          <p:cNvPr id="236" name="Google Shape;236;p31"/>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37" name="Google Shape;237;p3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38" name="Google Shape;238;p31"/>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accent1"/>
              </a:buClr>
              <a:buSzPts val="2300"/>
              <a:buFont typeface="Montserrat Medium"/>
              <a:buAutoNum type="alphaUcParenR"/>
            </a:pPr>
            <a:r>
              <a:rPr lang="en" sz="2300">
                <a:solidFill>
                  <a:schemeClr val="accent1"/>
                </a:solidFill>
                <a:latin typeface="Montserrat Medium"/>
                <a:ea typeface="Montserrat Medium"/>
                <a:cs typeface="Montserrat Medium"/>
                <a:sym typeface="Montserrat Medium"/>
              </a:rPr>
              <a:t>Destination Reflection</a:t>
            </a:r>
            <a:endParaRPr sz="2300">
              <a:solidFill>
                <a:schemeClr val="accen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44" name="Google Shape;244;p32"/>
          <p:cNvPicPr preferRelativeResize="0"/>
          <p:nvPr/>
        </p:nvPicPr>
        <p:blipFill>
          <a:blip r:embed="rId3">
            <a:alphaModFix/>
          </a:blip>
          <a:stretch>
            <a:fillRect/>
          </a:stretch>
        </p:blipFill>
        <p:spPr>
          <a:xfrm>
            <a:off x="844300" y="2044400"/>
            <a:ext cx="1714500" cy="2038350"/>
          </a:xfrm>
          <a:prstGeom prst="rect">
            <a:avLst/>
          </a:prstGeom>
          <a:noFill/>
          <a:ln>
            <a:noFill/>
          </a:ln>
        </p:spPr>
      </p:pic>
      <p:pic>
        <p:nvPicPr>
          <p:cNvPr id="245" name="Google Shape;245;p32"/>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46" name="Google Shape;246;p3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47" name="Google Shape;247;p32"/>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Routing Loop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53" name="Google Shape;253;p33"/>
          <p:cNvPicPr preferRelativeResize="0"/>
          <p:nvPr/>
        </p:nvPicPr>
        <p:blipFill>
          <a:blip r:embed="rId3">
            <a:alphaModFix/>
          </a:blip>
          <a:stretch>
            <a:fillRect/>
          </a:stretch>
        </p:blipFill>
        <p:spPr>
          <a:xfrm>
            <a:off x="707225" y="2120600"/>
            <a:ext cx="1790700" cy="1885950"/>
          </a:xfrm>
          <a:prstGeom prst="rect">
            <a:avLst/>
          </a:prstGeom>
          <a:noFill/>
          <a:ln>
            <a:noFill/>
          </a:ln>
        </p:spPr>
      </p:pic>
      <p:pic>
        <p:nvPicPr>
          <p:cNvPr id="254" name="Google Shape;254;p33"/>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55" name="Google Shape;255;p3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56" name="Google Shape;256;p33"/>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nvSpPr>
        <p:spPr>
          <a:xfrm>
            <a:off x="4343950" y="1584263"/>
            <a:ext cx="4190400" cy="29586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Destination &amp; Middlebox Reflection</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accent1"/>
              </a:buClr>
              <a:buSzPts val="2300"/>
              <a:buFont typeface="Montserrat Medium"/>
              <a:buAutoNum type="alphaUcParenR"/>
            </a:pPr>
            <a:r>
              <a:rPr lang="en" sz="2300">
                <a:solidFill>
                  <a:schemeClr val="accent1"/>
                </a:solidFill>
                <a:latin typeface="Montserrat Medium"/>
                <a:ea typeface="Montserrat Medium"/>
                <a:cs typeface="Montserrat Medium"/>
                <a:sym typeface="Montserrat Medium"/>
              </a:rPr>
              <a:t>Routing Loop Reflection</a:t>
            </a:r>
            <a:endParaRPr sz="2300">
              <a:solidFill>
                <a:schemeClr val="accen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lphaUcParenR"/>
            </a:pPr>
            <a:r>
              <a:rPr lang="en" sz="2300">
                <a:solidFill>
                  <a:schemeClr val="lt1"/>
                </a:solidFill>
                <a:latin typeface="Montserrat Medium"/>
                <a:ea typeface="Montserrat Medium"/>
                <a:cs typeface="Montserrat Medium"/>
                <a:sym typeface="Montserrat Medium"/>
              </a:rPr>
              <a:t>Victim-Sustained Reflection</a:t>
            </a:r>
            <a:endParaRPr sz="2300">
              <a:solidFill>
                <a:schemeClr val="lt1"/>
              </a:solidFill>
              <a:latin typeface="Montserrat Medium"/>
              <a:ea typeface="Montserrat Medium"/>
              <a:cs typeface="Montserrat Medium"/>
              <a:sym typeface="Montserrat Medium"/>
            </a:endParaRPr>
          </a:p>
        </p:txBody>
      </p:sp>
      <p:pic>
        <p:nvPicPr>
          <p:cNvPr id="262" name="Google Shape;262;p34"/>
          <p:cNvPicPr preferRelativeResize="0"/>
          <p:nvPr/>
        </p:nvPicPr>
        <p:blipFill>
          <a:blip r:embed="rId3">
            <a:alphaModFix/>
          </a:blip>
          <a:stretch>
            <a:fillRect/>
          </a:stretch>
        </p:blipFill>
        <p:spPr>
          <a:xfrm>
            <a:off x="707225" y="2120600"/>
            <a:ext cx="1790700" cy="1885950"/>
          </a:xfrm>
          <a:prstGeom prst="rect">
            <a:avLst/>
          </a:prstGeom>
          <a:noFill/>
          <a:ln>
            <a:noFill/>
          </a:ln>
        </p:spPr>
      </p:pic>
      <p:pic>
        <p:nvPicPr>
          <p:cNvPr id="263" name="Google Shape;263;p34"/>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64" name="Google Shape;264;p3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1.1.1</a:t>
            </a:r>
            <a:endParaRPr/>
          </a:p>
        </p:txBody>
      </p:sp>
      <p:sp>
        <p:nvSpPr>
          <p:cNvPr id="265" name="Google Shape;265;p34"/>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Match the diagrams below to its corresponding type of amplification.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71" name="Google Shape;271;p3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2</a:t>
            </a:r>
            <a:endParaRPr/>
          </a:p>
        </p:txBody>
      </p:sp>
      <p:sp>
        <p:nvSpPr>
          <p:cNvPr id="272" name="Google Shape;272;p35"/>
          <p:cNvSpPr txBox="1"/>
          <p:nvPr/>
        </p:nvSpPr>
        <p:spPr>
          <a:xfrm>
            <a:off x="423575" y="1553125"/>
            <a:ext cx="7893300" cy="3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Montserrat Medium"/>
                <a:ea typeface="Montserrat Medium"/>
                <a:cs typeface="Montserrat Medium"/>
                <a:sym typeface="Montserrat Medium"/>
              </a:rPr>
              <a:t>Classifying IP addresses depending on what type of reflection was produced.</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78" name="Google Shape;278;p3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2</a:t>
            </a:r>
            <a:endParaRPr/>
          </a:p>
        </p:txBody>
      </p:sp>
      <p:sp>
        <p:nvSpPr>
          <p:cNvPr id="279" name="Google Shape;279;p36"/>
          <p:cNvSpPr txBox="1"/>
          <p:nvPr/>
        </p:nvSpPr>
        <p:spPr>
          <a:xfrm>
            <a:off x="423575" y="1553125"/>
            <a:ext cx="7893300" cy="31398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Open “Middlebox-VM” in VirtualBox</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Login with username and password “middlebox”</a:t>
            </a:r>
            <a:endParaRPr sz="3000">
              <a:solidFill>
                <a:schemeClr val="lt1"/>
              </a:solidFill>
              <a:latin typeface="Montserrat Medium"/>
              <a:ea typeface="Montserrat Medium"/>
              <a:cs typeface="Montserrat Medium"/>
              <a:sym typeface="Montserrat Medium"/>
            </a:endParaRPr>
          </a:p>
          <a:p>
            <a:pPr indent="-393700" lvl="1" marL="914400" rtl="0" algn="l">
              <a:spcBef>
                <a:spcPts val="0"/>
              </a:spcBef>
              <a:spcAft>
                <a:spcPts val="0"/>
              </a:spcAft>
              <a:buClr>
                <a:schemeClr val="accent1"/>
              </a:buClr>
              <a:buSzPts val="2600"/>
              <a:buFont typeface="Montserrat Medium"/>
              <a:buChar char="-"/>
            </a:pPr>
            <a:r>
              <a:rPr lang="en" sz="2600">
                <a:solidFill>
                  <a:schemeClr val="accent1"/>
                </a:solidFill>
                <a:latin typeface="Montserrat Medium"/>
                <a:ea typeface="Montserrat Medium"/>
                <a:cs typeface="Montserrat Medium"/>
                <a:sym typeface="Montserrat Medium"/>
              </a:rPr>
              <a:t>Case sensitive</a:t>
            </a:r>
            <a:endParaRPr sz="2600">
              <a:solidFill>
                <a:schemeClr val="accen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Open a terminal</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Enter the command “middlebox”</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2.1.1</a:t>
            </a:r>
            <a:endParaRPr/>
          </a:p>
        </p:txBody>
      </p:sp>
      <p:pic>
        <p:nvPicPr>
          <p:cNvPr id="285" name="Google Shape;285;p37"/>
          <p:cNvPicPr preferRelativeResize="0"/>
          <p:nvPr/>
        </p:nvPicPr>
        <p:blipFill>
          <a:blip r:embed="rId3">
            <a:alphaModFix/>
          </a:blip>
          <a:stretch>
            <a:fillRect/>
          </a:stretch>
        </p:blipFill>
        <p:spPr>
          <a:xfrm>
            <a:off x="935150" y="1821515"/>
            <a:ext cx="7273700" cy="2597750"/>
          </a:xfrm>
          <a:prstGeom prst="rect">
            <a:avLst/>
          </a:prstGeom>
          <a:noFill/>
          <a:ln>
            <a:noFill/>
          </a:ln>
        </p:spPr>
      </p:pic>
      <p:pic>
        <p:nvPicPr>
          <p:cNvPr id="286" name="Google Shape;286;p37"/>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287" name="Google Shape;287;p37"/>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Start the program and choose to use 2 packets.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93" name="Google Shape;293;p3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2</a:t>
            </a:r>
            <a:endParaRPr/>
          </a:p>
        </p:txBody>
      </p:sp>
      <p:sp>
        <p:nvSpPr>
          <p:cNvPr id="294" name="Google Shape;294;p38"/>
          <p:cNvSpPr txBox="1"/>
          <p:nvPr/>
        </p:nvSpPr>
        <p:spPr>
          <a:xfrm>
            <a:off x="423575" y="1553125"/>
            <a:ext cx="7893300" cy="32946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HTTP Header</a:t>
            </a:r>
            <a:endParaRPr sz="3000">
              <a:solidFill>
                <a:schemeClr val="lt1"/>
              </a:solidFill>
              <a:latin typeface="Montserrat Medium"/>
              <a:ea typeface="Montserrat Medium"/>
              <a:cs typeface="Montserrat Medium"/>
              <a:sym typeface="Montserrat Medium"/>
            </a:endParaRPr>
          </a:p>
          <a:p>
            <a:pPr indent="-393700" lvl="1" marL="914400" rtl="0" algn="l">
              <a:spcBef>
                <a:spcPts val="0"/>
              </a:spcBef>
              <a:spcAft>
                <a:spcPts val="0"/>
              </a:spcAft>
              <a:buClr>
                <a:schemeClr val="lt1"/>
              </a:buClr>
              <a:buSzPts val="2600"/>
              <a:buFont typeface="Montserrat Medium"/>
              <a:buChar char="-"/>
            </a:pPr>
            <a:r>
              <a:rPr lang="en" sz="2600">
                <a:solidFill>
                  <a:schemeClr val="lt1"/>
                </a:solidFill>
                <a:latin typeface="Montserrat Medium"/>
                <a:ea typeface="Montserrat Medium"/>
                <a:cs typeface="Montserrat Medium"/>
                <a:sym typeface="Montserrat Medium"/>
              </a:rPr>
              <a:t>Domain</a:t>
            </a:r>
            <a:endParaRPr sz="26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Flags</a:t>
            </a:r>
            <a:endParaRPr sz="3000">
              <a:solidFill>
                <a:schemeClr val="lt1"/>
              </a:solidFill>
              <a:latin typeface="Montserrat Medium"/>
              <a:ea typeface="Montserrat Medium"/>
              <a:cs typeface="Montserrat Medium"/>
              <a:sym typeface="Montserrat Medium"/>
            </a:endParaRPr>
          </a:p>
          <a:p>
            <a:pPr indent="-393700" lvl="1" marL="914400" rtl="0" algn="l">
              <a:spcBef>
                <a:spcPts val="0"/>
              </a:spcBef>
              <a:spcAft>
                <a:spcPts val="0"/>
              </a:spcAft>
              <a:buClr>
                <a:schemeClr val="lt1"/>
              </a:buClr>
              <a:buSzPts val="2600"/>
              <a:buFont typeface="Montserrat Medium"/>
              <a:buChar char="-"/>
            </a:pPr>
            <a:r>
              <a:rPr lang="en" sz="2600">
                <a:solidFill>
                  <a:schemeClr val="lt1"/>
                </a:solidFill>
                <a:latin typeface="Montserrat Medium"/>
                <a:ea typeface="Montserrat Medium"/>
                <a:cs typeface="Montserrat Medium"/>
                <a:sym typeface="Montserrat Medium"/>
              </a:rPr>
              <a:t>Hint, check the table and figures!</a:t>
            </a:r>
            <a:endParaRPr sz="26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Time to Live (TTL)</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Packet Size</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Payload Size</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2.1.2</a:t>
            </a:r>
            <a:endParaRPr/>
          </a:p>
        </p:txBody>
      </p:sp>
      <p:pic>
        <p:nvPicPr>
          <p:cNvPr id="300" name="Google Shape;300;p39"/>
          <p:cNvPicPr preferRelativeResize="0"/>
          <p:nvPr/>
        </p:nvPicPr>
        <p:blipFill>
          <a:blip r:embed="rId3">
            <a:alphaModFix/>
          </a:blip>
          <a:stretch>
            <a:fillRect/>
          </a:stretch>
        </p:blipFill>
        <p:spPr>
          <a:xfrm>
            <a:off x="1588727" y="1616727"/>
            <a:ext cx="5966550" cy="3007325"/>
          </a:xfrm>
          <a:prstGeom prst="rect">
            <a:avLst/>
          </a:prstGeom>
          <a:noFill/>
          <a:ln>
            <a:noFill/>
          </a:ln>
        </p:spPr>
      </p:pic>
      <p:pic>
        <p:nvPicPr>
          <p:cNvPr id="301" name="Google Shape;301;p39"/>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302" name="Google Shape;302;p39"/>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set the HTTP Header and enter “youchange.com” as the domain name.</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NS - Middlebox: Action 2.1.3</a:t>
            </a:r>
            <a:endParaRPr/>
          </a:p>
        </p:txBody>
      </p:sp>
      <p:pic>
        <p:nvPicPr>
          <p:cNvPr id="308" name="Google Shape;308;p4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09" name="Google Shape;309;p40"/>
          <p:cNvSpPr txBox="1"/>
          <p:nvPr/>
        </p:nvSpPr>
        <p:spPr>
          <a:xfrm>
            <a:off x="1308513" y="4740100"/>
            <a:ext cx="3139800" cy="35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First Packet</a:t>
            </a:r>
            <a:endParaRPr>
              <a:solidFill>
                <a:schemeClr val="lt1"/>
              </a:solidFill>
              <a:latin typeface="Montserrat Medium"/>
              <a:ea typeface="Montserrat Medium"/>
              <a:cs typeface="Montserrat Medium"/>
              <a:sym typeface="Montserrat Medium"/>
            </a:endParaRPr>
          </a:p>
        </p:txBody>
      </p:sp>
      <p:sp>
        <p:nvSpPr>
          <p:cNvPr id="310" name="Google Shape;310;p40"/>
          <p:cNvSpPr txBox="1"/>
          <p:nvPr/>
        </p:nvSpPr>
        <p:spPr>
          <a:xfrm>
            <a:off x="5049375" y="4706500"/>
            <a:ext cx="2803800" cy="39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Second Packet</a:t>
            </a:r>
            <a:endParaRPr>
              <a:solidFill>
                <a:schemeClr val="lt1"/>
              </a:solidFill>
              <a:latin typeface="Montserrat Medium"/>
              <a:ea typeface="Montserrat Medium"/>
              <a:cs typeface="Montserrat Medium"/>
              <a:sym typeface="Montserrat Medium"/>
            </a:endParaRPr>
          </a:p>
        </p:txBody>
      </p:sp>
      <p:sp>
        <p:nvSpPr>
          <p:cNvPr id="311" name="Google Shape;311;p40"/>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set the Flag(s) and set the appropriate flags you want to set.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NS - Middlebox: Action 2.1.3</a:t>
            </a:r>
            <a:endParaRPr/>
          </a:p>
        </p:txBody>
      </p:sp>
      <p:pic>
        <p:nvPicPr>
          <p:cNvPr id="317" name="Google Shape;317;p41"/>
          <p:cNvPicPr preferRelativeResize="0"/>
          <p:nvPr/>
        </p:nvPicPr>
        <p:blipFill>
          <a:blip r:embed="rId3">
            <a:alphaModFix/>
          </a:blip>
          <a:stretch>
            <a:fillRect/>
          </a:stretch>
        </p:blipFill>
        <p:spPr>
          <a:xfrm>
            <a:off x="1250863" y="1647178"/>
            <a:ext cx="3255100" cy="2946425"/>
          </a:xfrm>
          <a:prstGeom prst="rect">
            <a:avLst/>
          </a:prstGeom>
          <a:noFill/>
          <a:ln>
            <a:noFill/>
          </a:ln>
        </p:spPr>
      </p:pic>
      <p:pic>
        <p:nvPicPr>
          <p:cNvPr id="318" name="Google Shape;318;p41"/>
          <p:cNvPicPr preferRelativeResize="0"/>
          <p:nvPr/>
        </p:nvPicPr>
        <p:blipFill>
          <a:blip r:embed="rId4">
            <a:alphaModFix/>
          </a:blip>
          <a:stretch>
            <a:fillRect/>
          </a:stretch>
        </p:blipFill>
        <p:spPr>
          <a:xfrm>
            <a:off x="4989213" y="1545702"/>
            <a:ext cx="2903924" cy="3149375"/>
          </a:xfrm>
          <a:prstGeom prst="rect">
            <a:avLst/>
          </a:prstGeom>
          <a:noFill/>
          <a:ln>
            <a:noFill/>
          </a:ln>
        </p:spPr>
      </p:pic>
      <p:pic>
        <p:nvPicPr>
          <p:cNvPr id="319" name="Google Shape;319;p41"/>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320" name="Google Shape;320;p41"/>
          <p:cNvSpPr txBox="1"/>
          <p:nvPr/>
        </p:nvSpPr>
        <p:spPr>
          <a:xfrm>
            <a:off x="1308513" y="4740100"/>
            <a:ext cx="3139800" cy="35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First Packet</a:t>
            </a:r>
            <a:endParaRPr>
              <a:solidFill>
                <a:schemeClr val="lt1"/>
              </a:solidFill>
              <a:latin typeface="Montserrat Medium"/>
              <a:ea typeface="Montserrat Medium"/>
              <a:cs typeface="Montserrat Medium"/>
              <a:sym typeface="Montserrat Medium"/>
            </a:endParaRPr>
          </a:p>
        </p:txBody>
      </p:sp>
      <p:sp>
        <p:nvSpPr>
          <p:cNvPr id="321" name="Google Shape;321;p41"/>
          <p:cNvSpPr txBox="1"/>
          <p:nvPr/>
        </p:nvSpPr>
        <p:spPr>
          <a:xfrm>
            <a:off x="5049375" y="4706500"/>
            <a:ext cx="2803800" cy="39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Second Packet</a:t>
            </a:r>
            <a:endParaRPr>
              <a:solidFill>
                <a:schemeClr val="lt1"/>
              </a:solidFill>
              <a:latin typeface="Montserrat Medium"/>
              <a:ea typeface="Montserrat Medium"/>
              <a:cs typeface="Montserrat Medium"/>
              <a:sym typeface="Montserrat Medium"/>
            </a:endParaRPr>
          </a:p>
        </p:txBody>
      </p:sp>
      <p:sp>
        <p:nvSpPr>
          <p:cNvPr id="322" name="Google Shape;322;p41"/>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set the Flag(s) and set the appropriate flags you want to set.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42"/>
          <p:cNvPicPr preferRelativeResize="0"/>
          <p:nvPr/>
        </p:nvPicPr>
        <p:blipFill>
          <a:blip r:embed="rId3">
            <a:alphaModFix/>
          </a:blip>
          <a:stretch>
            <a:fillRect/>
          </a:stretch>
        </p:blipFill>
        <p:spPr>
          <a:xfrm>
            <a:off x="2405325" y="1547615"/>
            <a:ext cx="4333350" cy="3253100"/>
          </a:xfrm>
          <a:prstGeom prst="rect">
            <a:avLst/>
          </a:prstGeom>
          <a:noFill/>
          <a:ln>
            <a:noFill/>
          </a:ln>
        </p:spPr>
      </p:pic>
      <p:pic>
        <p:nvPicPr>
          <p:cNvPr id="328" name="Google Shape;328;p42"/>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329" name="Google Shape;329;p4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2.1.4</a:t>
            </a:r>
            <a:endParaRPr/>
          </a:p>
        </p:txBody>
      </p:sp>
      <p:sp>
        <p:nvSpPr>
          <p:cNvPr id="330" name="Google Shape;330;p42"/>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set the time to live (TTL) and choose the longest possible time.</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2.1.5</a:t>
            </a:r>
            <a:endParaRPr/>
          </a:p>
        </p:txBody>
      </p:sp>
      <p:pic>
        <p:nvPicPr>
          <p:cNvPr id="336" name="Google Shape;336;p43"/>
          <p:cNvPicPr preferRelativeResize="0"/>
          <p:nvPr/>
        </p:nvPicPr>
        <p:blipFill>
          <a:blip r:embed="rId3">
            <a:alphaModFix/>
          </a:blip>
          <a:stretch>
            <a:fillRect/>
          </a:stretch>
        </p:blipFill>
        <p:spPr>
          <a:xfrm>
            <a:off x="1710924" y="1677240"/>
            <a:ext cx="5722151" cy="2886299"/>
          </a:xfrm>
          <a:prstGeom prst="rect">
            <a:avLst/>
          </a:prstGeom>
          <a:noFill/>
          <a:ln>
            <a:noFill/>
          </a:ln>
        </p:spPr>
      </p:pic>
      <p:pic>
        <p:nvPicPr>
          <p:cNvPr id="337" name="Google Shape;337;p43"/>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338" name="Google Shape;338;p43"/>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adjust packet optional size and choose the default size.</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44"/>
          <p:cNvPicPr preferRelativeResize="0"/>
          <p:nvPr/>
        </p:nvPicPr>
        <p:blipFill>
          <a:blip r:embed="rId3">
            <a:alphaModFix/>
          </a:blip>
          <a:stretch>
            <a:fillRect/>
          </a:stretch>
        </p:blipFill>
        <p:spPr>
          <a:xfrm>
            <a:off x="1330337" y="1546128"/>
            <a:ext cx="6483326" cy="3148525"/>
          </a:xfrm>
          <a:prstGeom prst="rect">
            <a:avLst/>
          </a:prstGeom>
          <a:noFill/>
          <a:ln>
            <a:noFill/>
          </a:ln>
        </p:spPr>
      </p:pic>
      <p:pic>
        <p:nvPicPr>
          <p:cNvPr id="344" name="Google Shape;344;p44"/>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345" name="Google Shape;345;p4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2.1.6</a:t>
            </a:r>
            <a:endParaRPr/>
          </a:p>
        </p:txBody>
      </p:sp>
      <p:sp>
        <p:nvSpPr>
          <p:cNvPr id="346" name="Google Shape;346;p44"/>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Choose to adjust the packet payload size and choose the default </a:t>
            </a:r>
            <a:r>
              <a:rPr lang="en">
                <a:solidFill>
                  <a:schemeClr val="lt1"/>
                </a:solidFill>
                <a:latin typeface="Montserrat Medium"/>
                <a:ea typeface="Montserrat Medium"/>
                <a:cs typeface="Montserrat Medium"/>
                <a:sym typeface="Montserrat Medium"/>
              </a:rPr>
              <a:t>size.</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45"/>
          <p:cNvPicPr preferRelativeResize="0"/>
          <p:nvPr/>
        </p:nvPicPr>
        <p:blipFill>
          <a:blip r:embed="rId3">
            <a:alphaModFix/>
          </a:blip>
          <a:stretch>
            <a:fillRect/>
          </a:stretch>
        </p:blipFill>
        <p:spPr>
          <a:xfrm>
            <a:off x="1821001" y="1514440"/>
            <a:ext cx="5501999" cy="3319500"/>
          </a:xfrm>
          <a:prstGeom prst="rect">
            <a:avLst/>
          </a:prstGeom>
          <a:noFill/>
          <a:ln>
            <a:noFill/>
          </a:ln>
        </p:spPr>
      </p:pic>
      <p:pic>
        <p:nvPicPr>
          <p:cNvPr id="352" name="Google Shape;352;p45"/>
          <p:cNvPicPr preferRelativeResize="0"/>
          <p:nvPr/>
        </p:nvPicPr>
        <p:blipFill>
          <a:blip r:embed="rId4">
            <a:alphaModFix/>
          </a:blip>
          <a:stretch>
            <a:fillRect/>
          </a:stretch>
        </p:blipFill>
        <p:spPr>
          <a:xfrm>
            <a:off x="839025" y="69368"/>
            <a:ext cx="2442750" cy="673150"/>
          </a:xfrm>
          <a:prstGeom prst="rect">
            <a:avLst/>
          </a:prstGeom>
          <a:noFill/>
          <a:ln>
            <a:noFill/>
          </a:ln>
        </p:spPr>
      </p:pic>
      <p:sp>
        <p:nvSpPr>
          <p:cNvPr id="353" name="Google Shape;353;p4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2.1.7</a:t>
            </a:r>
            <a:endParaRPr/>
          </a:p>
        </p:txBody>
      </p:sp>
      <p:sp>
        <p:nvSpPr>
          <p:cNvPr id="354" name="Google Shape;354;p45"/>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View your packet configuration and then close the packet configuration once you’re satisfied.</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4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60" name="Google Shape;360;p4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2</a:t>
            </a:r>
            <a:endParaRPr/>
          </a:p>
        </p:txBody>
      </p:sp>
      <p:sp>
        <p:nvSpPr>
          <p:cNvPr id="361" name="Google Shape;361;p46"/>
          <p:cNvSpPr txBox="1"/>
          <p:nvPr/>
        </p:nvSpPr>
        <p:spPr>
          <a:xfrm>
            <a:off x="423575" y="1553125"/>
            <a:ext cx="7893300" cy="32946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Wide Attack</a:t>
            </a:r>
            <a:endParaRPr sz="3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Sent your crafted packet to all IP addresses</a:t>
            </a:r>
            <a:endParaRPr sz="2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Targeted Attack</a:t>
            </a:r>
            <a:endParaRPr sz="3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Send your crafted packet to one IP address</a:t>
            </a:r>
            <a:endParaRPr sz="2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Traceroute</a:t>
            </a:r>
            <a:endParaRPr sz="3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Send your crafted packet to one IP address and observe the route it took to arrive at the destination</a:t>
            </a:r>
            <a:endParaRPr sz="2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4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67" name="Google Shape;367;p4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2</a:t>
            </a:r>
            <a:endParaRPr/>
          </a:p>
        </p:txBody>
      </p:sp>
      <p:sp>
        <p:nvSpPr>
          <p:cNvPr id="368" name="Google Shape;368;p47"/>
          <p:cNvSpPr txBox="1"/>
          <p:nvPr/>
        </p:nvSpPr>
        <p:spPr>
          <a:xfrm>
            <a:off x="423575" y="1553125"/>
            <a:ext cx="7893300" cy="6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Montserrat Medium"/>
                <a:ea typeface="Montserrat Medium"/>
                <a:cs typeface="Montserrat Medium"/>
                <a:sym typeface="Montserrat Medium"/>
              </a:rPr>
              <a:t>What you need to know for the quiz</a:t>
            </a:r>
            <a:endParaRPr sz="2000">
              <a:solidFill>
                <a:schemeClr val="lt1"/>
              </a:solidFill>
              <a:latin typeface="Montserrat Medium"/>
              <a:ea typeface="Montserrat Medium"/>
              <a:cs typeface="Montserrat Medium"/>
              <a:sym typeface="Montserrat Medium"/>
            </a:endParaRPr>
          </a:p>
        </p:txBody>
      </p:sp>
      <p:pic>
        <p:nvPicPr>
          <p:cNvPr id="369" name="Google Shape;369;p47"/>
          <p:cNvPicPr preferRelativeResize="0"/>
          <p:nvPr/>
        </p:nvPicPr>
        <p:blipFill>
          <a:blip r:embed="rId4">
            <a:alphaModFix/>
          </a:blip>
          <a:stretch>
            <a:fillRect/>
          </a:stretch>
        </p:blipFill>
        <p:spPr>
          <a:xfrm>
            <a:off x="152400" y="2407025"/>
            <a:ext cx="8583324" cy="2584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2.2.1</a:t>
            </a:r>
            <a:endParaRPr/>
          </a:p>
        </p:txBody>
      </p:sp>
      <p:pic>
        <p:nvPicPr>
          <p:cNvPr id="375" name="Google Shape;375;p48"/>
          <p:cNvPicPr preferRelativeResize="0"/>
          <p:nvPr/>
        </p:nvPicPr>
        <p:blipFill>
          <a:blip r:embed="rId3">
            <a:alphaModFix/>
          </a:blip>
          <a:stretch>
            <a:fillRect/>
          </a:stretch>
        </p:blipFill>
        <p:spPr>
          <a:xfrm>
            <a:off x="415363" y="1912600"/>
            <a:ext cx="4009600" cy="1775675"/>
          </a:xfrm>
          <a:prstGeom prst="rect">
            <a:avLst/>
          </a:prstGeom>
          <a:noFill/>
          <a:ln>
            <a:noFill/>
          </a:ln>
        </p:spPr>
      </p:pic>
      <p:pic>
        <p:nvPicPr>
          <p:cNvPr id="376" name="Google Shape;376;p48"/>
          <p:cNvPicPr preferRelativeResize="0"/>
          <p:nvPr/>
        </p:nvPicPr>
        <p:blipFill>
          <a:blip r:embed="rId4">
            <a:alphaModFix/>
          </a:blip>
          <a:stretch>
            <a:fillRect/>
          </a:stretch>
        </p:blipFill>
        <p:spPr>
          <a:xfrm>
            <a:off x="1728588" y="3930650"/>
            <a:ext cx="1495425" cy="180975"/>
          </a:xfrm>
          <a:prstGeom prst="rect">
            <a:avLst/>
          </a:prstGeom>
          <a:noFill/>
          <a:ln>
            <a:noFill/>
          </a:ln>
        </p:spPr>
      </p:pic>
      <p:pic>
        <p:nvPicPr>
          <p:cNvPr id="377" name="Google Shape;377;p48"/>
          <p:cNvPicPr preferRelativeResize="0"/>
          <p:nvPr/>
        </p:nvPicPr>
        <p:blipFill>
          <a:blip r:embed="rId5">
            <a:alphaModFix/>
          </a:blip>
          <a:stretch>
            <a:fillRect/>
          </a:stretch>
        </p:blipFill>
        <p:spPr>
          <a:xfrm>
            <a:off x="4024514" y="3944938"/>
            <a:ext cx="1571625" cy="152400"/>
          </a:xfrm>
          <a:prstGeom prst="rect">
            <a:avLst/>
          </a:prstGeom>
          <a:noFill/>
          <a:ln>
            <a:noFill/>
          </a:ln>
        </p:spPr>
      </p:pic>
      <p:pic>
        <p:nvPicPr>
          <p:cNvPr id="378" name="Google Shape;378;p48"/>
          <p:cNvPicPr preferRelativeResize="0"/>
          <p:nvPr/>
        </p:nvPicPr>
        <p:blipFill>
          <a:blip r:embed="rId6">
            <a:alphaModFix/>
          </a:blip>
          <a:stretch>
            <a:fillRect/>
          </a:stretch>
        </p:blipFill>
        <p:spPr>
          <a:xfrm>
            <a:off x="6136227" y="3944938"/>
            <a:ext cx="1752600" cy="152400"/>
          </a:xfrm>
          <a:prstGeom prst="rect">
            <a:avLst/>
          </a:prstGeom>
          <a:noFill/>
          <a:ln>
            <a:noFill/>
          </a:ln>
        </p:spPr>
      </p:pic>
      <p:pic>
        <p:nvPicPr>
          <p:cNvPr id="379" name="Google Shape;379;p48"/>
          <p:cNvPicPr preferRelativeResize="0"/>
          <p:nvPr/>
        </p:nvPicPr>
        <p:blipFill>
          <a:blip r:embed="rId7">
            <a:alphaModFix/>
          </a:blip>
          <a:stretch>
            <a:fillRect/>
          </a:stretch>
        </p:blipFill>
        <p:spPr>
          <a:xfrm>
            <a:off x="2865825" y="4484938"/>
            <a:ext cx="1466850" cy="180975"/>
          </a:xfrm>
          <a:prstGeom prst="rect">
            <a:avLst/>
          </a:prstGeom>
          <a:noFill/>
          <a:ln>
            <a:noFill/>
          </a:ln>
        </p:spPr>
      </p:pic>
      <p:pic>
        <p:nvPicPr>
          <p:cNvPr id="380" name="Google Shape;380;p48"/>
          <p:cNvPicPr preferRelativeResize="0"/>
          <p:nvPr/>
        </p:nvPicPr>
        <p:blipFill>
          <a:blip r:embed="rId8">
            <a:alphaModFix/>
          </a:blip>
          <a:stretch>
            <a:fillRect/>
          </a:stretch>
        </p:blipFill>
        <p:spPr>
          <a:xfrm>
            <a:off x="5124250" y="4508763"/>
            <a:ext cx="1819275" cy="133350"/>
          </a:xfrm>
          <a:prstGeom prst="rect">
            <a:avLst/>
          </a:prstGeom>
          <a:noFill/>
          <a:ln>
            <a:noFill/>
          </a:ln>
        </p:spPr>
      </p:pic>
      <p:sp>
        <p:nvSpPr>
          <p:cNvPr id="381" name="Google Shape;381;p48"/>
          <p:cNvSpPr txBox="1"/>
          <p:nvPr/>
        </p:nvSpPr>
        <p:spPr>
          <a:xfrm>
            <a:off x="4851313" y="2301088"/>
            <a:ext cx="38706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From your long list of IP addresses, find the 5 that don’t have 1 as the number of packets and note down the IP address and number of packets.</a:t>
            </a:r>
            <a:endParaRPr>
              <a:solidFill>
                <a:schemeClr val="lt1"/>
              </a:solidFill>
              <a:latin typeface="Montserrat Medium"/>
              <a:ea typeface="Montserrat Medium"/>
              <a:cs typeface="Montserrat Medium"/>
              <a:sym typeface="Montserrat Medium"/>
            </a:endParaRPr>
          </a:p>
        </p:txBody>
      </p:sp>
      <p:pic>
        <p:nvPicPr>
          <p:cNvPr id="382" name="Google Shape;382;p48"/>
          <p:cNvPicPr preferRelativeResize="0"/>
          <p:nvPr/>
        </p:nvPicPr>
        <p:blipFill>
          <a:blip r:embed="rId9">
            <a:alphaModFix/>
          </a:blip>
          <a:stretch>
            <a:fillRect/>
          </a:stretch>
        </p:blipFill>
        <p:spPr>
          <a:xfrm>
            <a:off x="839025" y="69368"/>
            <a:ext cx="2442750" cy="673150"/>
          </a:xfrm>
          <a:prstGeom prst="rect">
            <a:avLst/>
          </a:prstGeom>
          <a:noFill/>
          <a:ln>
            <a:noFill/>
          </a:ln>
        </p:spPr>
      </p:pic>
      <p:sp>
        <p:nvSpPr>
          <p:cNvPr id="383" name="Google Shape;383;p48"/>
          <p:cNvSpPr txBox="1"/>
          <p:nvPr/>
        </p:nvSpPr>
        <p:spPr>
          <a:xfrm>
            <a:off x="113700" y="941850"/>
            <a:ext cx="3493500" cy="7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an IPv4 wide attack and note down the 5 IP addresses that resulted in an amplification attack.</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2.2.2</a:t>
            </a:r>
            <a:endParaRPr/>
          </a:p>
        </p:txBody>
      </p:sp>
      <p:pic>
        <p:nvPicPr>
          <p:cNvPr id="389" name="Google Shape;389;p49"/>
          <p:cNvPicPr preferRelativeResize="0"/>
          <p:nvPr/>
        </p:nvPicPr>
        <p:blipFill>
          <a:blip r:embed="rId3">
            <a:alphaModFix/>
          </a:blip>
          <a:stretch>
            <a:fillRect/>
          </a:stretch>
        </p:blipFill>
        <p:spPr>
          <a:xfrm>
            <a:off x="839025" y="3043738"/>
            <a:ext cx="1495425" cy="180975"/>
          </a:xfrm>
          <a:prstGeom prst="rect">
            <a:avLst/>
          </a:prstGeom>
          <a:noFill/>
          <a:ln>
            <a:noFill/>
          </a:ln>
        </p:spPr>
      </p:pic>
      <p:pic>
        <p:nvPicPr>
          <p:cNvPr id="390" name="Google Shape;390;p49"/>
          <p:cNvPicPr preferRelativeResize="0"/>
          <p:nvPr/>
        </p:nvPicPr>
        <p:blipFill>
          <a:blip r:embed="rId4">
            <a:alphaModFix/>
          </a:blip>
          <a:stretch>
            <a:fillRect/>
          </a:stretch>
        </p:blipFill>
        <p:spPr>
          <a:xfrm>
            <a:off x="2909202" y="1580049"/>
            <a:ext cx="3807599" cy="3108375"/>
          </a:xfrm>
          <a:prstGeom prst="rect">
            <a:avLst/>
          </a:prstGeom>
          <a:noFill/>
          <a:ln>
            <a:noFill/>
          </a:ln>
        </p:spPr>
      </p:pic>
      <p:pic>
        <p:nvPicPr>
          <p:cNvPr id="391" name="Google Shape;391;p49"/>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392" name="Google Shape;392;p49"/>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For each of the 5 IP addresses, perform a Traceroute and save the results.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2.2.2</a:t>
            </a:r>
            <a:endParaRPr/>
          </a:p>
        </p:txBody>
      </p:sp>
      <p:pic>
        <p:nvPicPr>
          <p:cNvPr id="398" name="Google Shape;398;p50"/>
          <p:cNvPicPr preferRelativeResize="0"/>
          <p:nvPr/>
        </p:nvPicPr>
        <p:blipFill>
          <a:blip r:embed="rId3">
            <a:alphaModFix/>
          </a:blip>
          <a:stretch>
            <a:fillRect/>
          </a:stretch>
        </p:blipFill>
        <p:spPr>
          <a:xfrm>
            <a:off x="839026" y="3074613"/>
            <a:ext cx="1571625" cy="152400"/>
          </a:xfrm>
          <a:prstGeom prst="rect">
            <a:avLst/>
          </a:prstGeom>
          <a:noFill/>
          <a:ln>
            <a:noFill/>
          </a:ln>
        </p:spPr>
      </p:pic>
      <p:pic>
        <p:nvPicPr>
          <p:cNvPr id="399" name="Google Shape;399;p50"/>
          <p:cNvPicPr preferRelativeResize="0"/>
          <p:nvPr/>
        </p:nvPicPr>
        <p:blipFill>
          <a:blip r:embed="rId4">
            <a:alphaModFix/>
          </a:blip>
          <a:stretch>
            <a:fillRect/>
          </a:stretch>
        </p:blipFill>
        <p:spPr>
          <a:xfrm>
            <a:off x="2890125" y="1638623"/>
            <a:ext cx="3853576" cy="3024399"/>
          </a:xfrm>
          <a:prstGeom prst="rect">
            <a:avLst/>
          </a:prstGeom>
          <a:noFill/>
          <a:ln>
            <a:noFill/>
          </a:ln>
        </p:spPr>
      </p:pic>
      <p:pic>
        <p:nvPicPr>
          <p:cNvPr id="400" name="Google Shape;400;p50"/>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01" name="Google Shape;401;p50"/>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For each of the 5 IP addresses, perform a Traceroute and save the results.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51"/>
          <p:cNvPicPr preferRelativeResize="0"/>
          <p:nvPr/>
        </p:nvPicPr>
        <p:blipFill>
          <a:blip r:embed="rId3">
            <a:alphaModFix/>
          </a:blip>
          <a:stretch>
            <a:fillRect/>
          </a:stretch>
        </p:blipFill>
        <p:spPr>
          <a:xfrm>
            <a:off x="786564" y="2861300"/>
            <a:ext cx="1752600" cy="152400"/>
          </a:xfrm>
          <a:prstGeom prst="rect">
            <a:avLst/>
          </a:prstGeom>
          <a:noFill/>
          <a:ln>
            <a:noFill/>
          </a:ln>
        </p:spPr>
      </p:pic>
      <p:pic>
        <p:nvPicPr>
          <p:cNvPr id="407" name="Google Shape;407;p51"/>
          <p:cNvPicPr preferRelativeResize="0"/>
          <p:nvPr/>
        </p:nvPicPr>
        <p:blipFill>
          <a:blip r:embed="rId4">
            <a:alphaModFix/>
          </a:blip>
          <a:stretch>
            <a:fillRect/>
          </a:stretch>
        </p:blipFill>
        <p:spPr>
          <a:xfrm>
            <a:off x="2641428" y="2307225"/>
            <a:ext cx="3752604" cy="1260550"/>
          </a:xfrm>
          <a:prstGeom prst="rect">
            <a:avLst/>
          </a:prstGeom>
          <a:noFill/>
          <a:ln>
            <a:noFill/>
          </a:ln>
        </p:spPr>
      </p:pic>
      <p:pic>
        <p:nvPicPr>
          <p:cNvPr id="408" name="Google Shape;408;p51"/>
          <p:cNvPicPr preferRelativeResize="0"/>
          <p:nvPr/>
        </p:nvPicPr>
        <p:blipFill>
          <a:blip r:embed="rId5">
            <a:alphaModFix/>
          </a:blip>
          <a:stretch>
            <a:fillRect/>
          </a:stretch>
        </p:blipFill>
        <p:spPr>
          <a:xfrm>
            <a:off x="6496302" y="1482100"/>
            <a:ext cx="1897250" cy="3503050"/>
          </a:xfrm>
          <a:prstGeom prst="rect">
            <a:avLst/>
          </a:prstGeom>
          <a:noFill/>
          <a:ln>
            <a:noFill/>
          </a:ln>
        </p:spPr>
      </p:pic>
      <p:pic>
        <p:nvPicPr>
          <p:cNvPr id="409" name="Google Shape;409;p51"/>
          <p:cNvPicPr preferRelativeResize="0"/>
          <p:nvPr/>
        </p:nvPicPr>
        <p:blipFill>
          <a:blip r:embed="rId6">
            <a:alphaModFix/>
          </a:blip>
          <a:stretch>
            <a:fillRect/>
          </a:stretch>
        </p:blipFill>
        <p:spPr>
          <a:xfrm>
            <a:off x="839025" y="69368"/>
            <a:ext cx="2442750" cy="673150"/>
          </a:xfrm>
          <a:prstGeom prst="rect">
            <a:avLst/>
          </a:prstGeom>
          <a:noFill/>
          <a:ln>
            <a:noFill/>
          </a:ln>
        </p:spPr>
      </p:pic>
      <p:sp>
        <p:nvSpPr>
          <p:cNvPr id="410" name="Google Shape;410;p5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2.2.2</a:t>
            </a:r>
            <a:endParaRPr/>
          </a:p>
        </p:txBody>
      </p:sp>
      <p:sp>
        <p:nvSpPr>
          <p:cNvPr id="411" name="Google Shape;411;p51"/>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For each of the 5 IP addresses, perform a Traceroute and save the results.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52"/>
          <p:cNvPicPr preferRelativeResize="0"/>
          <p:nvPr/>
        </p:nvPicPr>
        <p:blipFill>
          <a:blip r:embed="rId3">
            <a:alphaModFix/>
          </a:blip>
          <a:stretch>
            <a:fillRect/>
          </a:stretch>
        </p:blipFill>
        <p:spPr>
          <a:xfrm>
            <a:off x="839029" y="3004725"/>
            <a:ext cx="1466850" cy="180975"/>
          </a:xfrm>
          <a:prstGeom prst="rect">
            <a:avLst/>
          </a:prstGeom>
          <a:noFill/>
          <a:ln>
            <a:noFill/>
          </a:ln>
        </p:spPr>
      </p:pic>
      <p:pic>
        <p:nvPicPr>
          <p:cNvPr id="417" name="Google Shape;417;p52"/>
          <p:cNvPicPr preferRelativeResize="0"/>
          <p:nvPr/>
        </p:nvPicPr>
        <p:blipFill>
          <a:blip r:embed="rId4">
            <a:alphaModFix/>
          </a:blip>
          <a:stretch>
            <a:fillRect/>
          </a:stretch>
        </p:blipFill>
        <p:spPr>
          <a:xfrm>
            <a:off x="2858026" y="1638624"/>
            <a:ext cx="3844200" cy="2913200"/>
          </a:xfrm>
          <a:prstGeom prst="rect">
            <a:avLst/>
          </a:prstGeom>
          <a:noFill/>
          <a:ln>
            <a:noFill/>
          </a:ln>
        </p:spPr>
      </p:pic>
      <p:pic>
        <p:nvPicPr>
          <p:cNvPr id="418" name="Google Shape;418;p52"/>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19" name="Google Shape;419;p5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2.2.2</a:t>
            </a:r>
            <a:endParaRPr/>
          </a:p>
        </p:txBody>
      </p:sp>
      <p:sp>
        <p:nvSpPr>
          <p:cNvPr id="420" name="Google Shape;420;p52"/>
          <p:cNvSpPr txBox="1"/>
          <p:nvPr/>
        </p:nvSpPr>
        <p:spPr>
          <a:xfrm>
            <a:off x="113700" y="941850"/>
            <a:ext cx="34935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For each of the 5 IP addresses, perform a Traceroute and save the results.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3"/>
          <p:cNvSpPr txBox="1"/>
          <p:nvPr/>
        </p:nvSpPr>
        <p:spPr>
          <a:xfrm>
            <a:off x="1607850" y="1733299"/>
            <a:ext cx="5928300" cy="26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latin typeface="Montserrat"/>
                <a:ea typeface="Montserrat"/>
                <a:cs typeface="Montserrat"/>
                <a:sym typeface="Montserrat"/>
              </a:rPr>
              <a:t>Quiz Strategy:</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Choose IP address according to ascending packet sizes, i.e., least to greatest.</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Complete question according to that IP address.</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Repeat until quiz is passed.</a:t>
            </a:r>
            <a:endParaRPr sz="2300">
              <a:solidFill>
                <a:schemeClr val="lt1"/>
              </a:solidFill>
              <a:latin typeface="Montserrat Medium"/>
              <a:ea typeface="Montserrat Medium"/>
              <a:cs typeface="Montserrat Medium"/>
              <a:sym typeface="Montserrat Medium"/>
            </a:endParaRPr>
          </a:p>
        </p:txBody>
      </p:sp>
      <p:pic>
        <p:nvPicPr>
          <p:cNvPr id="426" name="Google Shape;426;p5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27" name="Google Shape;427;p5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28" name="Google Shape;428;p53"/>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54"/>
          <p:cNvPicPr preferRelativeResize="0"/>
          <p:nvPr/>
        </p:nvPicPr>
        <p:blipFill>
          <a:blip r:embed="rId3">
            <a:alphaModFix/>
          </a:blip>
          <a:stretch>
            <a:fillRect/>
          </a:stretch>
        </p:blipFill>
        <p:spPr>
          <a:xfrm>
            <a:off x="214088" y="997138"/>
            <a:ext cx="1466850" cy="180975"/>
          </a:xfrm>
          <a:prstGeom prst="rect">
            <a:avLst/>
          </a:prstGeom>
          <a:noFill/>
          <a:ln>
            <a:noFill/>
          </a:ln>
        </p:spPr>
      </p:pic>
      <p:pic>
        <p:nvPicPr>
          <p:cNvPr id="434" name="Google Shape;434;p54"/>
          <p:cNvPicPr preferRelativeResize="0"/>
          <p:nvPr/>
        </p:nvPicPr>
        <p:blipFill>
          <a:blip r:embed="rId4">
            <a:alphaModFix/>
          </a:blip>
          <a:stretch>
            <a:fillRect/>
          </a:stretch>
        </p:blipFill>
        <p:spPr>
          <a:xfrm>
            <a:off x="1875663" y="1537023"/>
            <a:ext cx="5392674" cy="3273649"/>
          </a:xfrm>
          <a:prstGeom prst="rect">
            <a:avLst/>
          </a:prstGeom>
          <a:noFill/>
          <a:ln>
            <a:noFill/>
          </a:ln>
        </p:spPr>
      </p:pic>
      <p:pic>
        <p:nvPicPr>
          <p:cNvPr id="435" name="Google Shape;435;p54"/>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36" name="Google Shape;436;p5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37" name="Google Shape;437;p54"/>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55"/>
          <p:cNvPicPr preferRelativeResize="0"/>
          <p:nvPr/>
        </p:nvPicPr>
        <p:blipFill>
          <a:blip r:embed="rId3">
            <a:alphaModFix/>
          </a:blip>
          <a:stretch>
            <a:fillRect/>
          </a:stretch>
        </p:blipFill>
        <p:spPr>
          <a:xfrm>
            <a:off x="203264" y="997150"/>
            <a:ext cx="1495425" cy="180975"/>
          </a:xfrm>
          <a:prstGeom prst="rect">
            <a:avLst/>
          </a:prstGeom>
          <a:noFill/>
          <a:ln>
            <a:noFill/>
          </a:ln>
        </p:spPr>
      </p:pic>
      <p:pic>
        <p:nvPicPr>
          <p:cNvPr id="443" name="Google Shape;443;p55"/>
          <p:cNvPicPr preferRelativeResize="0"/>
          <p:nvPr/>
        </p:nvPicPr>
        <p:blipFill>
          <a:blip r:embed="rId4">
            <a:alphaModFix/>
          </a:blip>
          <a:stretch>
            <a:fillRect/>
          </a:stretch>
        </p:blipFill>
        <p:spPr>
          <a:xfrm>
            <a:off x="914400" y="1931299"/>
            <a:ext cx="7315200" cy="2286000"/>
          </a:xfrm>
          <a:prstGeom prst="rect">
            <a:avLst/>
          </a:prstGeom>
          <a:noFill/>
          <a:ln>
            <a:noFill/>
          </a:ln>
        </p:spPr>
      </p:pic>
      <p:pic>
        <p:nvPicPr>
          <p:cNvPr id="444" name="Google Shape;444;p55"/>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45" name="Google Shape;445;p5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46" name="Google Shape;446;p55"/>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56"/>
          <p:cNvPicPr preferRelativeResize="0"/>
          <p:nvPr/>
        </p:nvPicPr>
        <p:blipFill>
          <a:blip r:embed="rId3">
            <a:alphaModFix/>
          </a:blip>
          <a:stretch>
            <a:fillRect/>
          </a:stretch>
        </p:blipFill>
        <p:spPr>
          <a:xfrm>
            <a:off x="214101" y="1011425"/>
            <a:ext cx="1571625" cy="152400"/>
          </a:xfrm>
          <a:prstGeom prst="rect">
            <a:avLst/>
          </a:prstGeom>
          <a:noFill/>
          <a:ln>
            <a:noFill/>
          </a:ln>
        </p:spPr>
      </p:pic>
      <p:pic>
        <p:nvPicPr>
          <p:cNvPr id="452" name="Google Shape;452;p56"/>
          <p:cNvPicPr preferRelativeResize="0"/>
          <p:nvPr/>
        </p:nvPicPr>
        <p:blipFill>
          <a:blip r:embed="rId4">
            <a:alphaModFix/>
          </a:blip>
          <a:stretch>
            <a:fillRect/>
          </a:stretch>
        </p:blipFill>
        <p:spPr>
          <a:xfrm>
            <a:off x="914400" y="1931670"/>
            <a:ext cx="7315199" cy="2286000"/>
          </a:xfrm>
          <a:prstGeom prst="rect">
            <a:avLst/>
          </a:prstGeom>
          <a:noFill/>
          <a:ln>
            <a:noFill/>
          </a:ln>
        </p:spPr>
      </p:pic>
      <p:pic>
        <p:nvPicPr>
          <p:cNvPr id="453" name="Google Shape;453;p56"/>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54" name="Google Shape;454;p5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55" name="Google Shape;455;p56"/>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57"/>
          <p:cNvPicPr preferRelativeResize="0"/>
          <p:nvPr/>
        </p:nvPicPr>
        <p:blipFill>
          <a:blip r:embed="rId3">
            <a:alphaModFix/>
          </a:blip>
          <a:stretch>
            <a:fillRect/>
          </a:stretch>
        </p:blipFill>
        <p:spPr>
          <a:xfrm>
            <a:off x="214089" y="1011425"/>
            <a:ext cx="1752600" cy="152400"/>
          </a:xfrm>
          <a:prstGeom prst="rect">
            <a:avLst/>
          </a:prstGeom>
          <a:noFill/>
          <a:ln>
            <a:noFill/>
          </a:ln>
        </p:spPr>
      </p:pic>
      <p:pic>
        <p:nvPicPr>
          <p:cNvPr id="461" name="Google Shape;461;p57"/>
          <p:cNvPicPr preferRelativeResize="0"/>
          <p:nvPr/>
        </p:nvPicPr>
        <p:blipFill>
          <a:blip r:embed="rId4">
            <a:alphaModFix/>
          </a:blip>
          <a:stretch>
            <a:fillRect/>
          </a:stretch>
        </p:blipFill>
        <p:spPr>
          <a:xfrm>
            <a:off x="914400" y="1931670"/>
            <a:ext cx="7315199" cy="2286000"/>
          </a:xfrm>
          <a:prstGeom prst="rect">
            <a:avLst/>
          </a:prstGeom>
          <a:noFill/>
          <a:ln>
            <a:noFill/>
          </a:ln>
        </p:spPr>
      </p:pic>
      <p:pic>
        <p:nvPicPr>
          <p:cNvPr id="462" name="Google Shape;462;p57"/>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63" name="Google Shape;463;p5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64" name="Google Shape;464;p57"/>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58"/>
          <p:cNvPicPr preferRelativeResize="0"/>
          <p:nvPr/>
        </p:nvPicPr>
        <p:blipFill>
          <a:blip r:embed="rId3">
            <a:alphaModFix/>
          </a:blip>
          <a:stretch>
            <a:fillRect/>
          </a:stretch>
        </p:blipFill>
        <p:spPr>
          <a:xfrm>
            <a:off x="214088" y="1020950"/>
            <a:ext cx="1819275" cy="133350"/>
          </a:xfrm>
          <a:prstGeom prst="rect">
            <a:avLst/>
          </a:prstGeom>
          <a:noFill/>
          <a:ln>
            <a:noFill/>
          </a:ln>
        </p:spPr>
      </p:pic>
      <p:pic>
        <p:nvPicPr>
          <p:cNvPr id="470" name="Google Shape;470;p58"/>
          <p:cNvPicPr preferRelativeResize="0"/>
          <p:nvPr/>
        </p:nvPicPr>
        <p:blipFill>
          <a:blip r:embed="rId4">
            <a:alphaModFix/>
          </a:blip>
          <a:stretch>
            <a:fillRect/>
          </a:stretch>
        </p:blipFill>
        <p:spPr>
          <a:xfrm>
            <a:off x="1376172" y="1570920"/>
            <a:ext cx="6391655" cy="3007500"/>
          </a:xfrm>
          <a:prstGeom prst="rect">
            <a:avLst/>
          </a:prstGeom>
          <a:noFill/>
          <a:ln>
            <a:noFill/>
          </a:ln>
        </p:spPr>
      </p:pic>
      <p:pic>
        <p:nvPicPr>
          <p:cNvPr id="471" name="Google Shape;471;p58"/>
          <p:cNvPicPr preferRelativeResize="0"/>
          <p:nvPr/>
        </p:nvPicPr>
        <p:blipFill>
          <a:blip r:embed="rId5">
            <a:alphaModFix/>
          </a:blip>
          <a:stretch>
            <a:fillRect/>
          </a:stretch>
        </p:blipFill>
        <p:spPr>
          <a:xfrm>
            <a:off x="839025" y="69368"/>
            <a:ext cx="2442750" cy="673150"/>
          </a:xfrm>
          <a:prstGeom prst="rect">
            <a:avLst/>
          </a:prstGeom>
          <a:noFill/>
          <a:ln>
            <a:noFill/>
          </a:ln>
        </p:spPr>
      </p:pic>
      <p:sp>
        <p:nvSpPr>
          <p:cNvPr id="472" name="Google Shape;472;p5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2.2.3</a:t>
            </a:r>
            <a:endParaRPr/>
          </a:p>
        </p:txBody>
      </p:sp>
      <p:sp>
        <p:nvSpPr>
          <p:cNvPr id="473" name="Google Shape;473;p58"/>
          <p:cNvSpPr txBox="1"/>
          <p:nvPr/>
        </p:nvSpPr>
        <p:spPr>
          <a:xfrm>
            <a:off x="2231225" y="941850"/>
            <a:ext cx="19971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Complete the quiz.</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nvSpPr>
        <p:spPr>
          <a:xfrm>
            <a:off x="1935300" y="1700160"/>
            <a:ext cx="5273400" cy="24747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Highlight the link in the terminal with your cursor</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Copy with Ctrl+Shift+C</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Open Firefox from the taskbar</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Paste in the link</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AutoNum type="arabicPeriod"/>
            </a:pPr>
            <a:r>
              <a:rPr lang="en" sz="2300">
                <a:solidFill>
                  <a:schemeClr val="lt1"/>
                </a:solidFill>
                <a:latin typeface="Montserrat Medium"/>
                <a:ea typeface="Montserrat Medium"/>
                <a:cs typeface="Montserrat Medium"/>
                <a:sym typeface="Montserrat Medium"/>
              </a:rPr>
              <a:t>Continue to Task Set 3: Bayesian Nash Equilibrium</a:t>
            </a:r>
            <a:endParaRPr sz="2300">
              <a:solidFill>
                <a:schemeClr val="lt1"/>
              </a:solidFill>
              <a:latin typeface="Montserrat Medium"/>
              <a:ea typeface="Montserrat Medium"/>
              <a:cs typeface="Montserrat Medium"/>
              <a:sym typeface="Montserrat Medium"/>
            </a:endParaRPr>
          </a:p>
        </p:txBody>
      </p:sp>
      <p:pic>
        <p:nvPicPr>
          <p:cNvPr id="479" name="Google Shape;479;p5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80" name="Google Shape;480;p5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2.2.4</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86" name="Google Shape;486;p6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pic>
        <p:nvPicPr>
          <p:cNvPr id="487" name="Google Shape;487;p60" title="BEACON Labs - Bayesian Nash Equilibrium">
            <a:hlinkClick r:id="rId4"/>
          </p:cNvPr>
          <p:cNvPicPr preferRelativeResize="0"/>
          <p:nvPr/>
        </p:nvPicPr>
        <p:blipFill>
          <a:blip r:embed="rId5">
            <a:alphaModFix/>
          </a:blip>
          <a:stretch>
            <a:fillRect/>
          </a:stretch>
        </p:blipFill>
        <p:spPr>
          <a:xfrm>
            <a:off x="1945338" y="1743740"/>
            <a:ext cx="5253325" cy="295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6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93" name="Google Shape;493;p6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sp>
        <p:nvSpPr>
          <p:cNvPr id="494" name="Google Shape;494;p61"/>
          <p:cNvSpPr txBox="1"/>
          <p:nvPr/>
        </p:nvSpPr>
        <p:spPr>
          <a:xfrm>
            <a:off x="268950" y="1532975"/>
            <a:ext cx="8175900" cy="31533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Bayesian Nash Equilibrium</a:t>
            </a:r>
            <a:endParaRPr sz="3000">
              <a:solidFill>
                <a:schemeClr val="lt1"/>
              </a:solidFill>
              <a:latin typeface="Montserrat Medium"/>
              <a:ea typeface="Montserrat Medium"/>
              <a:cs typeface="Montserrat Medium"/>
              <a:sym typeface="Montserrat Medium"/>
            </a:endParaRPr>
          </a:p>
          <a:p>
            <a:pPr indent="-393700" lvl="1" marL="914400" rtl="0" algn="l">
              <a:spcBef>
                <a:spcPts val="0"/>
              </a:spcBef>
              <a:spcAft>
                <a:spcPts val="0"/>
              </a:spcAft>
              <a:buClr>
                <a:schemeClr val="accent1"/>
              </a:buClr>
              <a:buSzPts val="2600"/>
              <a:buFont typeface="Montserrat Medium"/>
              <a:buChar char="-"/>
            </a:pPr>
            <a:r>
              <a:rPr lang="en" sz="2600">
                <a:solidFill>
                  <a:schemeClr val="accent1"/>
                </a:solidFill>
                <a:latin typeface="Montserrat Medium"/>
                <a:ea typeface="Montserrat Medium"/>
                <a:cs typeface="Montserrat Medium"/>
                <a:sym typeface="Montserrat Medium"/>
              </a:rPr>
              <a:t>No incentive to change strategy based on prior beliefs</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id="499" name="Google Shape;499;p6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00" name="Google Shape;500;p6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pic>
        <p:nvPicPr>
          <p:cNvPr id="501" name="Google Shape;501;p62"/>
          <p:cNvPicPr preferRelativeResize="0"/>
          <p:nvPr/>
        </p:nvPicPr>
        <p:blipFill>
          <a:blip r:embed="rId4">
            <a:alphaModFix/>
          </a:blip>
          <a:stretch>
            <a:fillRect/>
          </a:stretch>
        </p:blipFill>
        <p:spPr>
          <a:xfrm>
            <a:off x="457200" y="1729968"/>
            <a:ext cx="8229600" cy="2971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6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07" name="Google Shape;507;p6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pic>
        <p:nvPicPr>
          <p:cNvPr id="508" name="Google Shape;508;p63"/>
          <p:cNvPicPr preferRelativeResize="0"/>
          <p:nvPr/>
        </p:nvPicPr>
        <p:blipFill>
          <a:blip r:embed="rId4">
            <a:alphaModFix/>
          </a:blip>
          <a:stretch>
            <a:fillRect/>
          </a:stretch>
        </p:blipFill>
        <p:spPr>
          <a:xfrm>
            <a:off x="457200" y="1725930"/>
            <a:ext cx="8229600" cy="2971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6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14" name="Google Shape;514;p6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pic>
        <p:nvPicPr>
          <p:cNvPr id="515" name="Google Shape;515;p64"/>
          <p:cNvPicPr preferRelativeResize="0"/>
          <p:nvPr/>
        </p:nvPicPr>
        <p:blipFill>
          <a:blip r:embed="rId4">
            <a:alphaModFix/>
          </a:blip>
          <a:stretch>
            <a:fillRect/>
          </a:stretch>
        </p:blipFill>
        <p:spPr>
          <a:xfrm>
            <a:off x="1424187" y="1516655"/>
            <a:ext cx="6295627" cy="33903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6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21" name="Google Shape;521;p6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sp>
        <p:nvSpPr>
          <p:cNvPr id="522" name="Google Shape;522;p65"/>
          <p:cNvSpPr txBox="1"/>
          <p:nvPr/>
        </p:nvSpPr>
        <p:spPr>
          <a:xfrm>
            <a:off x="322725" y="1519525"/>
            <a:ext cx="7725300" cy="35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Montserrat Medium"/>
                <a:ea typeface="Montserrat Medium"/>
                <a:cs typeface="Montserrat Medium"/>
                <a:sym typeface="Montserrat Medium"/>
              </a:rPr>
              <a:t>Our hypothetical situation:</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Country One (A-type)</a:t>
            </a:r>
            <a:endParaRPr sz="3000">
              <a:solidFill>
                <a:schemeClr val="lt1"/>
              </a:solidFill>
              <a:latin typeface="Montserrat Medium"/>
              <a:ea typeface="Montserrat Medium"/>
              <a:cs typeface="Montserrat Medium"/>
              <a:sym typeface="Montserrat Medium"/>
            </a:endParaRPr>
          </a:p>
          <a:p>
            <a:pPr indent="-381000" lvl="1" marL="914400" rtl="0" algn="l">
              <a:spcBef>
                <a:spcPts val="0"/>
              </a:spcBef>
              <a:spcAft>
                <a:spcPts val="0"/>
              </a:spcAft>
              <a:buClr>
                <a:schemeClr val="accent1"/>
              </a:buClr>
              <a:buSzPts val="2400"/>
              <a:buFont typeface="Montserrat Medium"/>
              <a:buChar char="-"/>
            </a:pPr>
            <a:r>
              <a:rPr lang="en" sz="2400">
                <a:solidFill>
                  <a:schemeClr val="accent1"/>
                </a:solidFill>
                <a:latin typeface="Montserrat Medium"/>
                <a:ea typeface="Montserrat Medium"/>
                <a:cs typeface="Montserrat Medium"/>
                <a:sym typeface="Montserrat Medium"/>
              </a:rPr>
              <a:t>Primary Target</a:t>
            </a:r>
            <a:endParaRPr sz="2400">
              <a:solidFill>
                <a:schemeClr val="accen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Country Two (B-type)</a:t>
            </a:r>
            <a:endParaRPr sz="3000">
              <a:solidFill>
                <a:schemeClr val="lt1"/>
              </a:solidFill>
              <a:latin typeface="Montserrat Medium"/>
              <a:ea typeface="Montserrat Medium"/>
              <a:cs typeface="Montserrat Medium"/>
              <a:sym typeface="Montserrat Medium"/>
            </a:endParaRPr>
          </a:p>
          <a:p>
            <a:pPr indent="-381000" lvl="1" marL="914400" rtl="0" algn="l">
              <a:spcBef>
                <a:spcPts val="0"/>
              </a:spcBef>
              <a:spcAft>
                <a:spcPts val="0"/>
              </a:spcAft>
              <a:buClr>
                <a:srgbClr val="6AA84F"/>
              </a:buClr>
              <a:buSzPts val="2400"/>
              <a:buFont typeface="Montserrat Medium"/>
              <a:buChar char="-"/>
            </a:pPr>
            <a:r>
              <a:rPr lang="en" sz="2400">
                <a:solidFill>
                  <a:srgbClr val="6AA84F"/>
                </a:solidFill>
                <a:latin typeface="Montserrat Medium"/>
                <a:ea typeface="Montserrat Medium"/>
                <a:cs typeface="Montserrat Medium"/>
                <a:sym typeface="Montserrat Medium"/>
              </a:rPr>
              <a:t>Ally</a:t>
            </a:r>
            <a:endParaRPr sz="2400">
              <a:solidFill>
                <a:srgbClr val="6AA84F"/>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2 Attack Methods</a:t>
            </a:r>
            <a:endParaRPr sz="3000">
              <a:solidFill>
                <a:schemeClr val="lt1"/>
              </a:solidFill>
              <a:latin typeface="Montserrat Medium"/>
              <a:ea typeface="Montserrat Medium"/>
              <a:cs typeface="Montserrat Medium"/>
              <a:sym typeface="Montserrat Medium"/>
            </a:endParaRPr>
          </a:p>
          <a:p>
            <a:pPr indent="-381000" lvl="1" marL="914400" rtl="0" algn="l">
              <a:spcBef>
                <a:spcPts val="0"/>
              </a:spcBef>
              <a:spcAft>
                <a:spcPts val="0"/>
              </a:spcAft>
              <a:buClr>
                <a:schemeClr val="dk2"/>
              </a:buClr>
              <a:buSzPts val="2400"/>
              <a:buFont typeface="Montserrat Medium"/>
              <a:buChar char="-"/>
            </a:pPr>
            <a:r>
              <a:rPr lang="en" sz="2400">
                <a:solidFill>
                  <a:schemeClr val="dk2"/>
                </a:solidFill>
                <a:latin typeface="Montserrat Medium"/>
                <a:ea typeface="Montserrat Medium"/>
                <a:cs typeface="Montserrat Medium"/>
                <a:sym typeface="Montserrat Medium"/>
              </a:rPr>
              <a:t>Old (less effective)</a:t>
            </a:r>
            <a:endParaRPr sz="2400">
              <a:solidFill>
                <a:schemeClr val="dk2"/>
              </a:solidFill>
              <a:latin typeface="Montserrat Medium"/>
              <a:ea typeface="Montserrat Medium"/>
              <a:cs typeface="Montserrat Medium"/>
              <a:sym typeface="Montserrat Medium"/>
            </a:endParaRPr>
          </a:p>
          <a:p>
            <a:pPr indent="-381000" lvl="1" marL="914400" rtl="0" algn="l">
              <a:spcBef>
                <a:spcPts val="0"/>
              </a:spcBef>
              <a:spcAft>
                <a:spcPts val="0"/>
              </a:spcAft>
              <a:buClr>
                <a:schemeClr val="dk2"/>
              </a:buClr>
              <a:buSzPts val="2400"/>
              <a:buFont typeface="Montserrat Medium"/>
              <a:buChar char="-"/>
            </a:pPr>
            <a:r>
              <a:rPr lang="en" sz="2400">
                <a:solidFill>
                  <a:schemeClr val="dk2"/>
                </a:solidFill>
                <a:latin typeface="Montserrat Medium"/>
                <a:ea typeface="Montserrat Medium"/>
                <a:cs typeface="Montserrat Medium"/>
                <a:sym typeface="Montserrat Medium"/>
              </a:rPr>
              <a:t>New (more effective, can’t use again)</a:t>
            </a:r>
            <a:endParaRPr sz="2400">
              <a:solidFill>
                <a:schemeClr val="dk2"/>
              </a:solidFill>
              <a:latin typeface="Montserrat Medium"/>
              <a:ea typeface="Montserrat Medium"/>
              <a:cs typeface="Montserrat Medium"/>
              <a:sym typeface="Montserrat Medium"/>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6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28" name="Google Shape;528;p6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Task Set 3</a:t>
            </a:r>
            <a:endParaRPr/>
          </a:p>
        </p:txBody>
      </p:sp>
      <p:pic>
        <p:nvPicPr>
          <p:cNvPr id="529" name="Google Shape;529;p66"/>
          <p:cNvPicPr preferRelativeResize="0"/>
          <p:nvPr/>
        </p:nvPicPr>
        <p:blipFill>
          <a:blip r:embed="rId4">
            <a:alphaModFix/>
          </a:blip>
          <a:stretch>
            <a:fillRect/>
          </a:stretch>
        </p:blipFill>
        <p:spPr>
          <a:xfrm>
            <a:off x="1781737" y="1482650"/>
            <a:ext cx="5580525" cy="1447000"/>
          </a:xfrm>
          <a:prstGeom prst="rect">
            <a:avLst/>
          </a:prstGeom>
          <a:noFill/>
          <a:ln>
            <a:noFill/>
          </a:ln>
        </p:spPr>
      </p:pic>
      <p:pic>
        <p:nvPicPr>
          <p:cNvPr id="530" name="Google Shape;530;p66"/>
          <p:cNvPicPr preferRelativeResize="0"/>
          <p:nvPr/>
        </p:nvPicPr>
        <p:blipFill>
          <a:blip r:embed="rId5">
            <a:alphaModFix/>
          </a:blip>
          <a:stretch>
            <a:fillRect/>
          </a:stretch>
        </p:blipFill>
        <p:spPr>
          <a:xfrm>
            <a:off x="1953040" y="3136525"/>
            <a:ext cx="5237919" cy="16909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6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36" name="Google Shape;536;p6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3.2.1</a:t>
            </a:r>
            <a:endParaRPr/>
          </a:p>
        </p:txBody>
      </p:sp>
      <p:sp>
        <p:nvSpPr>
          <p:cNvPr id="537" name="Google Shape;537;p67"/>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Write your inequalities.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8"/>
          <p:cNvSpPr txBox="1"/>
          <p:nvPr/>
        </p:nvSpPr>
        <p:spPr>
          <a:xfrm>
            <a:off x="1425900" y="2074100"/>
            <a:ext cx="6292200" cy="17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Montserrat"/>
                <a:ea typeface="Montserrat"/>
                <a:cs typeface="Montserrat"/>
                <a:sym typeface="Montserrat"/>
              </a:rPr>
              <a:t>New: 4P + 2(1-P)</a:t>
            </a:r>
            <a:endParaRPr sz="34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3400">
                <a:solidFill>
                  <a:schemeClr val="lt1"/>
                </a:solidFill>
                <a:latin typeface="Montserrat"/>
                <a:ea typeface="Montserrat"/>
                <a:cs typeface="Montserrat"/>
                <a:sym typeface="Montserrat"/>
              </a:rPr>
              <a:t>Old: 2P + 3(1-P)</a:t>
            </a:r>
            <a:endParaRPr sz="3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3400">
                <a:solidFill>
                  <a:schemeClr val="accent1"/>
                </a:solidFill>
                <a:latin typeface="Montserrat"/>
                <a:ea typeface="Montserrat"/>
                <a:cs typeface="Montserrat"/>
                <a:sym typeface="Montserrat"/>
              </a:rPr>
              <a:t>4P + 2(1-P) &gt; 2P + 3(1-P)</a:t>
            </a:r>
            <a:endParaRPr sz="3400">
              <a:solidFill>
                <a:schemeClr val="accent1"/>
              </a:solidFill>
              <a:latin typeface="Montserrat"/>
              <a:ea typeface="Montserrat"/>
              <a:cs typeface="Montserrat"/>
              <a:sym typeface="Montserrat"/>
            </a:endParaRPr>
          </a:p>
        </p:txBody>
      </p:sp>
      <p:pic>
        <p:nvPicPr>
          <p:cNvPr id="543" name="Google Shape;543;p6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44" name="Google Shape;544;p6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3.2.1</a:t>
            </a:r>
            <a:endParaRPr/>
          </a:p>
        </p:txBody>
      </p:sp>
      <p:sp>
        <p:nvSpPr>
          <p:cNvPr id="545" name="Google Shape;545;p68"/>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Write your inequalities.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6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51" name="Google Shape;551;p6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3.2.2</a:t>
            </a:r>
            <a:endParaRPr/>
          </a:p>
        </p:txBody>
      </p:sp>
      <p:sp>
        <p:nvSpPr>
          <p:cNvPr id="552" name="Google Shape;552;p69"/>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Solve your inequalities.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0"/>
          <p:cNvSpPr txBox="1"/>
          <p:nvPr/>
        </p:nvSpPr>
        <p:spPr>
          <a:xfrm>
            <a:off x="1561500" y="1551360"/>
            <a:ext cx="6021000" cy="27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lt1"/>
                </a:solidFill>
                <a:latin typeface="Montserrat"/>
                <a:ea typeface="Montserrat"/>
                <a:cs typeface="Montserrat"/>
                <a:sym typeface="Montserrat"/>
              </a:rPr>
              <a:t>4P + 2(1-P) &gt; 2P + 3(1-P)</a:t>
            </a:r>
            <a:endParaRPr sz="28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2800">
                <a:solidFill>
                  <a:schemeClr val="lt1"/>
                </a:solidFill>
                <a:latin typeface="Montserrat"/>
                <a:ea typeface="Montserrat"/>
                <a:cs typeface="Montserrat"/>
                <a:sym typeface="Montserrat"/>
              </a:rPr>
              <a:t>4P + 2 - 2P &gt; 2P + 3 -3P</a:t>
            </a:r>
            <a:endParaRPr sz="28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2800">
                <a:solidFill>
                  <a:schemeClr val="lt1"/>
                </a:solidFill>
                <a:latin typeface="Montserrat"/>
                <a:ea typeface="Montserrat"/>
                <a:cs typeface="Montserrat"/>
                <a:sym typeface="Montserrat"/>
              </a:rPr>
              <a:t>2P + 2 &gt; -P + 3</a:t>
            </a:r>
            <a:endParaRPr sz="28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2800">
                <a:solidFill>
                  <a:schemeClr val="lt1"/>
                </a:solidFill>
                <a:latin typeface="Montserrat"/>
                <a:ea typeface="Montserrat"/>
                <a:cs typeface="Montserrat"/>
                <a:sym typeface="Montserrat"/>
              </a:rPr>
              <a:t>3P + 2 &gt; 3</a:t>
            </a:r>
            <a:endParaRPr sz="28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2800">
                <a:solidFill>
                  <a:schemeClr val="lt1"/>
                </a:solidFill>
                <a:latin typeface="Montserrat"/>
                <a:ea typeface="Montserrat"/>
                <a:cs typeface="Montserrat"/>
                <a:sym typeface="Montserrat"/>
              </a:rPr>
              <a:t>3P &gt; 1</a:t>
            </a:r>
            <a:endParaRPr sz="2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sz="2800">
                <a:solidFill>
                  <a:schemeClr val="accent1"/>
                </a:solidFill>
                <a:latin typeface="Montserrat"/>
                <a:ea typeface="Montserrat"/>
                <a:cs typeface="Montserrat"/>
                <a:sym typeface="Montserrat"/>
              </a:rPr>
              <a:t>P &gt; 1/3</a:t>
            </a:r>
            <a:endParaRPr sz="2800">
              <a:solidFill>
                <a:schemeClr val="accent1"/>
              </a:solidFill>
              <a:latin typeface="Montserrat"/>
              <a:ea typeface="Montserrat"/>
              <a:cs typeface="Montserrat"/>
              <a:sym typeface="Montserrat"/>
            </a:endParaRPr>
          </a:p>
        </p:txBody>
      </p:sp>
      <p:pic>
        <p:nvPicPr>
          <p:cNvPr id="558" name="Google Shape;558;p7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59" name="Google Shape;559;p7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3.2.2</a:t>
            </a:r>
            <a:endParaRPr/>
          </a:p>
        </p:txBody>
      </p:sp>
      <p:sp>
        <p:nvSpPr>
          <p:cNvPr id="560" name="Google Shape;560;p70"/>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Solve </a:t>
            </a:r>
            <a:r>
              <a:rPr lang="en">
                <a:solidFill>
                  <a:schemeClr val="lt1"/>
                </a:solidFill>
                <a:latin typeface="Montserrat Medium"/>
                <a:ea typeface="Montserrat Medium"/>
                <a:cs typeface="Montserrat Medium"/>
                <a:sym typeface="Montserrat Medium"/>
              </a:rPr>
              <a:t>your inequalities.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1"/>
          <p:cNvSpPr txBox="1"/>
          <p:nvPr/>
        </p:nvSpPr>
        <p:spPr>
          <a:xfrm>
            <a:off x="1002450" y="1587810"/>
            <a:ext cx="7139100" cy="2699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½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⅓</a:t>
            </a:r>
            <a:r>
              <a:rPr lang="en" sz="1900">
                <a:solidFill>
                  <a:schemeClr val="lt1"/>
                </a:solidFill>
                <a:latin typeface="Montserrat Medium"/>
                <a:ea typeface="Montserrat Medium"/>
                <a:cs typeface="Montserrat Medium"/>
                <a:sym typeface="Montserrat Medium"/>
              </a:rPr>
              <a:t>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¼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p:txBody>
      </p:sp>
      <p:pic>
        <p:nvPicPr>
          <p:cNvPr id="566" name="Google Shape;566;p7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67" name="Google Shape;567;p7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3.2.3</a:t>
            </a:r>
            <a:endParaRPr/>
          </a:p>
        </p:txBody>
      </p:sp>
      <p:sp>
        <p:nvSpPr>
          <p:cNvPr id="568" name="Google Shape;568;p71"/>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Answer the following questions.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2"/>
          <p:cNvSpPr txBox="1"/>
          <p:nvPr/>
        </p:nvSpPr>
        <p:spPr>
          <a:xfrm>
            <a:off x="1002450" y="1587810"/>
            <a:ext cx="7139100" cy="2699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½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New Attack because 1/2 is greater than 1/3.</a:t>
            </a:r>
            <a:endParaRPr sz="1900">
              <a:solidFill>
                <a:schemeClr val="accen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⅓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¼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p:txBody>
      </p:sp>
      <p:pic>
        <p:nvPicPr>
          <p:cNvPr id="574" name="Google Shape;574;p7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75" name="Google Shape;575;p7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3.2.3</a:t>
            </a:r>
            <a:endParaRPr/>
          </a:p>
        </p:txBody>
      </p:sp>
      <p:sp>
        <p:nvSpPr>
          <p:cNvPr id="576" name="Google Shape;576;p72"/>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Answer the following questions.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3"/>
          <p:cNvSpPr txBox="1"/>
          <p:nvPr/>
        </p:nvSpPr>
        <p:spPr>
          <a:xfrm>
            <a:off x="1002450" y="1587810"/>
            <a:ext cx="7139100" cy="2699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½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New Attack because 1/2 is greater than 1/3.</a:t>
            </a:r>
            <a:endParaRPr sz="1900">
              <a:solidFill>
                <a:schemeClr val="l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⅓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Old Attack because 1/3  is </a:t>
            </a:r>
            <a:r>
              <a:rPr b="1" lang="en" sz="1900">
                <a:solidFill>
                  <a:schemeClr val="accent1"/>
                </a:solidFill>
                <a:latin typeface="Montserrat"/>
                <a:ea typeface="Montserrat"/>
                <a:cs typeface="Montserrat"/>
                <a:sym typeface="Montserrat"/>
              </a:rPr>
              <a:t>not </a:t>
            </a:r>
            <a:r>
              <a:rPr lang="en" sz="1900">
                <a:solidFill>
                  <a:schemeClr val="accent1"/>
                </a:solidFill>
                <a:latin typeface="Montserrat Medium"/>
                <a:ea typeface="Montserrat Medium"/>
                <a:cs typeface="Montserrat Medium"/>
                <a:sym typeface="Montserrat Medium"/>
              </a:rPr>
              <a:t>greater than 1/3.</a:t>
            </a:r>
            <a:endParaRPr sz="1900">
              <a:solidFill>
                <a:schemeClr val="accen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¼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lt1"/>
              </a:buClr>
              <a:buSzPts val="1900"/>
              <a:buFont typeface="Montserrat Medium"/>
              <a:buAutoNum type="alphaLcPeriod"/>
            </a:pPr>
            <a:r>
              <a:t/>
            </a:r>
            <a:endParaRPr sz="1900">
              <a:solidFill>
                <a:schemeClr val="lt1"/>
              </a:solidFill>
              <a:latin typeface="Montserrat Medium"/>
              <a:ea typeface="Montserrat Medium"/>
              <a:cs typeface="Montserrat Medium"/>
              <a:sym typeface="Montserrat Medium"/>
            </a:endParaRPr>
          </a:p>
        </p:txBody>
      </p:sp>
      <p:pic>
        <p:nvPicPr>
          <p:cNvPr id="582" name="Google Shape;582;p7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83" name="Google Shape;583;p7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3.2.3</a:t>
            </a:r>
            <a:endParaRPr/>
          </a:p>
        </p:txBody>
      </p:sp>
      <p:sp>
        <p:nvSpPr>
          <p:cNvPr id="584" name="Google Shape;584;p73"/>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Answer the following questions.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4"/>
          <p:cNvSpPr txBox="1"/>
          <p:nvPr/>
        </p:nvSpPr>
        <p:spPr>
          <a:xfrm>
            <a:off x="1002450" y="1587810"/>
            <a:ext cx="7139100" cy="2699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½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New Attack because 1/2 is greater than 1/3.</a:t>
            </a:r>
            <a:endParaRPr sz="1900">
              <a:solidFill>
                <a:schemeClr val="l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⅓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Old Attack because 1/3  is </a:t>
            </a:r>
            <a:r>
              <a:rPr b="1" lang="en" sz="1900">
                <a:solidFill>
                  <a:schemeClr val="accent1"/>
                </a:solidFill>
                <a:latin typeface="Montserrat"/>
                <a:ea typeface="Montserrat"/>
                <a:cs typeface="Montserrat"/>
                <a:sym typeface="Montserrat"/>
              </a:rPr>
              <a:t>not </a:t>
            </a:r>
            <a:r>
              <a:rPr lang="en" sz="1900">
                <a:solidFill>
                  <a:schemeClr val="accent1"/>
                </a:solidFill>
                <a:latin typeface="Montserrat Medium"/>
                <a:ea typeface="Montserrat Medium"/>
                <a:cs typeface="Montserrat Medium"/>
                <a:sym typeface="Montserrat Medium"/>
              </a:rPr>
              <a:t>greater than 1/3.</a:t>
            </a:r>
            <a:endParaRPr sz="1900">
              <a:solidFill>
                <a:schemeClr val="accent1"/>
              </a:solidFill>
              <a:latin typeface="Montserrat Medium"/>
              <a:ea typeface="Montserrat Medium"/>
              <a:cs typeface="Montserrat Medium"/>
              <a:sym typeface="Montserrat Medium"/>
            </a:endParaRPr>
          </a:p>
          <a:p>
            <a:pPr indent="-349250" lvl="0" marL="457200" rtl="0" algn="l">
              <a:spcBef>
                <a:spcPts val="0"/>
              </a:spcBef>
              <a:spcAft>
                <a:spcPts val="0"/>
              </a:spcAft>
              <a:buClr>
                <a:schemeClr val="lt1"/>
              </a:buClr>
              <a:buSzPts val="1900"/>
              <a:buFont typeface="Montserrat Medium"/>
              <a:buAutoNum type="arabicPeriod"/>
            </a:pPr>
            <a:r>
              <a:rPr lang="en" sz="1900">
                <a:solidFill>
                  <a:schemeClr val="lt1"/>
                </a:solidFill>
                <a:latin typeface="Montserrat Medium"/>
                <a:ea typeface="Montserrat Medium"/>
                <a:cs typeface="Montserrat Medium"/>
                <a:sym typeface="Montserrat Medium"/>
              </a:rPr>
              <a:t>Which attack should you use if there is a ¼ chance the server is owned by Country One?</a:t>
            </a:r>
            <a:endParaRPr sz="1900">
              <a:solidFill>
                <a:schemeClr val="lt1"/>
              </a:solidFill>
              <a:latin typeface="Montserrat Medium"/>
              <a:ea typeface="Montserrat Medium"/>
              <a:cs typeface="Montserrat Medium"/>
              <a:sym typeface="Montserrat Medium"/>
            </a:endParaRPr>
          </a:p>
          <a:p>
            <a:pPr indent="-349250" lvl="1" marL="914400" rtl="0" algn="l">
              <a:spcBef>
                <a:spcPts val="0"/>
              </a:spcBef>
              <a:spcAft>
                <a:spcPts val="0"/>
              </a:spcAft>
              <a:buClr>
                <a:schemeClr val="accent1"/>
              </a:buClr>
              <a:buSzPts val="1900"/>
              <a:buFont typeface="Montserrat Medium"/>
              <a:buAutoNum type="alphaLcPeriod"/>
            </a:pPr>
            <a:r>
              <a:rPr lang="en" sz="1900">
                <a:solidFill>
                  <a:schemeClr val="accent1"/>
                </a:solidFill>
                <a:latin typeface="Montserrat Medium"/>
                <a:ea typeface="Montserrat Medium"/>
                <a:cs typeface="Montserrat Medium"/>
                <a:sym typeface="Montserrat Medium"/>
              </a:rPr>
              <a:t>Old Attack because 1/4  is </a:t>
            </a:r>
            <a:r>
              <a:rPr b="1" lang="en" sz="1900">
                <a:solidFill>
                  <a:schemeClr val="accent1"/>
                </a:solidFill>
                <a:latin typeface="Montserrat"/>
                <a:ea typeface="Montserrat"/>
                <a:cs typeface="Montserrat"/>
                <a:sym typeface="Montserrat"/>
              </a:rPr>
              <a:t>not </a:t>
            </a:r>
            <a:r>
              <a:rPr lang="en" sz="1900">
                <a:solidFill>
                  <a:schemeClr val="accent1"/>
                </a:solidFill>
                <a:latin typeface="Montserrat Medium"/>
                <a:ea typeface="Montserrat Medium"/>
                <a:cs typeface="Montserrat Medium"/>
                <a:sym typeface="Montserrat Medium"/>
              </a:rPr>
              <a:t>greater than 1/3.</a:t>
            </a:r>
            <a:endParaRPr sz="1900">
              <a:solidFill>
                <a:schemeClr val="accent1"/>
              </a:solidFill>
              <a:latin typeface="Montserrat Medium"/>
              <a:ea typeface="Montserrat Medium"/>
              <a:cs typeface="Montserrat Medium"/>
              <a:sym typeface="Montserrat Medium"/>
            </a:endParaRPr>
          </a:p>
        </p:txBody>
      </p:sp>
      <p:pic>
        <p:nvPicPr>
          <p:cNvPr id="590" name="Google Shape;590;p7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91" name="Google Shape;591;p7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3.2.3</a:t>
            </a:r>
            <a:endParaRPr/>
          </a:p>
        </p:txBody>
      </p:sp>
      <p:sp>
        <p:nvSpPr>
          <p:cNvPr id="592" name="Google Shape;592;p74"/>
          <p:cNvSpPr txBox="1"/>
          <p:nvPr/>
        </p:nvSpPr>
        <p:spPr>
          <a:xfrm>
            <a:off x="113700" y="941850"/>
            <a:ext cx="3894300" cy="6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Answer the following questions.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5"/>
          <p:cNvSpPr txBox="1"/>
          <p:nvPr/>
        </p:nvSpPr>
        <p:spPr>
          <a:xfrm>
            <a:off x="1243950" y="2491510"/>
            <a:ext cx="6656100" cy="16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Montserrat Medium"/>
                <a:ea typeface="Montserrat Medium"/>
                <a:cs typeface="Montserrat Medium"/>
                <a:sym typeface="Montserrat Medium"/>
              </a:rPr>
              <a:t>Navigate back to the browser and complete the survey.</a:t>
            </a:r>
            <a:endParaRPr sz="3400">
              <a:solidFill>
                <a:schemeClr val="lt1"/>
              </a:solidFill>
              <a:latin typeface="Montserrat Medium"/>
              <a:ea typeface="Montserrat Medium"/>
              <a:cs typeface="Montserrat Medium"/>
              <a:sym typeface="Montserrat Medium"/>
            </a:endParaRPr>
          </a:p>
        </p:txBody>
      </p:sp>
      <p:pic>
        <p:nvPicPr>
          <p:cNvPr id="598" name="Google Shape;598;p7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599" name="Google Shape;599;p7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Action 3.2.4</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7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605" name="Google Shape;605;p7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 Summary</a:t>
            </a:r>
            <a:endParaRPr/>
          </a:p>
        </p:txBody>
      </p:sp>
      <p:sp>
        <p:nvSpPr>
          <p:cNvPr id="606" name="Google Shape;606;p76"/>
          <p:cNvSpPr txBox="1"/>
          <p:nvPr/>
        </p:nvSpPr>
        <p:spPr>
          <a:xfrm>
            <a:off x="336175" y="1519525"/>
            <a:ext cx="7880100" cy="32340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Reflection-based attacks are possible over UDP </a:t>
            </a:r>
            <a:r>
              <a:rPr b="1" i="1" lang="en" sz="3000">
                <a:solidFill>
                  <a:schemeClr val="accent1"/>
                </a:solidFill>
                <a:latin typeface="Montserrat"/>
                <a:ea typeface="Montserrat"/>
                <a:cs typeface="Montserrat"/>
                <a:sym typeface="Montserrat"/>
              </a:rPr>
              <a:t>AND</a:t>
            </a:r>
            <a:r>
              <a:rPr lang="en" sz="3000">
                <a:solidFill>
                  <a:schemeClr val="lt1"/>
                </a:solidFill>
                <a:latin typeface="Montserrat Medium"/>
                <a:ea typeface="Montserrat Medium"/>
                <a:cs typeface="Montserrat Medium"/>
                <a:sym typeface="Montserrat Medium"/>
              </a:rPr>
              <a:t> TCP now</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5 kinds of middlebox reflections</a:t>
            </a:r>
            <a:endParaRPr sz="3000">
              <a:solidFill>
                <a:schemeClr val="lt1"/>
              </a:solidFill>
              <a:latin typeface="Montserrat Medium"/>
              <a:ea typeface="Montserrat Medium"/>
              <a:cs typeface="Montserrat Medium"/>
              <a:sym typeface="Montserrat Medium"/>
            </a:endParaRPr>
          </a:p>
          <a:p>
            <a:pPr indent="-381000" lvl="1" marL="914400" rtl="0" algn="l">
              <a:spcBef>
                <a:spcPts val="0"/>
              </a:spcBef>
              <a:spcAft>
                <a:spcPts val="0"/>
              </a:spcAft>
              <a:buClr>
                <a:schemeClr val="accent1"/>
              </a:buClr>
              <a:buSzPts val="2400"/>
              <a:buFont typeface="Montserrat Medium"/>
              <a:buChar char="-"/>
            </a:pPr>
            <a:r>
              <a:rPr lang="en" sz="2400">
                <a:solidFill>
                  <a:schemeClr val="accent1"/>
                </a:solidFill>
                <a:latin typeface="Montserrat Medium"/>
                <a:ea typeface="Montserrat Medium"/>
                <a:cs typeface="Montserrat Medium"/>
                <a:sym typeface="Montserrat Medium"/>
              </a:rPr>
              <a:t>How to identify them</a:t>
            </a:r>
            <a:endParaRPr sz="2400">
              <a:solidFill>
                <a:schemeClr val="accen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Large “vulnerability”</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Major consequences for nations with high censorship</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7"/>
          <p:cNvSpPr txBox="1"/>
          <p:nvPr>
            <p:ph type="ctrTitle"/>
          </p:nvPr>
        </p:nvSpPr>
        <p:spPr>
          <a:xfrm>
            <a:off x="311708" y="191121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Questions?</a:t>
            </a:r>
            <a:endParaRPr/>
          </a:p>
        </p:txBody>
      </p:sp>
      <p:sp>
        <p:nvSpPr>
          <p:cNvPr id="612" name="Google Shape;612;p7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NS - Middlebox</a:t>
            </a:r>
            <a:endParaRPr/>
          </a:p>
        </p:txBody>
      </p:sp>
      <p:pic>
        <p:nvPicPr>
          <p:cNvPr id="613" name="Google Shape;613;p77"/>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oise State - Simple Light">
  <a:themeElements>
    <a:clrScheme name="Simple Light">
      <a:dk1>
        <a:srgbClr val="000000"/>
      </a:dk1>
      <a:lt1>
        <a:srgbClr val="FFFFFF"/>
      </a:lt1>
      <a:dk2>
        <a:srgbClr val="595959"/>
      </a:dk2>
      <a:lt2>
        <a:srgbClr val="EEEEEE"/>
      </a:lt2>
      <a:accent1>
        <a:srgbClr val="D64309"/>
      </a:accent1>
      <a:accent2>
        <a:srgbClr val="F6F7F9"/>
      </a:accent2>
      <a:accent3>
        <a:srgbClr val="0033A0"/>
      </a:accent3>
      <a:accent4>
        <a:srgbClr val="0072CE"/>
      </a:accent4>
      <a:accent5>
        <a:srgbClr val="003A70"/>
      </a:accent5>
      <a:accent6>
        <a:srgbClr val="C8C9C7"/>
      </a:accent6>
      <a:hlink>
        <a:srgbClr val="0033A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