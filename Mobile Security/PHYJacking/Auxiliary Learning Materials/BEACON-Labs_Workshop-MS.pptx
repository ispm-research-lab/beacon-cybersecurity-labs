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5143500" cx="9144000"/>
  <p:notesSz cx="6858000" cy="9144000"/>
  <p:embeddedFontLst>
    <p:embeddedFont>
      <p:font typeface="Roboto Mono Medium"/>
      <p:regular r:id="rId55"/>
      <p:bold r:id="rId56"/>
      <p:italic r:id="rId57"/>
      <p:boldItalic r:id="rId58"/>
    </p:embeddedFont>
    <p:embeddedFont>
      <p:font typeface="Montserrat Black"/>
      <p:bold r:id="rId59"/>
      <p:boldItalic r:id="rId60"/>
    </p:embeddedFont>
    <p:embeddedFont>
      <p:font typeface="Montserrat"/>
      <p:regular r:id="rId61"/>
      <p:bold r:id="rId62"/>
      <p:italic r:id="rId63"/>
      <p:boldItalic r:id="rId64"/>
    </p:embeddedFont>
    <p:embeddedFont>
      <p:font typeface="Montserrat Medium"/>
      <p:regular r:id="rId65"/>
      <p:bold r:id="rId66"/>
      <p:italic r:id="rId67"/>
      <p:boldItalic r:id="rId68"/>
    </p:embeddedFont>
    <p:embeddedFont>
      <p:font typeface="Graduate"/>
      <p:regular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bold.fntdata"/><Relationship Id="rId61" Type="http://schemas.openxmlformats.org/officeDocument/2006/relationships/font" Target="fonts/Montserrat-regular.fntdata"/><Relationship Id="rId20" Type="http://schemas.openxmlformats.org/officeDocument/2006/relationships/slide" Target="slides/slide15.xml"/><Relationship Id="rId64" Type="http://schemas.openxmlformats.org/officeDocument/2006/relationships/font" Target="fonts/Montserrat-boldItalic.fntdata"/><Relationship Id="rId63" Type="http://schemas.openxmlformats.org/officeDocument/2006/relationships/font" Target="fonts/Montserrat-italic.fntdata"/><Relationship Id="rId22" Type="http://schemas.openxmlformats.org/officeDocument/2006/relationships/slide" Target="slides/slide17.xml"/><Relationship Id="rId66" Type="http://schemas.openxmlformats.org/officeDocument/2006/relationships/font" Target="fonts/MontserratMedium-bold.fntdata"/><Relationship Id="rId21" Type="http://schemas.openxmlformats.org/officeDocument/2006/relationships/slide" Target="slides/slide16.xml"/><Relationship Id="rId65" Type="http://schemas.openxmlformats.org/officeDocument/2006/relationships/font" Target="fonts/MontserratMedium-regular.fntdata"/><Relationship Id="rId24" Type="http://schemas.openxmlformats.org/officeDocument/2006/relationships/slide" Target="slides/slide19.xml"/><Relationship Id="rId68" Type="http://schemas.openxmlformats.org/officeDocument/2006/relationships/font" Target="fonts/MontserratMedium-boldItalic.fntdata"/><Relationship Id="rId23" Type="http://schemas.openxmlformats.org/officeDocument/2006/relationships/slide" Target="slides/slide18.xml"/><Relationship Id="rId67" Type="http://schemas.openxmlformats.org/officeDocument/2006/relationships/font" Target="fonts/MontserratMedium-italic.fntdata"/><Relationship Id="rId60" Type="http://schemas.openxmlformats.org/officeDocument/2006/relationships/font" Target="fonts/MontserratBlack-bold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Graduate-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MonoMedium-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obotoMonoMedium-italic.fntdata"/><Relationship Id="rId12" Type="http://schemas.openxmlformats.org/officeDocument/2006/relationships/slide" Target="slides/slide7.xml"/><Relationship Id="rId56" Type="http://schemas.openxmlformats.org/officeDocument/2006/relationships/font" Target="fonts/RobotoMonoMedium-bold.fntdata"/><Relationship Id="rId15" Type="http://schemas.openxmlformats.org/officeDocument/2006/relationships/slide" Target="slides/slide10.xml"/><Relationship Id="rId59" Type="http://schemas.openxmlformats.org/officeDocument/2006/relationships/font" Target="fonts/MontserratBlack-bold.fntdata"/><Relationship Id="rId14" Type="http://schemas.openxmlformats.org/officeDocument/2006/relationships/slide" Target="slides/slide9.xml"/><Relationship Id="rId58" Type="http://schemas.openxmlformats.org/officeDocument/2006/relationships/font" Target="fonts/RobotoMono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20a3ccf3f6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20a3ccf3f6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Hello and welcome back to Day 2 of the Beacon Labs Workshop. Once again, my name is Dylan Gresham and I’ll be guiding you through this activity today as well.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d3f0ca5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d3f0ca5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2f17be74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2f17be74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off, if you haven’t already please download the start code, Android Studio, and the instruction document as we will be doing all of our work today within those three resources.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3035bbb3ba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3035bbb3ba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as I’m sure you all know, almost all devices nowadays have some sort of physical input mechanism. Could be a fingerprint sensor, a camera, a microphone, or a touch screen. This attack takes advantage of these physical input mechanisms to mislead the user with a zero-permission application. In this lab, we’ll actually be building our own application to perform this attack, hence why this is the only activity we’ll be doing today. This attack was published in a paper from the 2021 Network and Distributed System Security Symposium by four researchers from the Chinese University of Hong Kong who’s names I won’t even try and pronounce as I will absolutely butcher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Xianbo Wang</a:t>
            </a:r>
            <a:endParaRPr/>
          </a:p>
          <a:p>
            <a:pPr indent="0" lvl="0" marL="0" rtl="0" algn="l">
              <a:spcBef>
                <a:spcPts val="0"/>
              </a:spcBef>
              <a:spcAft>
                <a:spcPts val="0"/>
              </a:spcAft>
              <a:buNone/>
            </a:pPr>
            <a:r>
              <a:rPr lang="en"/>
              <a:t>Shangcheng Shi</a:t>
            </a:r>
            <a:endParaRPr/>
          </a:p>
          <a:p>
            <a:pPr indent="0" lvl="0" marL="0" rtl="0" algn="l">
              <a:spcBef>
                <a:spcPts val="0"/>
              </a:spcBef>
              <a:spcAft>
                <a:spcPts val="0"/>
              </a:spcAft>
              <a:buNone/>
            </a:pPr>
            <a:r>
              <a:rPr lang="en"/>
              <a:t>Yikang Chen</a:t>
            </a:r>
            <a:endParaRPr/>
          </a:p>
          <a:p>
            <a:pPr indent="0" lvl="0" marL="0" rtl="0" algn="l">
              <a:spcBef>
                <a:spcPts val="0"/>
              </a:spcBef>
              <a:spcAft>
                <a:spcPts val="0"/>
              </a:spcAft>
              <a:buNone/>
            </a:pPr>
            <a:r>
              <a:rPr lang="en"/>
              <a:t>Wing Cheong Lau</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3035bbb3ba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3035bbb3ba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we really get started, let’s watch the video that Gunnar prepared for us.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3035bbb3ba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3035bbb3ba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Gunnar! Let’s talk a </a:t>
            </a:r>
            <a:r>
              <a:rPr lang="en"/>
              <a:t>little</a:t>
            </a:r>
            <a:r>
              <a:rPr lang="en"/>
              <a:t> bit about View Intents. View Intents are used to send the user to another application or to another activity within your own application. There’s two types of intents, explicit and implicit. Explicit intents are mainly used from within your own application as they’re constructed with the exact component you’re sending the user to. The constructor can be read as “I intend to send the user from this application’s context to the context defined by some other class.” Implicit intents on the other hand are used when we don’t know the exact application or if we don’t care what application handles it. The constructor can be read as “I intend to send the user to some type of view at the URL I specify.” We will be using both types of intents in today’s lab.</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54a7ac2ca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54a7ac2ca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 for our first action. From within our project, open up the MainActivity.java file under the raceattack/src/main/java/com/ispm/raceattack directory. Do note that within Android Studio, there will likely be multiple java directories, we’re looking within the one that is not </a:t>
            </a:r>
            <a:r>
              <a:rPr lang="en"/>
              <a:t>auto generated</a:t>
            </a:r>
            <a:r>
              <a:rPr lang="en"/>
              <a:t>. It may help if you change the directory view in the file explorer to “Android” instead of “Project.” Anyways, within MainActivity.java, locate the comment for Action 1.1.1 and create a variable storing an Intent to the target banking application. Take 5 minutes to give this a shot and then we’ll meet back up. Just like before, the instruction document contains the bulk of the information for these actions and if there’s any questions feel free to ask.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f1a32e5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2f1a32e5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Alright, here’s how I created my implicit intent. I utilized the package manager to automatically build us a launch intent for a specific package, in our case the package is com dot ispm dot app which could be found from looking within the file directory as we do have the source code for the target application in this instance. In the real world, we could get the target application name by utilizing the get installed applications method from the package manager and attempting packages until we find the one we’re looking for.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3035bbb3ba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3035bbb3ba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got our target intent, we need to set the proper flags. Since we’re trying to use this app in an attack, we want to make sure that the application opens up quickly and without alarming the user to what we’re doing. To accomplish this, we’re setting three flags which disables the launch animation, creates a new task on the history stack, and then finally creates the actual task and launches it.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54a7ac2ca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354a7ac2ca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take the intent that we wrote in Action 1.1.1 and set the appropriate flags on it. Let’s take another five minutes and give that a shot.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2f1a32e5b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2f1a32e5b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Alright, so here we can see the code that I’ve got. We’re first doing good programming practices and double checking that our target intent was successfully </a:t>
            </a:r>
            <a:r>
              <a:rPr lang="en"/>
              <a:t>created, if it is, we set our flags using the bitwise OR operator, if it wasn’t successfully created, we write a log message and return early. By catching this early on, we prevent our application from crashing and alerting our victim that there’s something fishy going 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354a7ac2ca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354a7ac2ca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we’re going to make one more launch intent. This time in the launch cover function right below the launch attack function where we did our previous two actions. In there, repeat the same two steps we did previously but this time we’re going for our own covering activity which is local to this application and not an external one like the victim app. Let’s take 5 minutes for this and then continue.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2f1a32e5b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2f1a32e5b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Alright, so here I’ve created an explicit intent where we move from this package context to the CoveringActivity context. Since this is an implicit intent, we know that it is guaranteed to work so long as we spelled everything correctly but it may be a good idea to check for null as well. Once we’ve got the intent, we’re setting the same flags and then passing our intent to the start activity function.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3035bbb3ba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3035bbb3ba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got our intents set up and launching in the proper order, we need to setup the window correctly. Since we’re a zero-permission app, we can’t directly modify another app or get any sensitive information. To get around this, we’re not going to ask the user for anything, instead we’re going to trick them into making the transaction themselves. The application that we’re targeting is a fake banking application in which there’s only one path to a successful transaction. We’re going to create an overlay that will guide the user into filling out a “survey” where the buttons follow that single path. To get the user’s input to transfer to the banking application and not our overlay, we need to set two flags on our window manager. The first one allows pointer events to skip our covering activity and be passed to the application behind it and the second tells Android that our application isn’t going to be the one to handle any touch events.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354a7ac2ca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354a7ac2ca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gone over the window flags we need, take five minutes to set them from within CoveringActivity.java. That java file can be found in the same directory as MainActivity.java.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2f1a32e5b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2f1a32e5b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Alrighty, so here we’ve gotten the window and then just like in the intents, we utilized the bitwise OR operator to set the flags. Within this file, you’ll see some commented out code, we’ll touch more on this later but just know that it will become relevant for us later.</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3035bbb3ba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3035bbb3ba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need to talk a bit about the Android Lifecycle. Since our cover isn’t going to be handling touch events we still need some way of detecting there was a touch, to do so, we will utilize the on pause function event. This event happens every time the user leaves an activity. So, every time the user taps our </a:t>
            </a:r>
            <a:r>
              <a:rPr lang="en"/>
              <a:t>covering</a:t>
            </a:r>
            <a:r>
              <a:rPr lang="en"/>
              <a:t> activity, the on pause event gets </a:t>
            </a:r>
            <a:r>
              <a:rPr lang="en"/>
              <a:t>triggered</a:t>
            </a:r>
            <a:r>
              <a:rPr lang="en"/>
              <a:t> once the touch goes to the underlying application. Now there is one caveat to this, if the user is in multi-window mode on something like a large-screen TV or maybe a car, the application beneath may still be visible. This is something we would need to keep in mind when picking the target individual for this attack.</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3035bbb3ba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3035bbb3ba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we’re at the actual overlay. </a:t>
            </a:r>
            <a:r>
              <a:rPr lang="en"/>
              <a:t>Everything</a:t>
            </a:r>
            <a:r>
              <a:rPr lang="en"/>
              <a:t> so far has been the setup for this grand overlay that we’ve been talking about. Now we get to implement it! From </a:t>
            </a:r>
            <a:r>
              <a:rPr lang="en"/>
              <a:t>within</a:t>
            </a:r>
            <a:r>
              <a:rPr lang="en"/>
              <a:t> the emulated device, if we open the target application (called “App” on the device) and follow the path defined in the instruction document, we can see where the buttons are on the screen. Those buttons are what we need to trick the user into tapping, in the same order we did to finalize the transaction.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354a7ac2ca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354a7ac2ca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we fully jump into the overlay though, we still need to setup the on pause function. First though, we need to create a counter class to keep track of the number of screen pauses. Go ahead and take 5 minutes to create a class file within the same directory as MainActivity and CoveringActivity. </a:t>
            </a:r>
            <a:r>
              <a:rPr lang="en"/>
              <a:t>Within</a:t>
            </a:r>
            <a:r>
              <a:rPr lang="en"/>
              <a:t> that class, create a single variable to keep track of the screen count.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2f1a32e5b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2f1a32e5b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Alright, so here we’ve got our class. Just a straightforward class with a single member variable. Our </a:t>
            </a:r>
            <a:r>
              <a:rPr lang="en"/>
              <a:t>constructor</a:t>
            </a:r>
            <a:r>
              <a:rPr lang="en"/>
              <a:t> initializes it to 0 and we have a getter and setter for it.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354a7ac2ca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354a7ac2ca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need to create a static instance of our class that we can utilize whenever. Create a static instance of our class within our class file as well as a method that returns that instance or creates a new one if it doesn’t </a:t>
            </a:r>
            <a:r>
              <a:rPr lang="en"/>
              <a:t>already</a:t>
            </a:r>
            <a:r>
              <a:rPr lang="en"/>
              <a:t> exist. Take 5 minutes to do this.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2f1a32e5b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2f1a32e5b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can see the full class. Just like before we still have our count member and now we have a new member called instance. Notice we’re not initializing it in the constructor since if we </a:t>
            </a:r>
            <a:r>
              <a:rPr lang="en"/>
              <a:t>initialized</a:t>
            </a:r>
            <a:r>
              <a:rPr lang="en"/>
              <a:t> it in the constructor it would be overwritten every time a new constructor is made. At the bottom, we’ve got our new get instance function which creates a new </a:t>
            </a:r>
            <a:r>
              <a:rPr lang="en"/>
              <a:t>instance</a:t>
            </a:r>
            <a:r>
              <a:rPr lang="en"/>
              <a:t> if it doesn’t already exist and then returns it either way.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3035bbb3ba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3035bbb3ba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We’re almost to the overlay, I promise. Before that I need to officially introduce Logcat. Logcat is an Android Studio built-in feature that sits on top of the Log class in the Android API. Logcat just provides a way for us to quickly see our application logs as well as filter and clear them. There are five different types of log messages we can utilize, debug, error, info, verbose, and warn. Earlier, when we did “Log.d” in Action 1.1.1’s solution, that was utilizing Logcat.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354a7ac2ca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354a7ac2ca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 final action before the overlay! In our on pause function, go ahead and increment the screen count of our static instance of our counter class. I like to log this as well so we can verify it’s working. In the real world, definitely don’t log it. Let’s take five minutes for this.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2f1a32e5b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2f1a32e5b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Alright, here we can see us doing just that. We first grab our static instance and set the screen count to the current screen count plus 1. I then logged it, which is optional, and then restart the activity before calling the parent on pause method.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3035bbb3ba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3035bbb3ba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time for the real meat of this: the overlay. This will be the longest part and if you’re unfamiliar with graphical development of any sort, probably the hardest part too. Android Studio has a nice graphical editor built into it. If you navigate to the raceattack/res/layout/covering.xml file, this editor should be automatically opened for you. I recommend using the graphical editor but feel free to toggle to the raw XML in the top left of the editor if you’d like. The “res” folder is where all of the resources for the application live. Unlike web development, Android UI is defined in XML instead of HTML, although they are very similar. For the overlay implementation itself, I will leave it ultimately up to you but I recommend a survey like what will be shown in the next slide. If you recall, I mentioned way back in Action 1.2.1 that there was some commented out code, this is where we’re utilizing it. That code shows an example of </a:t>
            </a:r>
            <a:r>
              <a:rPr lang="en"/>
              <a:t>how you can access UI components from within Java and perform actions on it. This is how you might toggle visibility.</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2f1a32e5b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2f1a32e5b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the overlay that I made, going from right to left, we have the user click the contact we need them to, and then they answer each question from top to bottom, for each question, no matter what answer the user chooses, the app will still continue in the way we want it to for the transaction to be made. Feel free to try and copy this layout or to make your own. Take the next 45 minutes to give it a shot and then we’ll reconvene.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Alright, so now that we’ve given it a shot and know what would go into implementing something like this, let’s carry on. After the next Action, there will be a way for everyone to get on the same track.</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2f1a32e5b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2f1a32e5b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for our final bit of UI development, we need to create a fake lock-screen to get the user to enter their </a:t>
            </a:r>
            <a:r>
              <a:rPr lang="en"/>
              <a:t>fingerprint</a:t>
            </a:r>
            <a:r>
              <a:rPr lang="en"/>
              <a:t> to authorize the payment. Take 10 minutes to get this implemented.</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If you weren’t able to get a functioning solution, change the directory view from Android to Project and locate the two files called create-bottom and quick. Create bottom contains the Java code and should be placed as the final bit of code under the Action 2.2.1 comment in CoveringActivity.xml. Quick contains the XML code for the layout that I’ve created already. If you replace the content of your covering.xml with the contents of quick, you should have the exact same overlay that I have and the attack should succeed if everything was done properly.</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3035bbb3ba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3035bbb3ba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we move on to Game Theory, let’s watch a video from William Spaniel to explain this concept.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303720f40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303720f40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Dr. Spaniel, let’s take a look at our specific scenario. We have two players, the attacker who is player one and the user who is player two. The environment in this instance is an application, in which there’s a 75% chance of it being robust and a 25% chance of it being vulnerable. The user will decide on their turn whether or not to follow the attacker’s prompts. If the user does follow the prompts and the app is robust, a security flag will be triggered and that attack fails. If the app is vulnerable though, the attack will succeed and the user will be at a big loss. On the other hand, if the user doesn’t follow the prompts, regardless whether the app is robust or vulnerable, the user will fail to notice the malicious app and the attacker gets to monitor state information of the user’s device, ultimately causing a small loss to the user.</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303720f40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303720f40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can see the scenario represented as a tree instead of a massive wall of text.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303720f40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303720f40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Since we know that the attacker, who moves first, will never choose NOT to attack a vulnerable app, we can remove the no attack path on the vulnerable side.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303720f40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303720f40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to calculate the user’s mixed strategy, we can parameterize the different paths and use the formulas shown in the video and instruction </a:t>
            </a:r>
            <a:r>
              <a:rPr lang="en"/>
              <a:t>document</a:t>
            </a:r>
            <a:r>
              <a:rPr lang="en"/>
              <a:t> to calculate the mixed strategy. I will skip over the math involved in the slides but definitely go over the math while doing the actions.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303720f40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303720f40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recap our scenario however, the attacker has a sigma sub a percent chance to attack a robust app. If the user observes the attacker attacking, then the user believes there’s a P percent chance that the app is vulnerable. Finally, we can determine that the user will use the app with a probability of sigma sub r.</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354a7ac2ca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354a7ac2ca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 ahead and take the next 15 minutes to calculate the user’s pooling equilibrium. Don’t forget to go over the math in the instruction document as well.</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2f1a32e5bc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2f1a32e5bc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can see that we’ve calculated the user’s utility for following the prompts to be 1.5 and ignoring the prompts to be negative one.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354a7ac2ca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354a7ac2ca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which strategy profitably deviates? Take 3 minutes to reason this out in your head.</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2f1a32e5bc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2f1a32e5bc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Alright, well if we simply compare the numbers, we find that the use strategy is the one that profitably deviates as 1.5 is greater than negative one.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354a7ac2ca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354a7ac2ca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 let’s take 10 minutes to calculate the value of sigma sub r, representing the user’s mixed equilibrium strategy.</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2f1a32e5bc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2f1a32e5bc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 so from the formulas on the screen, we can calculate the the utility for the user when there is an attack to be -3 sigma sub r plus 1 - sigma sub r. Likewise, the utility for the user if there is no attack is simply 0. We can then do some basic algebra to solve for sigma sub r and find that it’s equal to one quarter or 0.25.</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354a7ac2ca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354a7ac2ca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now, how do we interpret that? What’s the probability that the user uses the app? Go ahead and shout it out if you think you’ve got it.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2f1a32e5b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2f1a32e5b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Yup, it’s just the 0.25 we calculated.</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354a7ac2ca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354a7ac2ca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calculate the probability, P, representing the user’s belief that they’re facing a vulnerable app. In other words, calculate the chance that the user thinks the app is vulnerable. Take 5 minutes for this.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2f1a32e5bc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2f1a32e5bc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Similar to calculating the mixed </a:t>
            </a:r>
            <a:r>
              <a:rPr lang="en"/>
              <a:t>equilibrium, we have our utility functions for following the prompts (use) and ignoring the prompts. We can then set them equal to each other and solve for P and find that P is two thirds.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354a7ac2ca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354a7ac2ca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let’s calculate the value of sigma sub a, representing the probability that the app is actually robust and the attacker still chooses to attack. Let’s take 5 minutes for this.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2f1a32e5bc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2f1a32e5bc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 so using the formula in the instruction document and plugging in our values, we can find that sigma sub a is one sixth. Meaning, there’s a 16.67% chance that the attacker attacks a robust app.</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303720f40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303720f40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just to recap. We’ve recognized that nearly all mobile devices nowadays have a physical input of some sort. By misleading a user utilizing built-in, conventional design patterns, we create security risks and ultimately cause some real damage to people.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e3db31a3d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e3db31a3d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finished up the lab, are there any questions?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2f1a32e5bc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2f1a32e5bc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all for participating in this workshop! I hope that everyone was able to learn something new and maybe in the future these labs can be utilized in your classrooms to aide in student learning.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nvSpPr>
        <p:spPr>
          <a:xfrm>
            <a:off x="0" y="836425"/>
            <a:ext cx="9144000" cy="4307100"/>
          </a:xfrm>
          <a:prstGeom prst="rect">
            <a:avLst/>
          </a:prstGeom>
          <a:solidFill>
            <a:srgbClr val="0033A0"/>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l">
              <a:spcBef>
                <a:spcPts val="0"/>
              </a:spcBef>
              <a:spcAft>
                <a:spcPts val="0"/>
              </a:spcAft>
              <a:buNone/>
            </a:pPr>
            <a:r>
              <a:t/>
            </a:r>
            <a:endParaRPr b="1" sz="3900">
              <a:solidFill>
                <a:srgbClr val="FFFFFF"/>
              </a:solidFill>
              <a:highlight>
                <a:srgbClr val="0033A0"/>
              </a:highlight>
              <a:latin typeface="Montserrat"/>
              <a:ea typeface="Montserrat"/>
              <a:cs typeface="Montserrat"/>
              <a:sym typeface="Montserrat"/>
            </a:endParaRPr>
          </a:p>
        </p:txBody>
      </p:sp>
      <p:sp>
        <p:nvSpPr>
          <p:cNvPr id="10" name="Google Shape;10;p2"/>
          <p:cNvSpPr txBox="1"/>
          <p:nvPr>
            <p:ph type="ctrTitle"/>
          </p:nvPr>
        </p:nvSpPr>
        <p:spPr>
          <a:xfrm>
            <a:off x="311708" y="13329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100"/>
              <a:buFont typeface="Montserrat Black"/>
              <a:buNone/>
              <a:defRPr sz="4100">
                <a:solidFill>
                  <a:schemeClr val="lt1"/>
                </a:solidFill>
                <a:latin typeface="Montserrat Black"/>
                <a:ea typeface="Montserrat Black"/>
                <a:cs typeface="Montserrat Black"/>
                <a:sym typeface="Montserrat Black"/>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333900"/>
            <a:ext cx="8520600" cy="792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300"/>
              <a:buFont typeface="Montserrat"/>
              <a:buNone/>
              <a:defRPr b="1" sz="23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p:nvPr/>
        </p:nvSpPr>
        <p:spPr>
          <a:xfrm>
            <a:off x="4335925" y="323375"/>
            <a:ext cx="5452800" cy="11121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13" name="Google Shape;13;p2"/>
          <p:cNvPicPr preferRelativeResize="0"/>
          <p:nvPr/>
        </p:nvPicPr>
        <p:blipFill>
          <a:blip r:embed="rId2">
            <a:alphaModFix/>
          </a:blip>
          <a:stretch>
            <a:fillRect/>
          </a:stretch>
        </p:blipFill>
        <p:spPr>
          <a:xfrm>
            <a:off x="0" y="1"/>
            <a:ext cx="886899" cy="767976"/>
          </a:xfrm>
          <a:prstGeom prst="rect">
            <a:avLst/>
          </a:prstGeom>
          <a:noFill/>
          <a:ln>
            <a:noFill/>
          </a:ln>
        </p:spPr>
      </p:pic>
      <p:sp>
        <p:nvSpPr>
          <p:cNvPr id="14" name="Google Shape;14;p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lvl1pPr lvl="0" algn="l">
              <a:spcBef>
                <a:spcPts val="0"/>
              </a:spcBef>
              <a:spcAft>
                <a:spcPts val="0"/>
              </a:spcAft>
              <a:buClr>
                <a:schemeClr val="lt1"/>
              </a:buClr>
              <a:buSzPts val="1700"/>
              <a:buFont typeface="Montserrat"/>
              <a:buNone/>
              <a:defRPr b="1" sz="1700">
                <a:solidFill>
                  <a:schemeClr val="lt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5" name="Google Shape;15;p2"/>
          <p:cNvCxnSpPr/>
          <p:nvPr/>
        </p:nvCxnSpPr>
        <p:spPr>
          <a:xfrm>
            <a:off x="8779725" y="1373000"/>
            <a:ext cx="0" cy="3399900"/>
          </a:xfrm>
          <a:prstGeom prst="straightConnector1">
            <a:avLst/>
          </a:prstGeom>
          <a:noFill/>
          <a:ln cap="flat" cmpd="sng" w="19050">
            <a:solidFill>
              <a:srgbClr val="D64309"/>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Section header" type="secHead">
  <p:cSld name="SECTION_HEADER">
    <p:spTree>
      <p:nvGrpSpPr>
        <p:cNvPr id="16" name="Shape 16"/>
        <p:cNvGrpSpPr/>
        <p:nvPr/>
      </p:nvGrpSpPr>
      <p:grpSpPr>
        <a:xfrm>
          <a:off x="0" y="0"/>
          <a:ext cx="0" cy="0"/>
          <a:chOff x="0" y="0"/>
          <a:chExt cx="0" cy="0"/>
        </a:xfrm>
      </p:grpSpPr>
      <p:sp>
        <p:nvSpPr>
          <p:cNvPr id="17" name="Google Shape;17;p3"/>
          <p:cNvSpPr txBox="1"/>
          <p:nvPr/>
        </p:nvSpPr>
        <p:spPr>
          <a:xfrm>
            <a:off x="0" y="0"/>
            <a:ext cx="9144000" cy="4307100"/>
          </a:xfrm>
          <a:prstGeom prst="rect">
            <a:avLst/>
          </a:prstGeom>
          <a:solidFill>
            <a:srgbClr val="0033A0"/>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ctr">
              <a:spcBef>
                <a:spcPts val="0"/>
              </a:spcBef>
              <a:spcAft>
                <a:spcPts val="0"/>
              </a:spcAft>
              <a:buNone/>
            </a:pPr>
            <a:r>
              <a:t/>
            </a:r>
            <a:endParaRPr b="1" sz="2400">
              <a:solidFill>
                <a:srgbClr val="FFFFFF"/>
              </a:solidFill>
              <a:highlight>
                <a:srgbClr val="0033A0"/>
              </a:highlight>
              <a:latin typeface="Montserrat"/>
              <a:ea typeface="Montserrat"/>
              <a:cs typeface="Montserrat"/>
              <a:sym typeface="Montserrat"/>
            </a:endParaRPr>
          </a:p>
          <a:p>
            <a:pPr indent="0" lvl="0" marL="0" rtl="0" algn="l">
              <a:spcBef>
                <a:spcPts val="0"/>
              </a:spcBef>
              <a:spcAft>
                <a:spcPts val="0"/>
              </a:spcAft>
              <a:buNone/>
            </a:pPr>
            <a:r>
              <a:t/>
            </a:r>
            <a:endParaRPr b="1" sz="3900">
              <a:solidFill>
                <a:srgbClr val="FFFFFF"/>
              </a:solidFill>
              <a:highlight>
                <a:srgbClr val="0033A0"/>
              </a:highlight>
              <a:latin typeface="Montserrat"/>
              <a:ea typeface="Montserrat"/>
              <a:cs typeface="Montserrat"/>
              <a:sym typeface="Montserrat"/>
            </a:endParaRPr>
          </a:p>
        </p:txBody>
      </p:sp>
      <p:sp>
        <p:nvSpPr>
          <p:cNvPr id="18" name="Google Shape;18;p3"/>
          <p:cNvSpPr txBox="1"/>
          <p:nvPr>
            <p:ph type="title"/>
          </p:nvPr>
        </p:nvSpPr>
        <p:spPr>
          <a:xfrm>
            <a:off x="683550" y="553675"/>
            <a:ext cx="7776900" cy="841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pic>
        <p:nvPicPr>
          <p:cNvPr id="19" name="Google Shape;19;p3"/>
          <p:cNvPicPr preferRelativeResize="0"/>
          <p:nvPr/>
        </p:nvPicPr>
        <p:blipFill>
          <a:blip r:embed="rId2">
            <a:alphaModFix/>
          </a:blip>
          <a:stretch>
            <a:fillRect/>
          </a:stretch>
        </p:blipFill>
        <p:spPr>
          <a:xfrm>
            <a:off x="8257100" y="4375526"/>
            <a:ext cx="886899" cy="767976"/>
          </a:xfrm>
          <a:prstGeom prst="rect">
            <a:avLst/>
          </a:prstGeom>
          <a:noFill/>
          <a:ln>
            <a:noFill/>
          </a:ln>
        </p:spPr>
      </p:pic>
      <p:cxnSp>
        <p:nvCxnSpPr>
          <p:cNvPr id="20" name="Google Shape;20;p3"/>
          <p:cNvCxnSpPr/>
          <p:nvPr/>
        </p:nvCxnSpPr>
        <p:spPr>
          <a:xfrm>
            <a:off x="438975" y="719200"/>
            <a:ext cx="0" cy="3698700"/>
          </a:xfrm>
          <a:prstGeom prst="straightConnector1">
            <a:avLst/>
          </a:prstGeom>
          <a:noFill/>
          <a:ln cap="flat" cmpd="sng" w="28575">
            <a:solidFill>
              <a:schemeClr val="lt1"/>
            </a:solidFill>
            <a:prstDash val="solid"/>
            <a:round/>
            <a:headEnd len="med" w="med" type="none"/>
            <a:tailEnd len="med" w="med" type="none"/>
          </a:ln>
        </p:spPr>
      </p:cxnSp>
      <p:sp>
        <p:nvSpPr>
          <p:cNvPr id="21" name="Google Shape;21;p3"/>
          <p:cNvSpPr txBox="1"/>
          <p:nvPr>
            <p:ph idx="1" type="subTitle"/>
          </p:nvPr>
        </p:nvSpPr>
        <p:spPr>
          <a:xfrm>
            <a:off x="691175" y="4455250"/>
            <a:ext cx="6547500" cy="523200"/>
          </a:xfrm>
          <a:prstGeom prst="rect">
            <a:avLst/>
          </a:prstGeom>
        </p:spPr>
        <p:txBody>
          <a:bodyPr anchorCtr="0" anchor="t" bIns="91425" lIns="91425" spcFirstLastPara="1" rIns="91425" wrap="square" tIns="91425">
            <a:noAutofit/>
          </a:bodyPr>
          <a:lstStyle>
            <a:lvl1pPr lvl="0">
              <a:spcBef>
                <a:spcPts val="0"/>
              </a:spcBef>
              <a:spcAft>
                <a:spcPts val="0"/>
              </a:spcAft>
              <a:buClr>
                <a:srgbClr val="D64309"/>
              </a:buClr>
              <a:buSzPts val="1300"/>
              <a:buFont typeface="Montserrat"/>
              <a:buNone/>
              <a:defRPr b="1" sz="1300">
                <a:solidFill>
                  <a:srgbClr val="D64309"/>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Section header">
  <p:cSld name="SECTION_HEADER_1">
    <p:spTree>
      <p:nvGrpSpPr>
        <p:cNvPr id="22" name="Shape 22"/>
        <p:cNvGrpSpPr/>
        <p:nvPr/>
      </p:nvGrpSpPr>
      <p:grpSpPr>
        <a:xfrm>
          <a:off x="0" y="0"/>
          <a:ext cx="0" cy="0"/>
          <a:chOff x="0" y="0"/>
          <a:chExt cx="0" cy="0"/>
        </a:xfrm>
      </p:grpSpPr>
      <p:sp>
        <p:nvSpPr>
          <p:cNvPr id="23" name="Google Shape;23;p4"/>
          <p:cNvSpPr txBox="1"/>
          <p:nvPr/>
        </p:nvSpPr>
        <p:spPr>
          <a:xfrm>
            <a:off x="0" y="0"/>
            <a:ext cx="9144000" cy="4307100"/>
          </a:xfrm>
          <a:prstGeom prst="rect">
            <a:avLst/>
          </a:prstGeom>
          <a:solidFill>
            <a:srgbClr val="D64309"/>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2400">
              <a:solidFill>
                <a:srgbClr val="FFFFFF"/>
              </a:solidFill>
              <a:highlight>
                <a:srgbClr val="D64309"/>
              </a:highlight>
              <a:latin typeface="Montserrat"/>
              <a:ea typeface="Montserrat"/>
              <a:cs typeface="Montserrat"/>
              <a:sym typeface="Montserrat"/>
            </a:endParaRPr>
          </a:p>
          <a:p>
            <a:pPr indent="0" lvl="0" marL="0" rtl="0" algn="ctr">
              <a:spcBef>
                <a:spcPts val="0"/>
              </a:spcBef>
              <a:spcAft>
                <a:spcPts val="0"/>
              </a:spcAft>
              <a:buNone/>
            </a:pPr>
            <a:r>
              <a:t/>
            </a:r>
            <a:endParaRPr b="1" sz="2400">
              <a:solidFill>
                <a:srgbClr val="FFFFFF"/>
              </a:solidFill>
              <a:highlight>
                <a:srgbClr val="D64309"/>
              </a:highlight>
              <a:latin typeface="Montserrat"/>
              <a:ea typeface="Montserrat"/>
              <a:cs typeface="Montserrat"/>
              <a:sym typeface="Montserrat"/>
            </a:endParaRPr>
          </a:p>
          <a:p>
            <a:pPr indent="0" lvl="0" marL="0" rtl="0" algn="l">
              <a:spcBef>
                <a:spcPts val="0"/>
              </a:spcBef>
              <a:spcAft>
                <a:spcPts val="0"/>
              </a:spcAft>
              <a:buNone/>
            </a:pPr>
            <a:r>
              <a:t/>
            </a:r>
            <a:endParaRPr b="1" sz="3900">
              <a:solidFill>
                <a:srgbClr val="FFFFFF"/>
              </a:solidFill>
              <a:highlight>
                <a:srgbClr val="D64309"/>
              </a:highlight>
              <a:latin typeface="Montserrat"/>
              <a:ea typeface="Montserrat"/>
              <a:cs typeface="Montserrat"/>
              <a:sym typeface="Montserrat"/>
            </a:endParaRPr>
          </a:p>
        </p:txBody>
      </p:sp>
      <p:sp>
        <p:nvSpPr>
          <p:cNvPr id="24" name="Google Shape;24;p4"/>
          <p:cNvSpPr txBox="1"/>
          <p:nvPr>
            <p:ph type="title"/>
          </p:nvPr>
        </p:nvSpPr>
        <p:spPr>
          <a:xfrm>
            <a:off x="683550" y="553675"/>
            <a:ext cx="7776900" cy="841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pic>
        <p:nvPicPr>
          <p:cNvPr id="25" name="Google Shape;25;p4"/>
          <p:cNvPicPr preferRelativeResize="0"/>
          <p:nvPr/>
        </p:nvPicPr>
        <p:blipFill>
          <a:blip r:embed="rId2">
            <a:alphaModFix/>
          </a:blip>
          <a:stretch>
            <a:fillRect/>
          </a:stretch>
        </p:blipFill>
        <p:spPr>
          <a:xfrm>
            <a:off x="8257100" y="4375526"/>
            <a:ext cx="886899" cy="767976"/>
          </a:xfrm>
          <a:prstGeom prst="rect">
            <a:avLst/>
          </a:prstGeom>
          <a:noFill/>
          <a:ln>
            <a:noFill/>
          </a:ln>
        </p:spPr>
      </p:pic>
      <p:cxnSp>
        <p:nvCxnSpPr>
          <p:cNvPr id="26" name="Google Shape;26;p4"/>
          <p:cNvCxnSpPr/>
          <p:nvPr/>
        </p:nvCxnSpPr>
        <p:spPr>
          <a:xfrm>
            <a:off x="438975" y="719200"/>
            <a:ext cx="0" cy="3698700"/>
          </a:xfrm>
          <a:prstGeom prst="straightConnector1">
            <a:avLst/>
          </a:prstGeom>
          <a:noFill/>
          <a:ln cap="flat" cmpd="sng" w="28575">
            <a:solidFill>
              <a:schemeClr val="lt1"/>
            </a:solidFill>
            <a:prstDash val="solid"/>
            <a:round/>
            <a:headEnd len="med" w="med" type="none"/>
            <a:tailEnd len="med" w="med" type="none"/>
          </a:ln>
        </p:spPr>
      </p:cxnSp>
      <p:sp>
        <p:nvSpPr>
          <p:cNvPr id="27" name="Google Shape;27;p4"/>
          <p:cNvSpPr txBox="1"/>
          <p:nvPr>
            <p:ph idx="1" type="subTitle"/>
          </p:nvPr>
        </p:nvSpPr>
        <p:spPr>
          <a:xfrm>
            <a:off x="691175" y="4455250"/>
            <a:ext cx="6547500" cy="523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33A0"/>
              </a:buClr>
              <a:buSzPts val="1300"/>
              <a:buFont typeface="Montserrat"/>
              <a:buNone/>
              <a:defRPr b="1" sz="1300">
                <a:solidFill>
                  <a:srgbClr val="0033A0"/>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5"/>
          <p:cNvSpPr txBox="1"/>
          <p:nvPr>
            <p:ph type="title"/>
          </p:nvPr>
        </p:nvSpPr>
        <p:spPr>
          <a:xfrm>
            <a:off x="311700" y="228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2pPr>
            <a:lvl3pPr lvl="2">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3pPr>
            <a:lvl4pPr lvl="3">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4pPr>
            <a:lvl5pPr lvl="4">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5pPr>
            <a:lvl6pPr lvl="5">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6pPr>
            <a:lvl7pPr lvl="6">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7pPr>
            <a:lvl8pPr lvl="7">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8pPr>
            <a:lvl9pPr lvl="8">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9pPr>
          </a:lstStyle>
          <a:p/>
        </p:txBody>
      </p:sp>
      <p:sp>
        <p:nvSpPr>
          <p:cNvPr id="30" name="Google Shape;30;p5"/>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indent="-317500" lvl="1" marL="9144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indent="-317500" lvl="2" marL="13716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indent="-317500" lvl="3" marL="18288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indent="-317500" lvl="4" marL="22860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indent="-317500" lvl="5" marL="27432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indent="-317500" lvl="6" marL="32004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indent="-317500" lvl="7" marL="36576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indent="-317500" lvl="8" marL="411480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p:txBody>
      </p:sp>
      <p:sp>
        <p:nvSpPr>
          <p:cNvPr id="31" name="Google Shape;31;p5"/>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32" name="Google Shape;32;p5"/>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33" name="Google Shape;33;p5"/>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34" name="Google Shape;34;p5"/>
          <p:cNvSpPr txBox="1"/>
          <p:nvPr>
            <p:ph idx="2"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35" name="Google Shape;35;p5"/>
          <p:cNvSpPr txBox="1"/>
          <p:nvPr>
            <p:ph idx="3"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sp>
        <p:nvSpPr>
          <p:cNvPr id="37" name="Google Shape;37;p6"/>
          <p:cNvSpPr txBox="1"/>
          <p:nvPr>
            <p:ph type="title"/>
          </p:nvPr>
        </p:nvSpPr>
        <p:spPr>
          <a:xfrm>
            <a:off x="311700" y="228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Font typeface="Montserrat"/>
              <a:buChar char="●"/>
              <a:defRPr sz="1400">
                <a:solidFill>
                  <a:schemeClr val="dk1"/>
                </a:solidFill>
                <a:latin typeface="Montserrat"/>
                <a:ea typeface="Montserrat"/>
                <a:cs typeface="Montserrat"/>
                <a:sym typeface="Montserrat"/>
              </a:defRPr>
            </a:lvl1pPr>
            <a:lvl2pPr indent="-304800" lvl="1" marL="914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
        <p:nvSpPr>
          <p:cNvPr id="39" name="Google Shape;39;p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Font typeface="Montserrat"/>
              <a:buChar char="●"/>
              <a:defRPr sz="1400">
                <a:solidFill>
                  <a:schemeClr val="dk1"/>
                </a:solidFill>
                <a:latin typeface="Montserrat"/>
                <a:ea typeface="Montserrat"/>
                <a:cs typeface="Montserrat"/>
                <a:sym typeface="Montserrat"/>
              </a:defRPr>
            </a:lvl1pPr>
            <a:lvl2pPr indent="-304800" lvl="1" marL="914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rtl="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
        <p:nvSpPr>
          <p:cNvPr id="40" name="Google Shape;40;p6"/>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41" name="Google Shape;41;p6"/>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42" name="Google Shape;42;p6"/>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43" name="Google Shape;43;p6"/>
          <p:cNvSpPr txBox="1"/>
          <p:nvPr>
            <p:ph idx="3"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44" name="Google Shape;44;p6"/>
          <p:cNvSpPr txBox="1"/>
          <p:nvPr>
            <p:ph idx="4"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311700" y="228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2pPr>
            <a:lvl3pPr lvl="2">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3pPr>
            <a:lvl4pPr lvl="3">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4pPr>
            <a:lvl5pPr lvl="4">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5pPr>
            <a:lvl6pPr lvl="5">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6pPr>
            <a:lvl7pPr lvl="6">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7pPr>
            <a:lvl8pPr lvl="7">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8pPr>
            <a:lvl9pPr lvl="8">
              <a:spcBef>
                <a:spcPts val="0"/>
              </a:spcBef>
              <a:spcAft>
                <a:spcPts val="0"/>
              </a:spcAft>
              <a:buClr>
                <a:srgbClr val="D64309"/>
              </a:buClr>
              <a:buSzPts val="2100"/>
              <a:buFont typeface="Montserrat Black"/>
              <a:buNone/>
              <a:defRPr sz="2100">
                <a:solidFill>
                  <a:srgbClr val="D64309"/>
                </a:solidFill>
                <a:latin typeface="Montserrat Black"/>
                <a:ea typeface="Montserrat Black"/>
                <a:cs typeface="Montserrat Black"/>
                <a:sym typeface="Montserrat Black"/>
              </a:defRPr>
            </a:lvl9pPr>
          </a:lstStyle>
          <a:p/>
        </p:txBody>
      </p:sp>
      <p:sp>
        <p:nvSpPr>
          <p:cNvPr id="47" name="Google Shape;47;p7"/>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48" name="Google Shape;48;p7"/>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49" name="Google Shape;49;p7"/>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50" name="Google Shape;50;p7"/>
          <p:cNvSpPr txBox="1"/>
          <p:nvPr>
            <p:ph idx="1"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51" name="Google Shape;51;p7"/>
          <p:cNvSpPr txBox="1"/>
          <p:nvPr>
            <p:ph idx="2"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txBox="1"/>
          <p:nvPr>
            <p:ph type="title"/>
          </p:nvPr>
        </p:nvSpPr>
        <p:spPr>
          <a:xfrm>
            <a:off x="490250" y="450150"/>
            <a:ext cx="794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1pPr>
            <a:lvl2pPr lvl="1">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2pPr>
            <a:lvl3pPr lvl="2">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3pPr>
            <a:lvl4pPr lvl="3">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4pPr>
            <a:lvl5pPr lvl="4">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5pPr>
            <a:lvl6pPr lvl="5">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6pPr>
            <a:lvl7pPr lvl="6">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7pPr>
            <a:lvl8pPr lvl="7">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8pPr>
            <a:lvl9pPr lvl="8">
              <a:spcBef>
                <a:spcPts val="0"/>
              </a:spcBef>
              <a:spcAft>
                <a:spcPts val="0"/>
              </a:spcAft>
              <a:buClr>
                <a:srgbClr val="0033A0"/>
              </a:buClr>
              <a:buSzPts val="4800"/>
              <a:buFont typeface="Montserrat Medium"/>
              <a:buNone/>
              <a:defRPr sz="4800">
                <a:solidFill>
                  <a:srgbClr val="0033A0"/>
                </a:solidFill>
                <a:latin typeface="Montserrat Medium"/>
                <a:ea typeface="Montserrat Medium"/>
                <a:cs typeface="Montserrat Medium"/>
                <a:sym typeface="Montserrat Medium"/>
              </a:defRPr>
            </a:lvl9pPr>
          </a:lstStyle>
          <a:p/>
        </p:txBody>
      </p:sp>
      <p:sp>
        <p:nvSpPr>
          <p:cNvPr id="54" name="Google Shape;5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5" name="Google Shape;55;p8"/>
          <p:cNvSpPr txBox="1"/>
          <p:nvPr>
            <p:ph idx="1" type="subTitle"/>
          </p:nvPr>
        </p:nvSpPr>
        <p:spPr>
          <a:xfrm>
            <a:off x="5452225" y="4247575"/>
            <a:ext cx="3570300" cy="3207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56" name="Google Shape;56;p8"/>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57" name="Google Shape;57;p8"/>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58" name="Google Shape;58;p8"/>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59" name="Google Shape;59;p8"/>
          <p:cNvSpPr txBox="1"/>
          <p:nvPr>
            <p:ph idx="2"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60" name="Google Shape;60;p8"/>
          <p:cNvSpPr txBox="1"/>
          <p:nvPr>
            <p:ph idx="3"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4572000" y="-125"/>
            <a:ext cx="4572000" cy="5143500"/>
          </a:xfrm>
          <a:prstGeom prst="rect">
            <a:avLst/>
          </a:prstGeom>
          <a:solidFill>
            <a:srgbClr val="F6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0033A0"/>
              </a:buClr>
              <a:buSzPts val="4200"/>
              <a:buFont typeface="Montserrat Medium"/>
              <a:buNone/>
              <a:defRPr sz="4200">
                <a:solidFill>
                  <a:srgbClr val="0033A0"/>
                </a:solidFill>
                <a:latin typeface="Montserrat Medium"/>
                <a:ea typeface="Montserrat Medium"/>
                <a:cs typeface="Montserrat Medium"/>
                <a:sym typeface="Montserrat Medium"/>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4" name="Google Shape;64;p9"/>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Montserrat"/>
              <a:buNone/>
              <a:defRPr>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5" name="Google Shape;6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sp>
        <p:nvSpPr>
          <p:cNvPr id="66" name="Google Shape;66;p9"/>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67" name="Google Shape;67;p9"/>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68" name="Google Shape;68;p9"/>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69" name="Google Shape;69;p9"/>
          <p:cNvSpPr txBox="1"/>
          <p:nvPr>
            <p:ph idx="3"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70" name="Google Shape;70;p9"/>
          <p:cNvSpPr txBox="1"/>
          <p:nvPr>
            <p:ph idx="4"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0033A0"/>
              </a:buClr>
              <a:buSzPts val="12000"/>
              <a:buFont typeface="Montserrat Black"/>
              <a:buNone/>
              <a:defRPr sz="12000">
                <a:solidFill>
                  <a:srgbClr val="0033A0"/>
                </a:solidFill>
                <a:latin typeface="Montserrat Black"/>
                <a:ea typeface="Montserrat Black"/>
                <a:cs typeface="Montserrat Black"/>
                <a:sym typeface="Montserrat Black"/>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0"/>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sp>
        <p:nvSpPr>
          <p:cNvPr id="74" name="Google Shape;74;p10"/>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pic>
        <p:nvPicPr>
          <p:cNvPr id="75" name="Google Shape;75;p10"/>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76" name="Google Shape;76;p10"/>
          <p:cNvSpPr txBox="1"/>
          <p:nvPr>
            <p:ph idx="1"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77" name="Google Shape;77;p10"/>
          <p:cNvSpPr txBox="1"/>
          <p:nvPr>
            <p:ph idx="2"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type="blank">
  <p:cSld name="BLANK">
    <p:spTree>
      <p:nvGrpSpPr>
        <p:cNvPr id="78" name="Shape 78"/>
        <p:cNvGrpSpPr/>
        <p:nvPr/>
      </p:nvGrpSpPr>
      <p:grpSpPr>
        <a:xfrm>
          <a:off x="0" y="0"/>
          <a:ext cx="0" cy="0"/>
          <a:chOff x="0" y="0"/>
          <a:chExt cx="0" cy="0"/>
        </a:xfrm>
      </p:grpSpPr>
      <p:sp>
        <p:nvSpPr>
          <p:cNvPr id="79" name="Google Shape;79;p11"/>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pic>
        <p:nvPicPr>
          <p:cNvPr id="80" name="Google Shape;80;p11"/>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81" name="Google Shape;81;p11"/>
          <p:cNvSpPr txBox="1"/>
          <p:nvPr>
            <p:ph idx="1"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cSld name="BLANK_1">
    <p:spTree>
      <p:nvGrpSpPr>
        <p:cNvPr id="82" name="Shape 82"/>
        <p:cNvGrpSpPr/>
        <p:nvPr/>
      </p:nvGrpSpPr>
      <p:grpSpPr>
        <a:xfrm>
          <a:off x="0" y="0"/>
          <a:ext cx="0" cy="0"/>
          <a:chOff x="0" y="0"/>
          <a:chExt cx="0" cy="0"/>
        </a:xfrm>
      </p:grpSpPr>
      <p:sp>
        <p:nvSpPr>
          <p:cNvPr id="83" name="Google Shape;83;p12"/>
          <p:cNvSpPr/>
          <p:nvPr>
            <p:ph idx="2" type="pic"/>
          </p:nvPr>
        </p:nvSpPr>
        <p:spPr>
          <a:xfrm>
            <a:off x="-28050" y="0"/>
            <a:ext cx="9200100" cy="4629300"/>
          </a:xfrm>
          <a:prstGeom prst="rect">
            <a:avLst/>
          </a:prstGeom>
          <a:noFill/>
          <a:ln>
            <a:noFill/>
          </a:ln>
        </p:spPr>
      </p:sp>
      <p:sp>
        <p:nvSpPr>
          <p:cNvPr id="84" name="Google Shape;84;p12"/>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pic>
        <p:nvPicPr>
          <p:cNvPr id="85" name="Google Shape;85;p12"/>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86" name="Google Shape;86;p12"/>
          <p:cNvSpPr txBox="1"/>
          <p:nvPr>
            <p:ph idx="1"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ith text">
  <p:cSld name="BLANK_1_1">
    <p:spTree>
      <p:nvGrpSpPr>
        <p:cNvPr id="87" name="Shape 87"/>
        <p:cNvGrpSpPr/>
        <p:nvPr/>
      </p:nvGrpSpPr>
      <p:grpSpPr>
        <a:xfrm>
          <a:off x="0" y="0"/>
          <a:ext cx="0" cy="0"/>
          <a:chOff x="0" y="0"/>
          <a:chExt cx="0" cy="0"/>
        </a:xfrm>
      </p:grpSpPr>
      <p:sp>
        <p:nvSpPr>
          <p:cNvPr id="88" name="Google Shape;88;p13"/>
          <p:cNvSpPr/>
          <p:nvPr>
            <p:ph idx="2" type="pic"/>
          </p:nvPr>
        </p:nvSpPr>
        <p:spPr>
          <a:xfrm>
            <a:off x="0" y="0"/>
            <a:ext cx="4196400" cy="4629300"/>
          </a:xfrm>
          <a:prstGeom prst="rect">
            <a:avLst/>
          </a:prstGeom>
          <a:noFill/>
          <a:ln>
            <a:noFill/>
          </a:ln>
        </p:spPr>
      </p:sp>
      <p:sp>
        <p:nvSpPr>
          <p:cNvPr id="89" name="Google Shape;89;p13"/>
          <p:cNvSpPr txBox="1"/>
          <p:nvPr/>
        </p:nvSpPr>
        <p:spPr>
          <a:xfrm>
            <a:off x="-28050" y="4629230"/>
            <a:ext cx="9200100" cy="531000"/>
          </a:xfrm>
          <a:prstGeom prst="rect">
            <a:avLst/>
          </a:prstGeom>
          <a:solidFill>
            <a:srgbClr val="0033A0"/>
          </a:solidFill>
          <a:ln>
            <a:noFill/>
          </a:ln>
        </p:spPr>
        <p:txBody>
          <a:bodyPr anchorCtr="0" anchor="b" bIns="91425" lIns="91425" spcFirstLastPara="1" rIns="274300" wrap="square" tIns="91425">
            <a:noAutofit/>
          </a:bodyPr>
          <a:lstStyle/>
          <a:p>
            <a:pPr indent="0" lvl="0" marL="0" rtl="0" algn="r">
              <a:spcBef>
                <a:spcPts val="0"/>
              </a:spcBef>
              <a:spcAft>
                <a:spcPts val="0"/>
              </a:spcAft>
              <a:buNone/>
            </a:pPr>
            <a:r>
              <a:t/>
            </a:r>
            <a:endParaRPr sz="1000">
              <a:solidFill>
                <a:srgbClr val="FFFFFF"/>
              </a:solidFill>
              <a:highlight>
                <a:srgbClr val="0033A0"/>
              </a:highlight>
              <a:latin typeface="Montserrat"/>
              <a:ea typeface="Montserrat"/>
              <a:cs typeface="Montserrat"/>
              <a:sym typeface="Montserrat"/>
            </a:endParaRPr>
          </a:p>
        </p:txBody>
      </p:sp>
      <p:pic>
        <p:nvPicPr>
          <p:cNvPr id="90" name="Google Shape;90;p13"/>
          <p:cNvPicPr preferRelativeResize="0"/>
          <p:nvPr/>
        </p:nvPicPr>
        <p:blipFill>
          <a:blip r:embed="rId2">
            <a:alphaModFix/>
          </a:blip>
          <a:stretch>
            <a:fillRect/>
          </a:stretch>
        </p:blipFill>
        <p:spPr>
          <a:xfrm>
            <a:off x="59109" y="4654364"/>
            <a:ext cx="506977" cy="443375"/>
          </a:xfrm>
          <a:prstGeom prst="rect">
            <a:avLst/>
          </a:prstGeom>
          <a:noFill/>
          <a:ln>
            <a:noFill/>
          </a:ln>
        </p:spPr>
      </p:pic>
      <p:sp>
        <p:nvSpPr>
          <p:cNvPr id="91" name="Google Shape;91;p13"/>
          <p:cNvSpPr txBox="1"/>
          <p:nvPr>
            <p:ph idx="1" type="subTitle"/>
          </p:nvPr>
        </p:nvSpPr>
        <p:spPr>
          <a:xfrm>
            <a:off x="4567225" y="4754713"/>
            <a:ext cx="4455300" cy="2427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lt1"/>
              </a:buClr>
              <a:buSzPts val="1000"/>
              <a:buFont typeface="Montserrat"/>
              <a:buNone/>
              <a:defRPr sz="10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2" name="Google Shape;92;p13"/>
          <p:cNvSpPr txBox="1"/>
          <p:nvPr>
            <p:ph type="title"/>
          </p:nvPr>
        </p:nvSpPr>
        <p:spPr>
          <a:xfrm>
            <a:off x="4702725" y="228000"/>
            <a:ext cx="41295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1pPr>
            <a:lvl2pPr lvl="1"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2pPr>
            <a:lvl3pPr lvl="2"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3pPr>
            <a:lvl4pPr lvl="3"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4pPr>
            <a:lvl5pPr lvl="4"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5pPr>
            <a:lvl6pPr lvl="5"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6pPr>
            <a:lvl7pPr lvl="6"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7pPr>
            <a:lvl8pPr lvl="7"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8pPr>
            <a:lvl9pPr lvl="8" rtl="0">
              <a:spcBef>
                <a:spcPts val="0"/>
              </a:spcBef>
              <a:spcAft>
                <a:spcPts val="0"/>
              </a:spcAft>
              <a:buClr>
                <a:srgbClr val="D64309"/>
              </a:buClr>
              <a:buSzPts val="2000"/>
              <a:buFont typeface="Montserrat Black"/>
              <a:buNone/>
              <a:defRPr sz="2000">
                <a:solidFill>
                  <a:srgbClr val="D64309"/>
                </a:solidFill>
                <a:latin typeface="Montserrat Black"/>
                <a:ea typeface="Montserrat Black"/>
                <a:cs typeface="Montserrat Black"/>
                <a:sym typeface="Montserrat Black"/>
              </a:defRPr>
            </a:lvl9pPr>
          </a:lstStyle>
          <a:p/>
        </p:txBody>
      </p:sp>
      <p:sp>
        <p:nvSpPr>
          <p:cNvPr id="93" name="Google Shape;93;p13"/>
          <p:cNvSpPr txBox="1"/>
          <p:nvPr>
            <p:ph idx="3" type="body"/>
          </p:nvPr>
        </p:nvSpPr>
        <p:spPr>
          <a:xfrm>
            <a:off x="4702800" y="863550"/>
            <a:ext cx="41295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indent="-317500" lvl="1" marL="914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indent="-317500" lvl="2" marL="1371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indent="-317500" lvl="3" marL="1828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indent="-317500" lvl="4" marL="22860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indent="-317500" lvl="5" marL="2743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indent="-317500" lvl="6" marL="3200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indent="-317500" lvl="7" marL="3657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indent="-317500" lvl="8" marL="4114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p:txBody>
      </p:sp>
      <p:sp>
        <p:nvSpPr>
          <p:cNvPr id="94" name="Google Shape;94;p13"/>
          <p:cNvSpPr/>
          <p:nvPr/>
        </p:nvSpPr>
        <p:spPr>
          <a:xfrm>
            <a:off x="5249150" y="4198450"/>
            <a:ext cx="4205400" cy="531000"/>
          </a:xfrm>
          <a:prstGeom prst="parallelogram">
            <a:avLst>
              <a:gd fmla="val 25000" name="adj"/>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solidFill>
                <a:srgbClr val="FFFFFF"/>
              </a:solidFill>
              <a:latin typeface="Montserrat"/>
              <a:ea typeface="Montserrat"/>
              <a:cs typeface="Montserrat"/>
              <a:sym typeface="Montserrat"/>
            </a:endParaRPr>
          </a:p>
        </p:txBody>
      </p:sp>
      <p:sp>
        <p:nvSpPr>
          <p:cNvPr id="95" name="Google Shape;95;p13"/>
          <p:cNvSpPr txBox="1"/>
          <p:nvPr>
            <p:ph idx="4" type="subTitle"/>
          </p:nvPr>
        </p:nvSpPr>
        <p:spPr>
          <a:xfrm>
            <a:off x="4772825" y="4198375"/>
            <a:ext cx="4249800" cy="531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lt1"/>
              </a:buClr>
              <a:buSzPts val="1400"/>
              <a:buFont typeface="Montserrat"/>
              <a:buNone/>
              <a:defRPr b="1" sz="1400">
                <a:solidFill>
                  <a:schemeClr val="lt1"/>
                </a:solidFill>
                <a:latin typeface="Montserrat"/>
                <a:ea typeface="Montserrat"/>
                <a:cs typeface="Montserrat"/>
                <a:sym typeface="Montserrat"/>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28000"/>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1pPr>
            <a:lvl2pPr lvl="1">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2pPr>
            <a:lvl3pPr lvl="2">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3pPr>
            <a:lvl4pPr lvl="3">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4pPr>
            <a:lvl5pPr lvl="4">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5pPr>
            <a:lvl6pPr lvl="5">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6pPr>
            <a:lvl7pPr lvl="6">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7pPr>
            <a:lvl8pPr lvl="7">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8pPr>
            <a:lvl9pPr lvl="8">
              <a:spcBef>
                <a:spcPts val="0"/>
              </a:spcBef>
              <a:spcAft>
                <a:spcPts val="0"/>
              </a:spcAft>
              <a:buClr>
                <a:srgbClr val="D64309"/>
              </a:buClr>
              <a:buSzPts val="2800"/>
              <a:buFont typeface="Montserrat Black"/>
              <a:buNone/>
              <a:defRPr sz="2800">
                <a:solidFill>
                  <a:srgbClr val="D64309"/>
                </a:solidFill>
                <a:latin typeface="Montserrat Black"/>
                <a:ea typeface="Montserrat Black"/>
                <a:cs typeface="Montserrat Black"/>
                <a:sym typeface="Montserrat Black"/>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indent="-317500" lvl="1" marL="914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indent="-317500" lvl="2" marL="1371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indent="-317500" lvl="3" marL="1828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indent="-317500" lvl="4" marL="22860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indent="-317500" lvl="5" marL="27432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indent="-317500" lvl="6" marL="32004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indent="-317500" lvl="7" marL="36576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indent="-317500" lvl="8" marL="4114800" rtl="0">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hyperlink" Target="https://www.boisestate.edu/coen-isp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www.ndss-symposium.org/ndss-paper/auto-draft-187/" TargetMode="Externa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hyperlink" Target="http://www.youtube.com/watch?v=ZrGEqWL43wQ" TargetMode="External"/><Relationship Id="rId5"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hyperlink" Target="http://www.youtube.com/watch?v=h3JQYd4BFGk" TargetMode="External"/><Relationship Id="rId5" Type="http://schemas.openxmlformats.org/officeDocument/2006/relationships/image" Target="../media/image1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png"/><Relationship Id="rId4"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ph type="ctrTitle"/>
          </p:nvPr>
        </p:nvSpPr>
        <p:spPr>
          <a:xfrm>
            <a:off x="311700" y="1332975"/>
            <a:ext cx="8520600" cy="1598100"/>
          </a:xfrm>
          <a:prstGeom prst="rect">
            <a:avLst/>
          </a:prstGeom>
        </p:spPr>
        <p:txBody>
          <a:bodyPr anchorCtr="0" anchor="b" bIns="91425" lIns="91425" spcFirstLastPara="1" rIns="91425" wrap="square" tIns="91425">
            <a:normAutofit fontScale="90000"/>
          </a:bodyPr>
          <a:lstStyle/>
          <a:p>
            <a:pPr indent="0" lvl="0" marL="0" rtl="0" algn="ctr">
              <a:lnSpc>
                <a:spcPct val="125000"/>
              </a:lnSpc>
              <a:spcBef>
                <a:spcPts val="0"/>
              </a:spcBef>
              <a:spcAft>
                <a:spcPts val="0"/>
              </a:spcAft>
              <a:buClr>
                <a:schemeClr val="dk1"/>
              </a:buClr>
              <a:buSzPct val="30555"/>
              <a:buFont typeface="Arial"/>
              <a:buNone/>
            </a:pPr>
            <a:r>
              <a:rPr b="1" lang="en" sz="3600">
                <a:solidFill>
                  <a:srgbClr val="F1C232"/>
                </a:solidFill>
                <a:latin typeface="Graduate"/>
                <a:ea typeface="Graduate"/>
                <a:cs typeface="Graduate"/>
                <a:sym typeface="Graduate"/>
              </a:rPr>
              <a:t>Android Physical Input Hijacking</a:t>
            </a:r>
            <a:endParaRPr b="1" sz="3600">
              <a:solidFill>
                <a:srgbClr val="F1C232"/>
              </a:solidFill>
              <a:latin typeface="Graduate"/>
              <a:ea typeface="Graduate"/>
              <a:cs typeface="Graduate"/>
              <a:sym typeface="Graduate"/>
            </a:endParaRPr>
          </a:p>
          <a:p>
            <a:pPr indent="0" lvl="0" marL="0" rtl="0" algn="ctr">
              <a:lnSpc>
                <a:spcPct val="125000"/>
              </a:lnSpc>
              <a:spcBef>
                <a:spcPts val="0"/>
              </a:spcBef>
              <a:spcAft>
                <a:spcPts val="0"/>
              </a:spcAft>
              <a:buNone/>
            </a:pPr>
            <a:r>
              <a:rPr b="1" lang="en" sz="3600">
                <a:solidFill>
                  <a:srgbClr val="F1C232"/>
                </a:solidFill>
                <a:latin typeface="Graduate"/>
                <a:ea typeface="Graduate"/>
                <a:cs typeface="Graduate"/>
                <a:sym typeface="Graduate"/>
              </a:rPr>
              <a:t>(PHYjacking) Attack Lab</a:t>
            </a:r>
            <a:endParaRPr/>
          </a:p>
        </p:txBody>
      </p:sp>
      <p:sp>
        <p:nvSpPr>
          <p:cNvPr id="101" name="Google Shape;101;p14"/>
          <p:cNvSpPr txBox="1"/>
          <p:nvPr>
            <p:ph idx="1" type="subTitle"/>
          </p:nvPr>
        </p:nvSpPr>
        <p:spPr>
          <a:xfrm>
            <a:off x="0" y="3333900"/>
            <a:ext cx="4395300" cy="79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Gaby Dagher, PhD</a:t>
            </a:r>
            <a:br>
              <a:rPr lang="en" sz="2000"/>
            </a:br>
            <a:r>
              <a:rPr b="0" lang="en" sz="1600"/>
              <a:t>ISPM Research Lab</a:t>
            </a:r>
            <a:br>
              <a:rPr b="0" lang="en" sz="1600"/>
            </a:br>
            <a:r>
              <a:rPr b="0" lang="en" sz="1600"/>
              <a:t>Boise State University</a:t>
            </a:r>
            <a:endParaRPr b="0" sz="1600"/>
          </a:p>
        </p:txBody>
      </p:sp>
      <p:sp>
        <p:nvSpPr>
          <p:cNvPr id="102" name="Google Shape;102;p1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BEACON Labs Workshop - Lab 3</a:t>
            </a:r>
            <a:endParaRPr/>
          </a:p>
        </p:txBody>
      </p:sp>
      <p:pic>
        <p:nvPicPr>
          <p:cNvPr id="103" name="Google Shape;103;p14"/>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04" name="Google Shape;104;p14"/>
          <p:cNvSpPr txBox="1"/>
          <p:nvPr/>
        </p:nvSpPr>
        <p:spPr>
          <a:xfrm>
            <a:off x="311700" y="4476900"/>
            <a:ext cx="8520600" cy="39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ontserrat Medium"/>
                <a:ea typeface="Montserrat Medium"/>
                <a:cs typeface="Montserrat Medium"/>
                <a:sym typeface="Montserrat Medium"/>
              </a:rPr>
              <a:t>Created by: </a:t>
            </a:r>
            <a:r>
              <a:rPr lang="en">
                <a:solidFill>
                  <a:schemeClr val="lt1"/>
                </a:solidFill>
                <a:latin typeface="Montserrat Medium"/>
                <a:ea typeface="Montserrat Medium"/>
                <a:cs typeface="Montserrat Medium"/>
                <a:sym typeface="Montserrat Medium"/>
              </a:rPr>
              <a:t>Gunnar Vittrup, </a:t>
            </a:r>
            <a:r>
              <a:rPr lang="en" sz="1600" u="sng">
                <a:solidFill>
                  <a:srgbClr val="FFFFFF"/>
                </a:solidFill>
                <a:latin typeface="Montserrat"/>
                <a:ea typeface="Montserrat"/>
                <a:cs typeface="Montserrat"/>
                <a:sym typeface="Montserrat"/>
                <a:hlinkClick r:id="rId4">
                  <a:extLst>
                    <a:ext uri="{A12FA001-AC4F-418D-AE19-62706E023703}">
                      <ahyp:hlinkClr val="tx"/>
                    </a:ext>
                  </a:extLst>
                </a:hlinkClick>
              </a:rPr>
              <a:t>ISPM Research Lab</a:t>
            </a:r>
            <a:r>
              <a:rPr lang="en">
                <a:solidFill>
                  <a:srgbClr val="FFFFFF"/>
                </a:solidFill>
                <a:latin typeface="Montserrat Medium"/>
                <a:ea typeface="Montserrat Medium"/>
                <a:cs typeface="Montserrat Medium"/>
                <a:sym typeface="Montserrat Medium"/>
              </a:rPr>
              <a:t> </a:t>
            </a:r>
            <a:endParaRPr>
              <a:solidFill>
                <a:srgbClr val="FFFFFF"/>
              </a:solidFill>
              <a:latin typeface="Montserrat Medium"/>
              <a:ea typeface="Montserrat Medium"/>
              <a:cs typeface="Montserrat Medium"/>
              <a:sym typeface="Montserrat Medium"/>
            </a:endParaRPr>
          </a:p>
        </p:txBody>
      </p:sp>
      <p:sp>
        <p:nvSpPr>
          <p:cNvPr id="105" name="Google Shape;105;p14"/>
          <p:cNvSpPr txBox="1"/>
          <p:nvPr>
            <p:ph idx="1" type="subTitle"/>
          </p:nvPr>
        </p:nvSpPr>
        <p:spPr>
          <a:xfrm>
            <a:off x="4169575" y="3333900"/>
            <a:ext cx="4395300" cy="79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Dylan Gresham</a:t>
            </a:r>
            <a:br>
              <a:rPr lang="en" sz="2000"/>
            </a:br>
            <a:r>
              <a:rPr b="0" lang="en" sz="1600"/>
              <a:t>ISPM Research Lab</a:t>
            </a:r>
            <a:br>
              <a:rPr b="0" lang="en" sz="1600"/>
            </a:br>
            <a:r>
              <a:rPr b="0" lang="en" sz="1600"/>
              <a:t>Boise State University</a:t>
            </a:r>
            <a:endParaRPr b="0"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txBox="1"/>
          <p:nvPr>
            <p:ph idx="1" type="subTitle"/>
          </p:nvPr>
        </p:nvSpPr>
        <p:spPr>
          <a:xfrm>
            <a:off x="311700" y="1599325"/>
            <a:ext cx="8438100" cy="3370200"/>
          </a:xfrm>
          <a:prstGeom prst="rect">
            <a:avLst/>
          </a:prstGeom>
        </p:spPr>
        <p:txBody>
          <a:bodyPr anchorCtr="0" anchor="t" bIns="91425" lIns="91425" spcFirstLastPara="1" rIns="91425" wrap="square" tIns="91425">
            <a:noAutofit/>
          </a:bodyPr>
          <a:lstStyle/>
          <a:p>
            <a:pPr indent="-374650" lvl="0" marL="457200" rtl="0" algn="l">
              <a:lnSpc>
                <a:spcPct val="150000"/>
              </a:lnSpc>
              <a:spcBef>
                <a:spcPts val="0"/>
              </a:spcBef>
              <a:spcAft>
                <a:spcPts val="0"/>
              </a:spcAft>
              <a:buSzPts val="2300"/>
              <a:buChar char="●"/>
            </a:pPr>
            <a:r>
              <a:rPr lang="en"/>
              <a:t>Title: </a:t>
            </a:r>
            <a:r>
              <a:rPr b="0" lang="en" u="sng">
                <a:solidFill>
                  <a:srgbClr val="FFFFFF"/>
                </a:solidFill>
                <a:hlinkClick r:id="rId3">
                  <a:extLst>
                    <a:ext uri="{A12FA001-AC4F-418D-AE19-62706E023703}">
                      <ahyp:hlinkClr val="tx"/>
                    </a:ext>
                  </a:extLst>
                </a:hlinkClick>
              </a:rPr>
              <a:t>PHYjacking: Physical Input Hijacking for Zero-Permission Authorization Attacks on Android</a:t>
            </a:r>
            <a:endParaRPr b="0">
              <a:solidFill>
                <a:srgbClr val="FFFFFF"/>
              </a:solidFill>
            </a:endParaRPr>
          </a:p>
          <a:p>
            <a:pPr indent="-374650" lvl="0" marL="457200" rtl="0" algn="l">
              <a:lnSpc>
                <a:spcPct val="150000"/>
              </a:lnSpc>
              <a:spcBef>
                <a:spcPts val="0"/>
              </a:spcBef>
              <a:spcAft>
                <a:spcPts val="0"/>
              </a:spcAft>
              <a:buSzPts val="2300"/>
              <a:buChar char="●"/>
            </a:pPr>
            <a:r>
              <a:rPr lang="en"/>
              <a:t>Authors: </a:t>
            </a:r>
            <a:r>
              <a:rPr b="0" lang="en"/>
              <a:t>Xianbo Wang et al.</a:t>
            </a:r>
            <a:endParaRPr b="0"/>
          </a:p>
          <a:p>
            <a:pPr indent="-374650" lvl="0" marL="457200" rtl="0" algn="l">
              <a:lnSpc>
                <a:spcPct val="150000"/>
              </a:lnSpc>
              <a:spcBef>
                <a:spcPts val="0"/>
              </a:spcBef>
              <a:spcAft>
                <a:spcPts val="0"/>
              </a:spcAft>
              <a:buSzPts val="2300"/>
              <a:buChar char="●"/>
            </a:pPr>
            <a:r>
              <a:rPr lang="en"/>
              <a:t>Conference:</a:t>
            </a:r>
            <a:r>
              <a:rPr b="0" lang="en"/>
              <a:t> NDSS</a:t>
            </a:r>
            <a:endParaRPr b="0"/>
          </a:p>
          <a:p>
            <a:pPr indent="-374650" lvl="0" marL="457200" rtl="0" algn="l">
              <a:lnSpc>
                <a:spcPct val="150000"/>
              </a:lnSpc>
              <a:spcBef>
                <a:spcPts val="0"/>
              </a:spcBef>
              <a:spcAft>
                <a:spcPts val="0"/>
              </a:spcAft>
              <a:buSzPts val="2300"/>
              <a:buChar char="●"/>
            </a:pPr>
            <a:r>
              <a:rPr lang="en"/>
              <a:t>Year:</a:t>
            </a:r>
            <a:r>
              <a:rPr b="0" lang="en"/>
              <a:t> 2022</a:t>
            </a:r>
            <a:endParaRPr b="0"/>
          </a:p>
          <a:p>
            <a:pPr indent="0" lvl="0" marL="0" rtl="0" algn="l">
              <a:spcBef>
                <a:spcPts val="0"/>
              </a:spcBef>
              <a:spcAft>
                <a:spcPts val="0"/>
              </a:spcAft>
              <a:buNone/>
            </a:pPr>
            <a:r>
              <a:t/>
            </a:r>
            <a:endParaRPr b="0" sz="2600"/>
          </a:p>
        </p:txBody>
      </p:sp>
      <p:sp>
        <p:nvSpPr>
          <p:cNvPr id="111" name="Google Shape;111;p1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Source Paper</a:t>
            </a:r>
            <a:endParaRPr/>
          </a:p>
        </p:txBody>
      </p:sp>
      <p:pic>
        <p:nvPicPr>
          <p:cNvPr id="112" name="Google Shape;112;p15"/>
          <p:cNvPicPr preferRelativeResize="0"/>
          <p:nvPr/>
        </p:nvPicPr>
        <p:blipFill>
          <a:blip r:embed="rId4">
            <a:alphaModFix/>
          </a:blip>
          <a:stretch>
            <a:fillRect/>
          </a:stretch>
        </p:blipFill>
        <p:spPr>
          <a:xfrm>
            <a:off x="839025" y="69368"/>
            <a:ext cx="2442750" cy="673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idx="1" type="subTitle"/>
          </p:nvPr>
        </p:nvSpPr>
        <p:spPr>
          <a:xfrm>
            <a:off x="311700" y="1599325"/>
            <a:ext cx="8438100" cy="33702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SzPts val="2300"/>
              <a:buAutoNum type="arabicPeriod"/>
            </a:pPr>
            <a:r>
              <a:rPr lang="en"/>
              <a:t>Download </a:t>
            </a:r>
            <a:r>
              <a:rPr lang="en">
                <a:solidFill>
                  <a:schemeClr val="accent1"/>
                </a:solidFill>
              </a:rPr>
              <a:t>starter code</a:t>
            </a:r>
            <a:r>
              <a:rPr lang="en"/>
              <a:t> for the PHYJacking Activity</a:t>
            </a:r>
            <a:endParaRPr/>
          </a:p>
          <a:p>
            <a:pPr indent="-374650" lvl="0" marL="457200" rtl="0" algn="l">
              <a:spcBef>
                <a:spcPts val="0"/>
              </a:spcBef>
              <a:spcAft>
                <a:spcPts val="0"/>
              </a:spcAft>
              <a:buSzPts val="2300"/>
              <a:buAutoNum type="arabicPeriod"/>
            </a:pPr>
            <a:r>
              <a:rPr lang="en"/>
              <a:t>Download the </a:t>
            </a:r>
            <a:r>
              <a:rPr lang="en">
                <a:solidFill>
                  <a:schemeClr val="accent1"/>
                </a:solidFill>
              </a:rPr>
              <a:t>Android Studio IDE</a:t>
            </a:r>
            <a:endParaRPr>
              <a:solidFill>
                <a:schemeClr val="accent1"/>
              </a:solidFill>
            </a:endParaRPr>
          </a:p>
          <a:p>
            <a:pPr indent="-374650" lvl="0" marL="457200" rtl="0" algn="l">
              <a:spcBef>
                <a:spcPts val="0"/>
              </a:spcBef>
              <a:spcAft>
                <a:spcPts val="0"/>
              </a:spcAft>
              <a:buSzPts val="2300"/>
              <a:buAutoNum type="arabicPeriod"/>
            </a:pPr>
            <a:r>
              <a:rPr lang="en"/>
              <a:t>Open the </a:t>
            </a:r>
            <a:r>
              <a:rPr lang="en">
                <a:solidFill>
                  <a:schemeClr val="accent1"/>
                </a:solidFill>
              </a:rPr>
              <a:t>Instruction Document</a:t>
            </a:r>
            <a:endParaRPr b="0" sz="200"/>
          </a:p>
        </p:txBody>
      </p:sp>
      <p:sp>
        <p:nvSpPr>
          <p:cNvPr id="118" name="Google Shape;118;p1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Preparation</a:t>
            </a:r>
            <a:endParaRPr/>
          </a:p>
        </p:txBody>
      </p:sp>
      <p:pic>
        <p:nvPicPr>
          <p:cNvPr id="119" name="Google Shape;119;p16"/>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sz="2400"/>
              <a:t>Most devices are equipped with one or more of the following: fingerprint sensor, camera, microphone, touch screen</a:t>
            </a:r>
            <a:endParaRPr sz="2400"/>
          </a:p>
          <a:p>
            <a:pPr indent="-381000" lvl="0" marL="457200" rtl="0" algn="l">
              <a:spcBef>
                <a:spcPts val="0"/>
              </a:spcBef>
              <a:spcAft>
                <a:spcPts val="0"/>
              </a:spcAft>
              <a:buSzPts val="2400"/>
              <a:buChar char="●"/>
            </a:pPr>
            <a:r>
              <a:rPr lang="en" sz="2400"/>
              <a:t>Mislead user</a:t>
            </a:r>
            <a:endParaRPr sz="2400"/>
          </a:p>
          <a:p>
            <a:pPr indent="-381000" lvl="0" marL="457200" rtl="0" algn="l">
              <a:spcBef>
                <a:spcPts val="0"/>
              </a:spcBef>
              <a:spcAft>
                <a:spcPts val="0"/>
              </a:spcAft>
              <a:buSzPts val="2400"/>
              <a:buChar char="●"/>
            </a:pPr>
            <a:r>
              <a:rPr lang="en" sz="2400"/>
              <a:t>Zero-permission application</a:t>
            </a:r>
            <a:endParaRPr sz="2400"/>
          </a:p>
          <a:p>
            <a:pPr indent="-381000" lvl="0" marL="457200" rtl="0" algn="l">
              <a:spcBef>
                <a:spcPts val="0"/>
              </a:spcBef>
              <a:spcAft>
                <a:spcPts val="0"/>
              </a:spcAft>
              <a:buSzPts val="2400"/>
              <a:buChar char="●"/>
            </a:pPr>
            <a:r>
              <a:rPr lang="en" sz="2400"/>
              <a:t>“PHYJacking: Physical Input Hijacking for Zero-Permission Authorization Attacks on Android” in the 2021 Network and Distributed System Security Symposium</a:t>
            </a:r>
            <a:endParaRPr sz="2400"/>
          </a:p>
        </p:txBody>
      </p:sp>
      <p:sp>
        <p:nvSpPr>
          <p:cNvPr id="125" name="Google Shape;125;p17"/>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Overview</a:t>
            </a:r>
            <a:endParaRPr/>
          </a:p>
        </p:txBody>
      </p:sp>
      <p:pic>
        <p:nvPicPr>
          <p:cNvPr id="126" name="Google Shape;126;p17"/>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8"/>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32" name="Google Shape;132;p18"/>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Overview Video</a:t>
            </a:r>
            <a:endParaRPr/>
          </a:p>
        </p:txBody>
      </p:sp>
      <p:pic>
        <p:nvPicPr>
          <p:cNvPr id="133" name="Google Shape;133;p18" title="Android Physical Input Hijacking (PHYjacking) Attack Lab">
            <a:hlinkClick r:id="rId4"/>
          </p:cNvPr>
          <p:cNvPicPr preferRelativeResize="0"/>
          <p:nvPr/>
        </p:nvPicPr>
        <p:blipFill>
          <a:blip r:embed="rId5">
            <a:alphaModFix/>
          </a:blip>
          <a:stretch>
            <a:fillRect/>
          </a:stretch>
        </p:blipFill>
        <p:spPr>
          <a:xfrm>
            <a:off x="1998975" y="1786750"/>
            <a:ext cx="5146050" cy="2894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1</a:t>
            </a:r>
            <a:endParaRPr/>
          </a:p>
        </p:txBody>
      </p:sp>
      <p:pic>
        <p:nvPicPr>
          <p:cNvPr id="139" name="Google Shape;139;p19"/>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40" name="Google Shape;140;p19"/>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View Intents</a:t>
            </a:r>
            <a:endParaRPr sz="2400"/>
          </a:p>
          <a:p>
            <a:pPr indent="-381000" lvl="0" marL="457200" rtl="0" algn="l">
              <a:spcBef>
                <a:spcPts val="0"/>
              </a:spcBef>
              <a:spcAft>
                <a:spcPts val="0"/>
              </a:spcAft>
              <a:buSzPts val="2400"/>
              <a:buChar char="●"/>
            </a:pPr>
            <a:r>
              <a:rPr lang="en" sz="2400"/>
              <a:t>Used to sent the user to another app</a:t>
            </a:r>
            <a:endParaRPr sz="2400"/>
          </a:p>
          <a:p>
            <a:pPr indent="-381000" lvl="0" marL="457200" rtl="0" algn="l">
              <a:spcBef>
                <a:spcPts val="0"/>
              </a:spcBef>
              <a:spcAft>
                <a:spcPts val="0"/>
              </a:spcAft>
              <a:buSzPts val="2400"/>
              <a:buChar char="●"/>
            </a:pPr>
            <a:r>
              <a:rPr lang="en" sz="2400"/>
              <a:t>Used to navigate between activities within your app</a:t>
            </a:r>
            <a:endParaRPr sz="2400"/>
          </a:p>
          <a:p>
            <a:pPr indent="-381000" lvl="0" marL="457200" rtl="0" algn="l">
              <a:spcBef>
                <a:spcPts val="0"/>
              </a:spcBef>
              <a:spcAft>
                <a:spcPts val="0"/>
              </a:spcAft>
              <a:buSzPts val="2400"/>
              <a:buChar char="●"/>
            </a:pPr>
            <a:r>
              <a:rPr lang="en" sz="2400"/>
              <a:t>Explicit Intent = exact class name of component</a:t>
            </a:r>
            <a:endParaRPr sz="2400"/>
          </a:p>
          <a:p>
            <a:pPr indent="-342900" lvl="1" marL="914400" rtl="0" algn="l">
              <a:spcBef>
                <a:spcPts val="0"/>
              </a:spcBef>
              <a:spcAft>
                <a:spcPts val="0"/>
              </a:spcAft>
              <a:buClr>
                <a:schemeClr val="lt1"/>
              </a:buClr>
              <a:buSzPts val="1800"/>
              <a:buFont typeface="Roboto Mono Medium"/>
              <a:buChar char="○"/>
            </a:pPr>
            <a:r>
              <a:rPr lang="en" sz="1800">
                <a:solidFill>
                  <a:schemeClr val="lt1"/>
                </a:solidFill>
                <a:highlight>
                  <a:schemeClr val="dk1"/>
                </a:highlight>
                <a:latin typeface="Roboto Mono Medium"/>
                <a:ea typeface="Roboto Mono Medium"/>
                <a:cs typeface="Roboto Mono Medium"/>
                <a:sym typeface="Roboto Mono Medium"/>
              </a:rPr>
              <a:t>new Intent(getApplicationContext(), Example.class);</a:t>
            </a:r>
            <a:endParaRPr sz="1800">
              <a:solidFill>
                <a:schemeClr val="lt1"/>
              </a:solidFill>
              <a:highlight>
                <a:schemeClr val="dk1"/>
              </a:highlight>
              <a:latin typeface="Roboto Mono Medium"/>
              <a:ea typeface="Roboto Mono Medium"/>
              <a:cs typeface="Roboto Mono Medium"/>
              <a:sym typeface="Roboto Mono Medium"/>
            </a:endParaRPr>
          </a:p>
          <a:p>
            <a:pPr indent="-381000" lvl="0" marL="457200" rtl="0" algn="l">
              <a:spcBef>
                <a:spcPts val="0"/>
              </a:spcBef>
              <a:spcAft>
                <a:spcPts val="0"/>
              </a:spcAft>
              <a:buSzPts val="2400"/>
              <a:buChar char="●"/>
            </a:pPr>
            <a:r>
              <a:rPr lang="en" sz="2400"/>
              <a:t>Implicit Intent = no class is named, actions</a:t>
            </a:r>
            <a:endParaRPr sz="2400"/>
          </a:p>
          <a:p>
            <a:pPr indent="-342900" lvl="1" marL="914400" rtl="0" algn="l">
              <a:spcBef>
                <a:spcPts val="0"/>
              </a:spcBef>
              <a:spcAft>
                <a:spcPts val="0"/>
              </a:spcAft>
              <a:buClr>
                <a:schemeClr val="lt1"/>
              </a:buClr>
              <a:buSzPts val="1800"/>
              <a:buFont typeface="Roboto Mono Medium"/>
              <a:buChar char="○"/>
            </a:pPr>
            <a:r>
              <a:rPr lang="en" sz="1800">
                <a:solidFill>
                  <a:schemeClr val="lt1"/>
                </a:solidFill>
                <a:highlight>
                  <a:schemeClr val="dk1"/>
                </a:highlight>
                <a:latin typeface="Roboto Mono Medium"/>
                <a:ea typeface="Roboto Mono Medium"/>
                <a:cs typeface="Roboto Mono Medium"/>
                <a:sym typeface="Roboto Mono Medium"/>
              </a:rPr>
              <a:t>new Intent(Intent.ACTION_VIEW, Uri.parse(url));</a:t>
            </a:r>
            <a:endParaRPr sz="1800">
              <a:solidFill>
                <a:schemeClr val="lt1"/>
              </a:solidFill>
              <a:highlight>
                <a:schemeClr val="dk1"/>
              </a:highlight>
              <a:latin typeface="Roboto Mono Medium"/>
              <a:ea typeface="Roboto Mono Medium"/>
              <a:cs typeface="Roboto Mono Medium"/>
              <a:sym typeface="Roboto Mono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1.1.1</a:t>
            </a:r>
            <a:endParaRPr/>
          </a:p>
        </p:txBody>
      </p:sp>
      <p:pic>
        <p:nvPicPr>
          <p:cNvPr id="146" name="Google Shape;146;p20"/>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47" name="Google Shape;147;p20"/>
          <p:cNvSpPr txBox="1"/>
          <p:nvPr/>
        </p:nvSpPr>
        <p:spPr>
          <a:xfrm>
            <a:off x="156600" y="881750"/>
            <a:ext cx="3807600" cy="9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Find the package name of the target banking application, create a launch intent using it, and store it within a variable to use later.</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1.1.1</a:t>
            </a:r>
            <a:endParaRPr/>
          </a:p>
        </p:txBody>
      </p:sp>
      <p:pic>
        <p:nvPicPr>
          <p:cNvPr id="153" name="Google Shape;153;p21"/>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54" name="Google Shape;154;p21"/>
          <p:cNvSpPr txBox="1"/>
          <p:nvPr/>
        </p:nvSpPr>
        <p:spPr>
          <a:xfrm>
            <a:off x="156600" y="881750"/>
            <a:ext cx="3807600" cy="9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Find the package name of the target banking </a:t>
            </a:r>
            <a:r>
              <a:rPr lang="en">
                <a:solidFill>
                  <a:schemeClr val="lt1"/>
                </a:solidFill>
                <a:latin typeface="Montserrat Medium"/>
                <a:ea typeface="Montserrat Medium"/>
                <a:cs typeface="Montserrat Medium"/>
                <a:sym typeface="Montserrat Medium"/>
              </a:rPr>
              <a:t>application, create a launch intent using it, and store it within a variable to use later.</a:t>
            </a:r>
            <a:endParaRPr>
              <a:solidFill>
                <a:schemeClr val="lt1"/>
              </a:solidFill>
              <a:latin typeface="Montserrat Medium"/>
              <a:ea typeface="Montserrat Medium"/>
              <a:cs typeface="Montserrat Medium"/>
              <a:sym typeface="Montserrat Medium"/>
            </a:endParaRPr>
          </a:p>
        </p:txBody>
      </p:sp>
      <p:pic>
        <p:nvPicPr>
          <p:cNvPr id="155" name="Google Shape;155;p21"/>
          <p:cNvPicPr preferRelativeResize="0"/>
          <p:nvPr/>
        </p:nvPicPr>
        <p:blipFill>
          <a:blip r:embed="rId4">
            <a:alphaModFix/>
          </a:blip>
          <a:stretch>
            <a:fillRect/>
          </a:stretch>
        </p:blipFill>
        <p:spPr>
          <a:xfrm>
            <a:off x="1066800" y="2199250"/>
            <a:ext cx="7010400" cy="2533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1</a:t>
            </a:r>
            <a:endParaRPr/>
          </a:p>
        </p:txBody>
      </p:sp>
      <p:pic>
        <p:nvPicPr>
          <p:cNvPr id="161" name="Google Shape;161;p22"/>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62" name="Google Shape;162;p22"/>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400"/>
              <a:t>Flags control specific behavior</a:t>
            </a:r>
            <a:endParaRPr sz="2400"/>
          </a:p>
          <a:p>
            <a:pPr indent="-381000" lvl="1" marL="914400" rtl="0" algn="l">
              <a:spcBef>
                <a:spcPts val="0"/>
              </a:spcBef>
              <a:spcAft>
                <a:spcPts val="0"/>
              </a:spcAft>
              <a:buClr>
                <a:schemeClr val="lt1"/>
              </a:buClr>
              <a:buSzPts val="2400"/>
              <a:buChar char="○"/>
            </a:pPr>
            <a:r>
              <a:rPr lang="en" sz="2400">
                <a:solidFill>
                  <a:schemeClr val="lt1"/>
                </a:solidFill>
              </a:rPr>
              <a:t>FLAG_ACTIVITY_NO_ANIMATION</a:t>
            </a:r>
            <a:endParaRPr sz="2400">
              <a:solidFill>
                <a:schemeClr val="lt1"/>
              </a:solidFill>
            </a:endParaRPr>
          </a:p>
          <a:p>
            <a:pPr indent="-381000" lvl="2" marL="1371600" rtl="0" algn="l">
              <a:spcBef>
                <a:spcPts val="0"/>
              </a:spcBef>
              <a:spcAft>
                <a:spcPts val="0"/>
              </a:spcAft>
              <a:buClr>
                <a:schemeClr val="lt1"/>
              </a:buClr>
              <a:buSzPts val="2400"/>
              <a:buChar char="■"/>
            </a:pPr>
            <a:r>
              <a:rPr lang="en" sz="2400">
                <a:solidFill>
                  <a:schemeClr val="lt1"/>
                </a:solidFill>
              </a:rPr>
              <a:t>No transition to the next activity state</a:t>
            </a:r>
            <a:endParaRPr sz="2400">
              <a:solidFill>
                <a:schemeClr val="lt1"/>
              </a:solidFill>
            </a:endParaRPr>
          </a:p>
          <a:p>
            <a:pPr indent="-381000" lvl="1" marL="914400" rtl="0" algn="l">
              <a:spcBef>
                <a:spcPts val="0"/>
              </a:spcBef>
              <a:spcAft>
                <a:spcPts val="0"/>
              </a:spcAft>
              <a:buClr>
                <a:schemeClr val="lt1"/>
              </a:buClr>
              <a:buSzPts val="2400"/>
              <a:buChar char="○"/>
            </a:pPr>
            <a:r>
              <a:rPr lang="en" sz="2400">
                <a:solidFill>
                  <a:schemeClr val="lt1"/>
                </a:solidFill>
              </a:rPr>
              <a:t>FLAG_ACTIVITY_NEW_TASK</a:t>
            </a:r>
            <a:endParaRPr sz="2400">
              <a:solidFill>
                <a:schemeClr val="lt1"/>
              </a:solidFill>
            </a:endParaRPr>
          </a:p>
          <a:p>
            <a:pPr indent="-381000" lvl="2" marL="1371600" rtl="0" algn="l">
              <a:spcBef>
                <a:spcPts val="0"/>
              </a:spcBef>
              <a:spcAft>
                <a:spcPts val="0"/>
              </a:spcAft>
              <a:buClr>
                <a:schemeClr val="lt1"/>
              </a:buClr>
              <a:buSzPts val="2400"/>
              <a:buChar char="■"/>
            </a:pPr>
            <a:r>
              <a:rPr lang="en" sz="2400">
                <a:solidFill>
                  <a:schemeClr val="lt1"/>
                </a:solidFill>
              </a:rPr>
              <a:t>Start a new task on this history stack</a:t>
            </a:r>
            <a:endParaRPr sz="2400">
              <a:solidFill>
                <a:schemeClr val="lt1"/>
              </a:solidFill>
            </a:endParaRPr>
          </a:p>
          <a:p>
            <a:pPr indent="-381000" lvl="1" marL="914400" rtl="0" algn="l">
              <a:spcBef>
                <a:spcPts val="0"/>
              </a:spcBef>
              <a:spcAft>
                <a:spcPts val="0"/>
              </a:spcAft>
              <a:buClr>
                <a:schemeClr val="lt1"/>
              </a:buClr>
              <a:buSzPts val="2400"/>
              <a:buChar char="○"/>
            </a:pPr>
            <a:r>
              <a:rPr lang="en" sz="2400">
                <a:solidFill>
                  <a:schemeClr val="lt1"/>
                </a:solidFill>
              </a:rPr>
              <a:t>FLAG_ACTIVITY_MULTIPLE_TASK</a:t>
            </a:r>
            <a:endParaRPr sz="2400">
              <a:solidFill>
                <a:schemeClr val="lt1"/>
              </a:solidFill>
            </a:endParaRPr>
          </a:p>
          <a:p>
            <a:pPr indent="-381000" lvl="2" marL="1371600" rtl="0" algn="l">
              <a:spcBef>
                <a:spcPts val="0"/>
              </a:spcBef>
              <a:spcAft>
                <a:spcPts val="0"/>
              </a:spcAft>
              <a:buClr>
                <a:schemeClr val="lt1"/>
              </a:buClr>
              <a:buSzPts val="2400"/>
              <a:buChar char="■"/>
            </a:pPr>
            <a:r>
              <a:rPr lang="en" sz="2400">
                <a:solidFill>
                  <a:schemeClr val="lt1"/>
                </a:solidFill>
              </a:rPr>
              <a:t>Create a new task and launch into it</a:t>
            </a:r>
            <a:endParaRPr sz="24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1.1.2</a:t>
            </a:r>
            <a:endParaRPr/>
          </a:p>
        </p:txBody>
      </p:sp>
      <p:pic>
        <p:nvPicPr>
          <p:cNvPr id="168" name="Google Shape;168;p23"/>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69" name="Google Shape;169;p23"/>
          <p:cNvSpPr txBox="1"/>
          <p:nvPr/>
        </p:nvSpPr>
        <p:spPr>
          <a:xfrm>
            <a:off x="156600" y="881750"/>
            <a:ext cx="3807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Set the necessary flags on the target application launch intent.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1.1.2</a:t>
            </a:r>
            <a:endParaRPr/>
          </a:p>
        </p:txBody>
      </p:sp>
      <p:pic>
        <p:nvPicPr>
          <p:cNvPr id="175" name="Google Shape;175;p24"/>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176" name="Google Shape;176;p24"/>
          <p:cNvPicPr preferRelativeResize="0"/>
          <p:nvPr/>
        </p:nvPicPr>
        <p:blipFill>
          <a:blip r:embed="rId4">
            <a:alphaModFix/>
          </a:blip>
          <a:stretch>
            <a:fillRect/>
          </a:stretch>
        </p:blipFill>
        <p:spPr>
          <a:xfrm>
            <a:off x="2105063" y="1567275"/>
            <a:ext cx="4933868" cy="3390350"/>
          </a:xfrm>
          <a:prstGeom prst="rect">
            <a:avLst/>
          </a:prstGeom>
          <a:noFill/>
          <a:ln>
            <a:noFill/>
          </a:ln>
        </p:spPr>
      </p:pic>
      <p:sp>
        <p:nvSpPr>
          <p:cNvPr id="177" name="Google Shape;177;p24"/>
          <p:cNvSpPr txBox="1"/>
          <p:nvPr/>
        </p:nvSpPr>
        <p:spPr>
          <a:xfrm>
            <a:off x="156600" y="881750"/>
            <a:ext cx="3807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Set the necessary flags on the target application launch intent.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1.1.3</a:t>
            </a:r>
            <a:endParaRPr/>
          </a:p>
        </p:txBody>
      </p:sp>
      <p:pic>
        <p:nvPicPr>
          <p:cNvPr id="183" name="Google Shape;183;p25"/>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84" name="Google Shape;184;p25"/>
          <p:cNvSpPr txBox="1"/>
          <p:nvPr/>
        </p:nvSpPr>
        <p:spPr>
          <a:xfrm>
            <a:off x="156600" y="881750"/>
            <a:ext cx="3807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Create a launch intent for the covering activity and set the necessary flags.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1.1.3</a:t>
            </a:r>
            <a:endParaRPr/>
          </a:p>
        </p:txBody>
      </p:sp>
      <p:pic>
        <p:nvPicPr>
          <p:cNvPr id="190" name="Google Shape;190;p26"/>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191" name="Google Shape;191;p26"/>
          <p:cNvPicPr preferRelativeResize="0"/>
          <p:nvPr/>
        </p:nvPicPr>
        <p:blipFill>
          <a:blip r:embed="rId4">
            <a:alphaModFix/>
          </a:blip>
          <a:stretch>
            <a:fillRect/>
          </a:stretch>
        </p:blipFill>
        <p:spPr>
          <a:xfrm>
            <a:off x="866775" y="1573950"/>
            <a:ext cx="7410450" cy="3324225"/>
          </a:xfrm>
          <a:prstGeom prst="rect">
            <a:avLst/>
          </a:prstGeom>
          <a:noFill/>
          <a:ln>
            <a:noFill/>
          </a:ln>
        </p:spPr>
      </p:pic>
      <p:sp>
        <p:nvSpPr>
          <p:cNvPr id="192" name="Google Shape;192;p26"/>
          <p:cNvSpPr txBox="1"/>
          <p:nvPr/>
        </p:nvSpPr>
        <p:spPr>
          <a:xfrm>
            <a:off x="156600" y="881750"/>
            <a:ext cx="3807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Create a launch intent for the covering activity and set the necessary flags.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7"/>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1</a:t>
            </a:r>
            <a:endParaRPr/>
          </a:p>
        </p:txBody>
      </p:sp>
      <p:pic>
        <p:nvPicPr>
          <p:cNvPr id="198" name="Google Shape;198;p27"/>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199" name="Google Shape;199;p27"/>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WindowManager</a:t>
            </a:r>
            <a:endParaRPr sz="2400"/>
          </a:p>
          <a:p>
            <a:pPr indent="-381000" lvl="0" marL="457200" rtl="0" algn="l">
              <a:spcBef>
                <a:spcPts val="0"/>
              </a:spcBef>
              <a:spcAft>
                <a:spcPts val="0"/>
              </a:spcAft>
              <a:buSzPts val="2400"/>
              <a:buChar char="●"/>
            </a:pPr>
            <a:r>
              <a:rPr lang="en" sz="2400"/>
              <a:t>Manages windows</a:t>
            </a:r>
            <a:endParaRPr sz="2400"/>
          </a:p>
          <a:p>
            <a:pPr indent="0" lvl="0" marL="0" rtl="0" algn="l">
              <a:spcBef>
                <a:spcPts val="0"/>
              </a:spcBef>
              <a:spcAft>
                <a:spcPts val="0"/>
              </a:spcAft>
              <a:buNone/>
            </a:pPr>
            <a:r>
              <a:rPr lang="en" sz="2400"/>
              <a:t>Flags:</a:t>
            </a:r>
            <a:endParaRPr sz="2400"/>
          </a:p>
          <a:p>
            <a:pPr indent="-381000" lvl="0" marL="457200" rtl="0" algn="l">
              <a:spcBef>
                <a:spcPts val="0"/>
              </a:spcBef>
              <a:spcAft>
                <a:spcPts val="0"/>
              </a:spcAft>
              <a:buSzPts val="2400"/>
              <a:buChar char="●"/>
            </a:pPr>
            <a:r>
              <a:rPr lang="en" sz="2400"/>
              <a:t>FLAG_NOT_TOUCH_MODAL</a:t>
            </a:r>
            <a:endParaRPr sz="2400"/>
          </a:p>
          <a:p>
            <a:pPr indent="-381000" lvl="1" marL="914400" rtl="0" algn="l">
              <a:spcBef>
                <a:spcPts val="0"/>
              </a:spcBef>
              <a:spcAft>
                <a:spcPts val="0"/>
              </a:spcAft>
              <a:buSzPts val="2400"/>
              <a:buChar char="○"/>
            </a:pPr>
            <a:r>
              <a:rPr lang="en" sz="2400"/>
              <a:t>Allows pointer events to be sent to the windows behind it</a:t>
            </a:r>
            <a:endParaRPr sz="2400"/>
          </a:p>
          <a:p>
            <a:pPr indent="-381000" lvl="0" marL="457200" rtl="0" algn="l">
              <a:spcBef>
                <a:spcPts val="0"/>
              </a:spcBef>
              <a:spcAft>
                <a:spcPts val="0"/>
              </a:spcAft>
              <a:buSzPts val="2400"/>
              <a:buChar char="●"/>
            </a:pPr>
            <a:r>
              <a:rPr lang="en" sz="2400"/>
              <a:t>FLAG_NOT_TOUCHABLE</a:t>
            </a:r>
            <a:endParaRPr sz="2400"/>
          </a:p>
          <a:p>
            <a:pPr indent="-381000" lvl="1" marL="914400" rtl="0" algn="l">
              <a:spcBef>
                <a:spcPts val="0"/>
              </a:spcBef>
              <a:spcAft>
                <a:spcPts val="0"/>
              </a:spcAft>
              <a:buSzPts val="2400"/>
              <a:buChar char="○"/>
            </a:pPr>
            <a:r>
              <a:rPr lang="en" sz="2400"/>
              <a:t>Leaves touches to be handled by a window below this one</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8"/>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1.2.1</a:t>
            </a:r>
            <a:endParaRPr/>
          </a:p>
        </p:txBody>
      </p:sp>
      <p:pic>
        <p:nvPicPr>
          <p:cNvPr id="205" name="Google Shape;205;p28"/>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06" name="Google Shape;206;p28"/>
          <p:cNvSpPr txBox="1"/>
          <p:nvPr/>
        </p:nvSpPr>
        <p:spPr>
          <a:xfrm>
            <a:off x="156600" y="881750"/>
            <a:ext cx="3807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Set the flags for your covering activity.</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1.2.1</a:t>
            </a:r>
            <a:endParaRPr/>
          </a:p>
        </p:txBody>
      </p:sp>
      <p:pic>
        <p:nvPicPr>
          <p:cNvPr id="212" name="Google Shape;212;p29"/>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213" name="Google Shape;213;p29"/>
          <p:cNvPicPr preferRelativeResize="0"/>
          <p:nvPr/>
        </p:nvPicPr>
        <p:blipFill>
          <a:blip r:embed="rId4">
            <a:alphaModFix/>
          </a:blip>
          <a:stretch>
            <a:fillRect/>
          </a:stretch>
        </p:blipFill>
        <p:spPr>
          <a:xfrm>
            <a:off x="2325800" y="1560575"/>
            <a:ext cx="4492405" cy="3390350"/>
          </a:xfrm>
          <a:prstGeom prst="rect">
            <a:avLst/>
          </a:prstGeom>
          <a:noFill/>
          <a:ln>
            <a:noFill/>
          </a:ln>
        </p:spPr>
      </p:pic>
      <p:sp>
        <p:nvSpPr>
          <p:cNvPr id="214" name="Google Shape;214;p29"/>
          <p:cNvSpPr txBox="1"/>
          <p:nvPr/>
        </p:nvSpPr>
        <p:spPr>
          <a:xfrm>
            <a:off x="156600" y="881750"/>
            <a:ext cx="3807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Set the flags for your covering activity.</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0"/>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2</a:t>
            </a:r>
            <a:endParaRPr/>
          </a:p>
        </p:txBody>
      </p:sp>
      <p:pic>
        <p:nvPicPr>
          <p:cNvPr id="220" name="Google Shape;220;p30"/>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21" name="Google Shape;221;p30"/>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onPause( )</a:t>
            </a:r>
            <a:endParaRPr sz="2400"/>
          </a:p>
          <a:p>
            <a:pPr indent="-381000" lvl="0" marL="457200" rtl="0" algn="l">
              <a:spcBef>
                <a:spcPts val="0"/>
              </a:spcBef>
              <a:spcAft>
                <a:spcPts val="0"/>
              </a:spcAft>
              <a:buSzPts val="2400"/>
              <a:buChar char="●"/>
            </a:pPr>
            <a:r>
              <a:rPr lang="en" sz="2400"/>
              <a:t>Part of the Android App Lifecycle</a:t>
            </a:r>
            <a:endParaRPr sz="2400"/>
          </a:p>
          <a:p>
            <a:pPr indent="-381000" lvl="0" marL="457200" rtl="0" algn="l">
              <a:spcBef>
                <a:spcPts val="0"/>
              </a:spcBef>
              <a:spcAft>
                <a:spcPts val="0"/>
              </a:spcAft>
              <a:buSzPts val="2400"/>
              <a:buChar char="●"/>
            </a:pPr>
            <a:r>
              <a:rPr lang="en" sz="2400"/>
              <a:t>First indication that user is leaving an activity</a:t>
            </a:r>
            <a:endParaRPr sz="2400"/>
          </a:p>
          <a:p>
            <a:pPr indent="-381000" lvl="0" marL="457200" rtl="0" algn="l">
              <a:spcBef>
                <a:spcPts val="0"/>
              </a:spcBef>
              <a:spcAft>
                <a:spcPts val="0"/>
              </a:spcAft>
              <a:buSzPts val="2400"/>
              <a:buChar char="●"/>
            </a:pPr>
            <a:r>
              <a:rPr lang="en" sz="2400"/>
              <a:t>Indicates app isn’t in the foreground</a:t>
            </a:r>
            <a:endParaRPr sz="2400"/>
          </a:p>
          <a:p>
            <a:pPr indent="-381000" lvl="0" marL="457200" rtl="0" algn="l">
              <a:spcBef>
                <a:spcPts val="0"/>
              </a:spcBef>
              <a:spcAft>
                <a:spcPts val="0"/>
              </a:spcAft>
              <a:buSzPts val="2400"/>
              <a:buChar char="●"/>
            </a:pPr>
            <a:r>
              <a:rPr lang="en" sz="2400"/>
              <a:t>Still visible if user is in multi-window mode</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1"/>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2</a:t>
            </a:r>
            <a:endParaRPr/>
          </a:p>
        </p:txBody>
      </p:sp>
      <p:pic>
        <p:nvPicPr>
          <p:cNvPr id="227" name="Google Shape;227;p31"/>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28" name="Google Shape;228;p31"/>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Tricking the User with an Overlay</a:t>
            </a:r>
            <a:endParaRPr sz="2400"/>
          </a:p>
          <a:p>
            <a:pPr indent="-381000" lvl="0" marL="457200" rtl="0" algn="l">
              <a:spcBef>
                <a:spcPts val="0"/>
              </a:spcBef>
              <a:spcAft>
                <a:spcPts val="0"/>
              </a:spcAft>
              <a:buSzPts val="2400"/>
              <a:buChar char="●"/>
            </a:pPr>
            <a:r>
              <a:rPr lang="en" sz="2400"/>
              <a:t>Building an overlay</a:t>
            </a:r>
            <a:endParaRPr sz="2400"/>
          </a:p>
          <a:p>
            <a:pPr indent="-381000" lvl="0" marL="457200" rtl="0" algn="l">
              <a:spcBef>
                <a:spcPts val="0"/>
              </a:spcBef>
              <a:spcAft>
                <a:spcPts val="0"/>
              </a:spcAft>
              <a:buSzPts val="2400"/>
              <a:buChar char="●"/>
            </a:pPr>
            <a:r>
              <a:rPr lang="en" sz="2400"/>
              <a:t>Tricks user into touching the screen where we want them to</a:t>
            </a:r>
            <a:endParaRPr sz="2400"/>
          </a:p>
          <a:p>
            <a:pPr indent="-381000" lvl="0" marL="457200" rtl="0" algn="l">
              <a:spcBef>
                <a:spcPts val="0"/>
              </a:spcBef>
              <a:spcAft>
                <a:spcPts val="0"/>
              </a:spcAft>
              <a:buSzPts val="2400"/>
              <a:buChar char="●"/>
            </a:pPr>
            <a:r>
              <a:rPr lang="en" sz="2400"/>
              <a:t>If we know the underlying app (target app) then we can make users do things like payments</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2.1.1</a:t>
            </a:r>
            <a:endParaRPr/>
          </a:p>
        </p:txBody>
      </p:sp>
      <p:pic>
        <p:nvPicPr>
          <p:cNvPr id="234" name="Google Shape;234;p32"/>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35" name="Google Shape;235;p32"/>
          <p:cNvSpPr txBox="1"/>
          <p:nvPr/>
        </p:nvSpPr>
        <p:spPr>
          <a:xfrm>
            <a:off x="4642050" y="1529700"/>
            <a:ext cx="3807600" cy="7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Create a class and a global variable to keep track of the number of screen transitions.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3"/>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2.1.1</a:t>
            </a:r>
            <a:endParaRPr/>
          </a:p>
        </p:txBody>
      </p:sp>
      <p:pic>
        <p:nvPicPr>
          <p:cNvPr id="241" name="Google Shape;241;p33"/>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242" name="Google Shape;242;p33"/>
          <p:cNvPicPr preferRelativeResize="0"/>
          <p:nvPr/>
        </p:nvPicPr>
        <p:blipFill>
          <a:blip r:embed="rId4">
            <a:alphaModFix/>
          </a:blip>
          <a:stretch>
            <a:fillRect/>
          </a:stretch>
        </p:blipFill>
        <p:spPr>
          <a:xfrm>
            <a:off x="72025" y="1102678"/>
            <a:ext cx="4190400" cy="3826672"/>
          </a:xfrm>
          <a:prstGeom prst="rect">
            <a:avLst/>
          </a:prstGeom>
          <a:noFill/>
          <a:ln>
            <a:noFill/>
          </a:ln>
        </p:spPr>
      </p:pic>
      <p:sp>
        <p:nvSpPr>
          <p:cNvPr id="243" name="Google Shape;243;p33"/>
          <p:cNvSpPr txBox="1"/>
          <p:nvPr/>
        </p:nvSpPr>
        <p:spPr>
          <a:xfrm>
            <a:off x="4642050" y="1529700"/>
            <a:ext cx="3807600" cy="7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Create a class and a global variable to keep track of the number of screen transitions.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2.1.2</a:t>
            </a:r>
            <a:endParaRPr/>
          </a:p>
        </p:txBody>
      </p:sp>
      <p:pic>
        <p:nvPicPr>
          <p:cNvPr id="249" name="Google Shape;249;p34"/>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50" name="Google Shape;250;p34"/>
          <p:cNvSpPr txBox="1"/>
          <p:nvPr/>
        </p:nvSpPr>
        <p:spPr>
          <a:xfrm>
            <a:off x="4642050" y="1529700"/>
            <a:ext cx="3807600" cy="16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Create a static public method that returns your class type called </a:t>
            </a:r>
            <a:r>
              <a:rPr i="1" lang="en">
                <a:solidFill>
                  <a:schemeClr val="lt1"/>
                </a:solidFill>
                <a:latin typeface="Montserrat Medium"/>
                <a:ea typeface="Montserrat Medium"/>
                <a:cs typeface="Montserrat Medium"/>
                <a:sym typeface="Montserrat Medium"/>
              </a:rPr>
              <a:t>getInstance( )</a:t>
            </a:r>
            <a:r>
              <a:rPr lang="en">
                <a:solidFill>
                  <a:schemeClr val="lt1"/>
                </a:solidFill>
                <a:latin typeface="Montserrat Medium"/>
                <a:ea typeface="Montserrat Medium"/>
                <a:cs typeface="Montserrat Medium"/>
                <a:sym typeface="Montserrat Medium"/>
              </a:rPr>
              <a:t>. This method should check to see if your previously created class object is null; if so, it sets instance to a new object, otherwise it simply returns the existing object.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2.1.2</a:t>
            </a:r>
            <a:endParaRPr/>
          </a:p>
        </p:txBody>
      </p:sp>
      <p:pic>
        <p:nvPicPr>
          <p:cNvPr id="256" name="Google Shape;256;p35"/>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257" name="Google Shape;257;p35"/>
          <p:cNvPicPr preferRelativeResize="0"/>
          <p:nvPr/>
        </p:nvPicPr>
        <p:blipFill>
          <a:blip r:embed="rId4">
            <a:alphaModFix/>
          </a:blip>
          <a:stretch>
            <a:fillRect/>
          </a:stretch>
        </p:blipFill>
        <p:spPr>
          <a:xfrm>
            <a:off x="506950" y="935093"/>
            <a:ext cx="3106896" cy="4096183"/>
          </a:xfrm>
          <a:prstGeom prst="rect">
            <a:avLst/>
          </a:prstGeom>
          <a:noFill/>
          <a:ln>
            <a:noFill/>
          </a:ln>
        </p:spPr>
      </p:pic>
      <p:sp>
        <p:nvSpPr>
          <p:cNvPr id="258" name="Google Shape;258;p35"/>
          <p:cNvSpPr txBox="1"/>
          <p:nvPr/>
        </p:nvSpPr>
        <p:spPr>
          <a:xfrm>
            <a:off x="4642050" y="1529700"/>
            <a:ext cx="3807600" cy="16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Create a </a:t>
            </a:r>
            <a:r>
              <a:rPr lang="en">
                <a:solidFill>
                  <a:schemeClr val="lt1"/>
                </a:solidFill>
                <a:latin typeface="Montserrat Medium"/>
                <a:ea typeface="Montserrat Medium"/>
                <a:cs typeface="Montserrat Medium"/>
                <a:sym typeface="Montserrat Medium"/>
              </a:rPr>
              <a:t>static</a:t>
            </a:r>
            <a:r>
              <a:rPr lang="en">
                <a:solidFill>
                  <a:schemeClr val="lt1"/>
                </a:solidFill>
                <a:latin typeface="Montserrat Medium"/>
                <a:ea typeface="Montserrat Medium"/>
                <a:cs typeface="Montserrat Medium"/>
                <a:sym typeface="Montserrat Medium"/>
              </a:rPr>
              <a:t> public method that returns your class type called </a:t>
            </a:r>
            <a:r>
              <a:rPr i="1" lang="en">
                <a:solidFill>
                  <a:schemeClr val="lt1"/>
                </a:solidFill>
                <a:latin typeface="Montserrat Medium"/>
                <a:ea typeface="Montserrat Medium"/>
                <a:cs typeface="Montserrat Medium"/>
                <a:sym typeface="Montserrat Medium"/>
              </a:rPr>
              <a:t>getInstance( )</a:t>
            </a:r>
            <a:r>
              <a:rPr lang="en">
                <a:solidFill>
                  <a:schemeClr val="lt1"/>
                </a:solidFill>
                <a:latin typeface="Montserrat Medium"/>
                <a:ea typeface="Montserrat Medium"/>
                <a:cs typeface="Montserrat Medium"/>
                <a:sym typeface="Montserrat Medium"/>
              </a:rPr>
              <a:t>. This method should check to see if your previously created class object is null; if so, it sets instance to a new object, otherwise it simply returns the existing object.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2</a:t>
            </a:r>
            <a:endParaRPr/>
          </a:p>
        </p:txBody>
      </p:sp>
      <p:pic>
        <p:nvPicPr>
          <p:cNvPr id="264" name="Google Shape;264;p36"/>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65" name="Google Shape;265;p36"/>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Logcat</a:t>
            </a:r>
            <a:endParaRPr sz="2400"/>
          </a:p>
          <a:p>
            <a:pPr indent="-381000" lvl="0" marL="457200" rtl="0" algn="l">
              <a:spcBef>
                <a:spcPts val="0"/>
              </a:spcBef>
              <a:spcAft>
                <a:spcPts val="0"/>
              </a:spcAft>
              <a:buSzPts val="2400"/>
              <a:buChar char="●"/>
            </a:pPr>
            <a:r>
              <a:rPr lang="en" sz="2400"/>
              <a:t>Built into Android Studio</a:t>
            </a:r>
            <a:endParaRPr sz="2400"/>
          </a:p>
          <a:p>
            <a:pPr indent="-381000" lvl="0" marL="457200" rtl="0" algn="l">
              <a:spcBef>
                <a:spcPts val="0"/>
              </a:spcBef>
              <a:spcAft>
                <a:spcPts val="0"/>
              </a:spcAft>
              <a:buSzPts val="2400"/>
              <a:buChar char="●"/>
            </a:pPr>
            <a:r>
              <a:rPr lang="en" sz="2400"/>
              <a:t>Captures any and all messages from the </a:t>
            </a:r>
            <a:r>
              <a:rPr i="1" lang="en" sz="2400"/>
              <a:t>Log</a:t>
            </a:r>
            <a:r>
              <a:rPr lang="en" sz="2400"/>
              <a:t> class</a:t>
            </a:r>
            <a:endParaRPr sz="2400"/>
          </a:p>
          <a:p>
            <a:pPr indent="-381000" lvl="0" marL="457200" rtl="0" algn="l">
              <a:spcBef>
                <a:spcPts val="0"/>
              </a:spcBef>
              <a:spcAft>
                <a:spcPts val="0"/>
              </a:spcAft>
              <a:buSzPts val="2400"/>
              <a:buChar char="●"/>
            </a:pPr>
            <a:r>
              <a:rPr lang="en" sz="2400"/>
              <a:t>Has different log message types:</a:t>
            </a:r>
            <a:endParaRPr sz="2400"/>
          </a:p>
          <a:p>
            <a:pPr indent="-355600" lvl="1" marL="914400" rtl="0" algn="l">
              <a:spcBef>
                <a:spcPts val="0"/>
              </a:spcBef>
              <a:spcAft>
                <a:spcPts val="0"/>
              </a:spcAft>
              <a:buSzPts val="2000"/>
              <a:buChar char="○"/>
            </a:pPr>
            <a:r>
              <a:rPr lang="en" sz="2000"/>
              <a:t>d - Debug</a:t>
            </a:r>
            <a:endParaRPr sz="2000"/>
          </a:p>
          <a:p>
            <a:pPr indent="-355600" lvl="1" marL="914400" rtl="0" algn="l">
              <a:spcBef>
                <a:spcPts val="0"/>
              </a:spcBef>
              <a:spcAft>
                <a:spcPts val="0"/>
              </a:spcAft>
              <a:buSzPts val="2000"/>
              <a:buChar char="○"/>
            </a:pPr>
            <a:r>
              <a:rPr lang="en" sz="2000"/>
              <a:t>e - Error</a:t>
            </a:r>
            <a:endParaRPr sz="2000"/>
          </a:p>
          <a:p>
            <a:pPr indent="-355600" lvl="1" marL="914400" rtl="0" algn="l">
              <a:spcBef>
                <a:spcPts val="0"/>
              </a:spcBef>
              <a:spcAft>
                <a:spcPts val="0"/>
              </a:spcAft>
              <a:buSzPts val="2000"/>
              <a:buChar char="○"/>
            </a:pPr>
            <a:r>
              <a:rPr lang="en" sz="2000"/>
              <a:t>i - Info</a:t>
            </a:r>
            <a:endParaRPr sz="2000"/>
          </a:p>
          <a:p>
            <a:pPr indent="-355600" lvl="1" marL="914400" rtl="0" algn="l">
              <a:spcBef>
                <a:spcPts val="0"/>
              </a:spcBef>
              <a:spcAft>
                <a:spcPts val="0"/>
              </a:spcAft>
              <a:buSzPts val="2000"/>
              <a:buChar char="○"/>
            </a:pPr>
            <a:r>
              <a:rPr lang="en" sz="2000"/>
              <a:t>v - Verbose</a:t>
            </a:r>
            <a:endParaRPr sz="2000"/>
          </a:p>
          <a:p>
            <a:pPr indent="-355600" lvl="1" marL="914400" rtl="0" algn="l">
              <a:spcBef>
                <a:spcPts val="0"/>
              </a:spcBef>
              <a:spcAft>
                <a:spcPts val="0"/>
              </a:spcAft>
              <a:buSzPts val="2000"/>
              <a:buChar char="○"/>
            </a:pPr>
            <a:r>
              <a:rPr lang="en" sz="2000"/>
              <a:t>w - Warn</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7"/>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2.1.3</a:t>
            </a:r>
            <a:endParaRPr/>
          </a:p>
        </p:txBody>
      </p:sp>
      <p:pic>
        <p:nvPicPr>
          <p:cNvPr id="271" name="Google Shape;271;p37"/>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72" name="Google Shape;272;p37"/>
          <p:cNvSpPr txBox="1"/>
          <p:nvPr/>
        </p:nvSpPr>
        <p:spPr>
          <a:xfrm>
            <a:off x="156600" y="881750"/>
            <a:ext cx="3807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Update the </a:t>
            </a:r>
            <a:r>
              <a:rPr i="1" lang="en">
                <a:solidFill>
                  <a:schemeClr val="lt1"/>
                </a:solidFill>
                <a:latin typeface="Montserrat Medium"/>
                <a:ea typeface="Montserrat Medium"/>
                <a:cs typeface="Montserrat Medium"/>
                <a:sym typeface="Montserrat Medium"/>
              </a:rPr>
              <a:t>onPause( )</a:t>
            </a:r>
            <a:r>
              <a:rPr lang="en">
                <a:solidFill>
                  <a:schemeClr val="lt1"/>
                </a:solidFill>
                <a:latin typeface="Montserrat Medium"/>
                <a:ea typeface="Montserrat Medium"/>
                <a:cs typeface="Montserrat Medium"/>
                <a:sym typeface="Montserrat Medium"/>
              </a:rPr>
              <a:t> function in </a:t>
            </a:r>
            <a:r>
              <a:rPr i="1" lang="en">
                <a:solidFill>
                  <a:schemeClr val="lt1"/>
                </a:solidFill>
                <a:latin typeface="Montserrat Medium"/>
                <a:ea typeface="Montserrat Medium"/>
                <a:cs typeface="Montserrat Medium"/>
                <a:sym typeface="Montserrat Medium"/>
              </a:rPr>
              <a:t>CoveringActivity.java</a:t>
            </a:r>
            <a:r>
              <a:rPr lang="en">
                <a:solidFill>
                  <a:schemeClr val="lt1"/>
                </a:solidFill>
                <a:latin typeface="Montserrat Medium"/>
                <a:ea typeface="Montserrat Medium"/>
                <a:cs typeface="Montserrat Medium"/>
                <a:sym typeface="Montserrat Medium"/>
              </a:rPr>
              <a:t> to increment and log the </a:t>
            </a:r>
            <a:r>
              <a:rPr i="1" lang="en">
                <a:solidFill>
                  <a:schemeClr val="lt1"/>
                </a:solidFill>
                <a:latin typeface="Montserrat Medium"/>
                <a:ea typeface="Montserrat Medium"/>
                <a:cs typeface="Montserrat Medium"/>
                <a:sym typeface="Montserrat Medium"/>
              </a:rPr>
              <a:t>screenCount</a:t>
            </a:r>
            <a:r>
              <a:rPr lang="en">
                <a:solidFill>
                  <a:schemeClr val="lt1"/>
                </a:solidFill>
                <a:latin typeface="Montserrat Medium"/>
                <a:ea typeface="Montserrat Medium"/>
                <a:cs typeface="Montserrat Medium"/>
                <a:sym typeface="Montserrat Medium"/>
              </a:rPr>
              <a: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2.1.3</a:t>
            </a:r>
            <a:endParaRPr/>
          </a:p>
        </p:txBody>
      </p:sp>
      <p:pic>
        <p:nvPicPr>
          <p:cNvPr id="278" name="Google Shape;278;p38"/>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279" name="Google Shape;279;p38"/>
          <p:cNvPicPr preferRelativeResize="0"/>
          <p:nvPr/>
        </p:nvPicPr>
        <p:blipFill>
          <a:blip r:embed="rId4">
            <a:alphaModFix/>
          </a:blip>
          <a:stretch>
            <a:fillRect/>
          </a:stretch>
        </p:blipFill>
        <p:spPr>
          <a:xfrm>
            <a:off x="2152425" y="1527075"/>
            <a:ext cx="4839154" cy="3390350"/>
          </a:xfrm>
          <a:prstGeom prst="rect">
            <a:avLst/>
          </a:prstGeom>
          <a:noFill/>
          <a:ln>
            <a:noFill/>
          </a:ln>
        </p:spPr>
      </p:pic>
      <p:sp>
        <p:nvSpPr>
          <p:cNvPr id="280" name="Google Shape;280;p38"/>
          <p:cNvSpPr txBox="1"/>
          <p:nvPr/>
        </p:nvSpPr>
        <p:spPr>
          <a:xfrm>
            <a:off x="156600" y="881750"/>
            <a:ext cx="3807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Update the </a:t>
            </a:r>
            <a:r>
              <a:rPr i="1" lang="en">
                <a:solidFill>
                  <a:schemeClr val="lt1"/>
                </a:solidFill>
                <a:latin typeface="Montserrat Medium"/>
                <a:ea typeface="Montserrat Medium"/>
                <a:cs typeface="Montserrat Medium"/>
                <a:sym typeface="Montserrat Medium"/>
              </a:rPr>
              <a:t>onPause( )</a:t>
            </a:r>
            <a:r>
              <a:rPr lang="en">
                <a:solidFill>
                  <a:schemeClr val="lt1"/>
                </a:solidFill>
                <a:latin typeface="Montserrat Medium"/>
                <a:ea typeface="Montserrat Medium"/>
                <a:cs typeface="Montserrat Medium"/>
                <a:sym typeface="Montserrat Medium"/>
              </a:rPr>
              <a:t> function in </a:t>
            </a:r>
            <a:r>
              <a:rPr i="1" lang="en">
                <a:solidFill>
                  <a:schemeClr val="lt1"/>
                </a:solidFill>
                <a:latin typeface="Montserrat Medium"/>
                <a:ea typeface="Montserrat Medium"/>
                <a:cs typeface="Montserrat Medium"/>
                <a:sym typeface="Montserrat Medium"/>
              </a:rPr>
              <a:t>CoveringActivity.java</a:t>
            </a:r>
            <a:r>
              <a:rPr lang="en">
                <a:solidFill>
                  <a:schemeClr val="lt1"/>
                </a:solidFill>
                <a:latin typeface="Montserrat Medium"/>
                <a:ea typeface="Montserrat Medium"/>
                <a:cs typeface="Montserrat Medium"/>
                <a:sym typeface="Montserrat Medium"/>
              </a:rPr>
              <a:t> to increment and log the </a:t>
            </a:r>
            <a:r>
              <a:rPr i="1" lang="en">
                <a:solidFill>
                  <a:schemeClr val="lt1"/>
                </a:solidFill>
                <a:latin typeface="Montserrat Medium"/>
                <a:ea typeface="Montserrat Medium"/>
                <a:cs typeface="Montserrat Medium"/>
                <a:sym typeface="Montserrat Medium"/>
              </a:rPr>
              <a:t>screenCount</a:t>
            </a:r>
            <a:r>
              <a:rPr lang="en">
                <a:solidFill>
                  <a:schemeClr val="lt1"/>
                </a:solidFill>
                <a:latin typeface="Montserrat Medium"/>
                <a:ea typeface="Montserrat Medium"/>
                <a:cs typeface="Montserrat Medium"/>
                <a:sym typeface="Montserrat Medium"/>
              </a:rPr>
              <a:t>.</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ph idx="2" type="subTitle"/>
          </p:nvPr>
        </p:nvSpPr>
        <p:spPr>
          <a:xfrm>
            <a:off x="4642050" y="336250"/>
            <a:ext cx="41313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2</a:t>
            </a:r>
            <a:endParaRPr/>
          </a:p>
        </p:txBody>
      </p:sp>
      <p:pic>
        <p:nvPicPr>
          <p:cNvPr id="286" name="Google Shape;286;p39"/>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287" name="Google Shape;287;p39"/>
          <p:cNvSpPr txBox="1"/>
          <p:nvPr>
            <p:ph idx="1" type="subTitle"/>
          </p:nvPr>
        </p:nvSpPr>
        <p:spPr>
          <a:xfrm>
            <a:off x="311700" y="1599325"/>
            <a:ext cx="8461800" cy="33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The Overlay</a:t>
            </a:r>
            <a:endParaRPr sz="2400"/>
          </a:p>
          <a:p>
            <a:pPr indent="-381000" lvl="0" marL="457200" rtl="0" algn="l">
              <a:spcBef>
                <a:spcPts val="0"/>
              </a:spcBef>
              <a:spcAft>
                <a:spcPts val="0"/>
              </a:spcAft>
              <a:buSzPts val="2400"/>
              <a:buChar char="●"/>
            </a:pPr>
            <a:r>
              <a:rPr lang="en" sz="2400"/>
              <a:t>All UI components are defined in the ‘res’ package</a:t>
            </a:r>
            <a:endParaRPr sz="2400"/>
          </a:p>
          <a:p>
            <a:pPr indent="-361950" lvl="1" marL="914400" rtl="0" algn="l">
              <a:spcBef>
                <a:spcPts val="0"/>
              </a:spcBef>
              <a:spcAft>
                <a:spcPts val="0"/>
              </a:spcAft>
              <a:buSzPts val="2100"/>
              <a:buChar char="○"/>
            </a:pPr>
            <a:r>
              <a:rPr lang="en" sz="2100"/>
              <a:t>‘res’ standing for resources</a:t>
            </a:r>
            <a:endParaRPr sz="2100"/>
          </a:p>
          <a:p>
            <a:pPr indent="-381000" lvl="0" marL="457200" rtl="0" algn="l">
              <a:spcBef>
                <a:spcPts val="0"/>
              </a:spcBef>
              <a:spcAft>
                <a:spcPts val="0"/>
              </a:spcAft>
              <a:buSzPts val="2400"/>
              <a:buChar char="●"/>
            </a:pPr>
            <a:r>
              <a:rPr lang="en" sz="2400"/>
              <a:t>Android Studio has a built in layout editor</a:t>
            </a:r>
            <a:endParaRPr sz="2400"/>
          </a:p>
          <a:p>
            <a:pPr indent="-381000" lvl="0" marL="457200" rtl="0" algn="l">
              <a:spcBef>
                <a:spcPts val="0"/>
              </a:spcBef>
              <a:spcAft>
                <a:spcPts val="0"/>
              </a:spcAft>
              <a:buSzPts val="2400"/>
              <a:buChar char="●"/>
            </a:pPr>
            <a:r>
              <a:rPr lang="en" sz="2400"/>
              <a:t>UI defined in XML</a:t>
            </a:r>
            <a:endParaRPr sz="2400"/>
          </a:p>
          <a:p>
            <a:pPr indent="-381000" lvl="0" marL="457200" rtl="0" algn="l">
              <a:spcBef>
                <a:spcPts val="0"/>
              </a:spcBef>
              <a:spcAft>
                <a:spcPts val="0"/>
              </a:spcAft>
              <a:buSzPts val="2400"/>
              <a:buChar char="●"/>
            </a:pPr>
            <a:r>
              <a:rPr lang="en" sz="2400"/>
              <a:t>Similar to HTML</a:t>
            </a:r>
            <a:endParaRPr sz="2400"/>
          </a:p>
          <a:p>
            <a:pPr indent="-381000" lvl="0" marL="457200" rtl="0" algn="l">
              <a:spcBef>
                <a:spcPts val="0"/>
              </a:spcBef>
              <a:spcAft>
                <a:spcPts val="0"/>
              </a:spcAft>
              <a:buSzPts val="2400"/>
              <a:buChar char="●"/>
            </a:pPr>
            <a:r>
              <a:rPr lang="en" sz="2400"/>
              <a:t>Toggle visibility based on the </a:t>
            </a:r>
            <a:r>
              <a:rPr i="1" lang="en" sz="2400"/>
              <a:t>screenCount</a:t>
            </a:r>
            <a:r>
              <a:rPr lang="en" sz="2400"/>
              <a:t> instead of </a:t>
            </a:r>
            <a:r>
              <a:rPr i="1" lang="en" sz="2400"/>
              <a:t>onClick</a:t>
            </a:r>
            <a:r>
              <a:rPr lang="en" sz="2400"/>
              <a:t> handlers</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2.2.1</a:t>
            </a:r>
            <a:endParaRPr/>
          </a:p>
        </p:txBody>
      </p:sp>
      <p:pic>
        <p:nvPicPr>
          <p:cNvPr id="293" name="Google Shape;293;p40"/>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294" name="Google Shape;294;p40"/>
          <p:cNvPicPr preferRelativeResize="0"/>
          <p:nvPr/>
        </p:nvPicPr>
        <p:blipFill>
          <a:blip r:embed="rId4">
            <a:alphaModFix/>
          </a:blip>
          <a:stretch>
            <a:fillRect/>
          </a:stretch>
        </p:blipFill>
        <p:spPr>
          <a:xfrm>
            <a:off x="1913250" y="1501925"/>
            <a:ext cx="5317487" cy="3574600"/>
          </a:xfrm>
          <a:prstGeom prst="rect">
            <a:avLst/>
          </a:prstGeom>
          <a:noFill/>
          <a:ln>
            <a:noFill/>
          </a:ln>
        </p:spPr>
      </p:pic>
      <p:sp>
        <p:nvSpPr>
          <p:cNvPr id="295" name="Google Shape;295;p40"/>
          <p:cNvSpPr txBox="1"/>
          <p:nvPr/>
        </p:nvSpPr>
        <p:spPr>
          <a:xfrm>
            <a:off x="156600" y="881750"/>
            <a:ext cx="3807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Create your navigational overlay.</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1"/>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2.2.2</a:t>
            </a:r>
            <a:endParaRPr/>
          </a:p>
        </p:txBody>
      </p:sp>
      <p:pic>
        <p:nvPicPr>
          <p:cNvPr id="301" name="Google Shape;301;p41"/>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302" name="Google Shape;302;p41"/>
          <p:cNvPicPr preferRelativeResize="0"/>
          <p:nvPr/>
        </p:nvPicPr>
        <p:blipFill>
          <a:blip r:embed="rId4">
            <a:alphaModFix/>
          </a:blip>
          <a:stretch>
            <a:fillRect/>
          </a:stretch>
        </p:blipFill>
        <p:spPr>
          <a:xfrm>
            <a:off x="1126950" y="1038075"/>
            <a:ext cx="1866900" cy="3936750"/>
          </a:xfrm>
          <a:prstGeom prst="rect">
            <a:avLst/>
          </a:prstGeom>
          <a:noFill/>
          <a:ln>
            <a:noFill/>
          </a:ln>
        </p:spPr>
      </p:pic>
      <p:sp>
        <p:nvSpPr>
          <p:cNvPr id="303" name="Google Shape;303;p41"/>
          <p:cNvSpPr txBox="1"/>
          <p:nvPr/>
        </p:nvSpPr>
        <p:spPr>
          <a:xfrm>
            <a:off x="4642050" y="1609850"/>
            <a:ext cx="3807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Create a fake lock-screen for the final destination of your overlay.</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42"/>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09" name="Google Shape;309;p4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3</a:t>
            </a:r>
            <a:endParaRPr/>
          </a:p>
        </p:txBody>
      </p:sp>
      <p:pic>
        <p:nvPicPr>
          <p:cNvPr descr="http://gametheory101.com&#10;&#10;This lecture introduces semi-separating equilibrium as a type of perfect Bayesian equilibrium for signaling games. A less popular but still equivalent name for it is partially-pooling equilibrium.&#10;&#10;In such an equilibrium, one type sometimes separates from another type and sometimes pools with another type. Semi-separating equilibria are computationally more difficult to solve for, but they also produce far more interesting strategies and predictions. We will therefore cover a couple more examples in this series." id="310" name="Google Shape;310;p42" title="Game Theory 101 (#82): Semi-Separating Equilibrium/Partially-Pooling Equilibrium">
            <a:hlinkClick r:id="rId4"/>
          </p:cNvPr>
          <p:cNvPicPr preferRelativeResize="0"/>
          <p:nvPr/>
        </p:nvPicPr>
        <p:blipFill>
          <a:blip r:embed="rId5">
            <a:alphaModFix/>
          </a:blip>
          <a:stretch>
            <a:fillRect/>
          </a:stretch>
        </p:blipFill>
        <p:spPr>
          <a:xfrm>
            <a:off x="2109938" y="1848575"/>
            <a:ext cx="4924125" cy="2769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0"/>
                                        <p:tgtEl>
                                          <p:spTgt spid="3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43"/>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16" name="Google Shape;316;p43"/>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3</a:t>
            </a:r>
            <a:endParaRPr/>
          </a:p>
        </p:txBody>
      </p:sp>
      <p:sp>
        <p:nvSpPr>
          <p:cNvPr id="317" name="Google Shape;317;p43"/>
          <p:cNvSpPr txBox="1"/>
          <p:nvPr/>
        </p:nvSpPr>
        <p:spPr>
          <a:xfrm>
            <a:off x="602750" y="1526975"/>
            <a:ext cx="7541100" cy="339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Montserrat"/>
                <a:ea typeface="Montserrat"/>
                <a:cs typeface="Montserrat"/>
                <a:sym typeface="Montserrat"/>
              </a:rPr>
              <a:t>Our Scenario</a:t>
            </a:r>
            <a:endParaRPr b="1">
              <a:solidFill>
                <a:schemeClr val="lt1"/>
              </a:solidFill>
              <a:latin typeface="Montserrat"/>
              <a:ea typeface="Montserrat"/>
              <a:cs typeface="Montserrat"/>
              <a:sym typeface="Montserrat"/>
            </a:endParaRPr>
          </a:p>
          <a:p>
            <a:pPr indent="-317500" lvl="0" marL="4572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App has a ¾ chance of being robust and ¼ chance of being vulnerable</a:t>
            </a:r>
            <a:endParaRPr>
              <a:solidFill>
                <a:schemeClr val="lt1"/>
              </a:solidFill>
              <a:latin typeface="Montserrat Medium"/>
              <a:ea typeface="Montserrat Medium"/>
              <a:cs typeface="Montserrat Medium"/>
              <a:sym typeface="Montserrat Medium"/>
            </a:endParaRPr>
          </a:p>
          <a:p>
            <a:pPr indent="-317500" lvl="0" marL="4572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Attacker (Player 1) decides to either attack or not attack the User (Player 2)</a:t>
            </a:r>
            <a:endParaRPr>
              <a:solidFill>
                <a:schemeClr val="lt1"/>
              </a:solidFill>
              <a:latin typeface="Montserrat Medium"/>
              <a:ea typeface="Montserrat Medium"/>
              <a:cs typeface="Montserrat Medium"/>
              <a:sym typeface="Montserrat Medium"/>
            </a:endParaRPr>
          </a:p>
          <a:p>
            <a:pPr indent="-317500" lvl="0" marL="4572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The User will decide whether or not to follow the Attacker’s prompts</a:t>
            </a:r>
            <a:endParaRPr>
              <a:solidFill>
                <a:schemeClr val="lt1"/>
              </a:solidFill>
              <a:latin typeface="Montserrat Medium"/>
              <a:ea typeface="Montserrat Medium"/>
              <a:cs typeface="Montserrat Medium"/>
              <a:sym typeface="Montserrat Medium"/>
            </a:endParaRPr>
          </a:p>
          <a:p>
            <a:pPr indent="-317500" lvl="0" marL="4572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If the User follows the prompts:</a:t>
            </a:r>
            <a:endParaRPr>
              <a:solidFill>
                <a:schemeClr val="lt1"/>
              </a:solidFill>
              <a:latin typeface="Montserrat Medium"/>
              <a:ea typeface="Montserrat Medium"/>
              <a:cs typeface="Montserrat Medium"/>
              <a:sym typeface="Montserrat Medium"/>
            </a:endParaRPr>
          </a:p>
          <a:p>
            <a:pPr indent="-317500" lvl="1" marL="9144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If the app is robust, a security flag will be triggered and the attack fails</a:t>
            </a:r>
            <a:endParaRPr>
              <a:solidFill>
                <a:schemeClr val="lt1"/>
              </a:solidFill>
              <a:latin typeface="Montserrat Medium"/>
              <a:ea typeface="Montserrat Medium"/>
              <a:cs typeface="Montserrat Medium"/>
              <a:sym typeface="Montserrat Medium"/>
            </a:endParaRPr>
          </a:p>
          <a:p>
            <a:pPr indent="-317500" lvl="1" marL="9144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If the app is vulnerable, the attack will succeed and the User will be at a big loss</a:t>
            </a:r>
            <a:endParaRPr>
              <a:solidFill>
                <a:schemeClr val="lt1"/>
              </a:solidFill>
              <a:latin typeface="Montserrat Medium"/>
              <a:ea typeface="Montserrat Medium"/>
              <a:cs typeface="Montserrat Medium"/>
              <a:sym typeface="Montserrat Medium"/>
            </a:endParaRPr>
          </a:p>
          <a:p>
            <a:pPr indent="-317500" lvl="0" marL="457200" rtl="0" algn="l">
              <a:spcBef>
                <a:spcPts val="0"/>
              </a:spcBef>
              <a:spcAft>
                <a:spcPts val="0"/>
              </a:spcAft>
              <a:buClr>
                <a:schemeClr val="lt1"/>
              </a:buClr>
              <a:buSzPts val="1400"/>
              <a:buFont typeface="Montserrat Medium"/>
              <a:buChar char="●"/>
            </a:pPr>
            <a:r>
              <a:rPr lang="en">
                <a:solidFill>
                  <a:schemeClr val="lt1"/>
                </a:solidFill>
                <a:latin typeface="Montserrat Medium"/>
                <a:ea typeface="Montserrat Medium"/>
                <a:cs typeface="Montserrat Medium"/>
                <a:sym typeface="Montserrat Medium"/>
              </a:rPr>
              <a:t>If the User doesn’t follow the prompts, regardless of whether the app is robust or vulnerable, the User fails to notice the malicious app and the Attacker gets to monitor state information of the User’s device, causing a small loss to the User.</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44"/>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23" name="Google Shape;323;p4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3</a:t>
            </a:r>
            <a:endParaRPr/>
          </a:p>
        </p:txBody>
      </p:sp>
      <p:pic>
        <p:nvPicPr>
          <p:cNvPr id="324" name="Google Shape;324;p44"/>
          <p:cNvPicPr preferRelativeResize="0"/>
          <p:nvPr/>
        </p:nvPicPr>
        <p:blipFill>
          <a:blip r:embed="rId4">
            <a:alphaModFix/>
          </a:blip>
          <a:stretch>
            <a:fillRect/>
          </a:stretch>
        </p:blipFill>
        <p:spPr>
          <a:xfrm>
            <a:off x="2347913" y="1674425"/>
            <a:ext cx="4448175" cy="30575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45"/>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30" name="Google Shape;330;p4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3</a:t>
            </a:r>
            <a:endParaRPr/>
          </a:p>
        </p:txBody>
      </p:sp>
      <p:pic>
        <p:nvPicPr>
          <p:cNvPr id="331" name="Google Shape;331;p45"/>
          <p:cNvPicPr preferRelativeResize="0"/>
          <p:nvPr/>
        </p:nvPicPr>
        <p:blipFill>
          <a:blip r:embed="rId4">
            <a:alphaModFix/>
          </a:blip>
          <a:stretch>
            <a:fillRect/>
          </a:stretch>
        </p:blipFill>
        <p:spPr>
          <a:xfrm>
            <a:off x="2300275" y="1701225"/>
            <a:ext cx="4543425" cy="30670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id="336" name="Google Shape;336;p46"/>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37" name="Google Shape;337;p4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3</a:t>
            </a:r>
            <a:endParaRPr/>
          </a:p>
        </p:txBody>
      </p:sp>
      <p:pic>
        <p:nvPicPr>
          <p:cNvPr id="338" name="Google Shape;338;p46"/>
          <p:cNvPicPr preferRelativeResize="0"/>
          <p:nvPr/>
        </p:nvPicPr>
        <p:blipFill>
          <a:blip r:embed="rId4">
            <a:alphaModFix/>
          </a:blip>
          <a:stretch>
            <a:fillRect/>
          </a:stretch>
        </p:blipFill>
        <p:spPr>
          <a:xfrm>
            <a:off x="2209800" y="1701200"/>
            <a:ext cx="4724400" cy="30956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id="343" name="Google Shape;343;p47"/>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44" name="Google Shape;344;p47"/>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Task Set 3</a:t>
            </a:r>
            <a:endParaRPr/>
          </a:p>
        </p:txBody>
      </p:sp>
      <p:sp>
        <p:nvSpPr>
          <p:cNvPr id="345" name="Google Shape;345;p47"/>
          <p:cNvSpPr txBox="1"/>
          <p:nvPr/>
        </p:nvSpPr>
        <p:spPr>
          <a:xfrm>
            <a:off x="823775" y="1627425"/>
            <a:ext cx="7380300" cy="307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lt1"/>
                </a:solidFill>
                <a:latin typeface="Montserrat"/>
                <a:ea typeface="Montserrat"/>
                <a:cs typeface="Montserrat"/>
                <a:sym typeface="Montserrat"/>
              </a:rPr>
              <a:t>Recap:</a:t>
            </a:r>
            <a:endParaRPr sz="2000">
              <a:solidFill>
                <a:schemeClr val="lt1"/>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1"/>
              </a:buClr>
              <a:buSzPts val="2000"/>
              <a:buFont typeface="Montserrat Medium"/>
              <a:buAutoNum type="arabicPeriod"/>
            </a:pPr>
            <a:r>
              <a:rPr lang="en" sz="2000">
                <a:solidFill>
                  <a:schemeClr val="lt1"/>
                </a:solidFill>
                <a:latin typeface="Montserrat Medium"/>
                <a:ea typeface="Montserrat Medium"/>
                <a:cs typeface="Montserrat Medium"/>
                <a:sym typeface="Montserrat Medium"/>
              </a:rPr>
              <a:t>Player 1 attacks a robust app with a probability of </a:t>
            </a:r>
            <a:r>
              <a:rPr i="1" lang="en" sz="2000">
                <a:solidFill>
                  <a:schemeClr val="lt1"/>
                </a:solidFill>
                <a:latin typeface="Montserrat Medium"/>
                <a:ea typeface="Montserrat Medium"/>
                <a:cs typeface="Montserrat Medium"/>
                <a:sym typeface="Montserrat Medium"/>
              </a:rPr>
              <a:t>σ</a:t>
            </a:r>
            <a:r>
              <a:rPr baseline="-25000" i="1" lang="en" sz="2000">
                <a:solidFill>
                  <a:schemeClr val="lt1"/>
                </a:solidFill>
                <a:latin typeface="Montserrat Medium"/>
                <a:ea typeface="Montserrat Medium"/>
                <a:cs typeface="Montserrat Medium"/>
                <a:sym typeface="Montserrat Medium"/>
              </a:rPr>
              <a:t>A</a:t>
            </a:r>
            <a:endParaRPr i="1" sz="2000">
              <a:solidFill>
                <a:schemeClr val="lt1"/>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1"/>
              </a:buClr>
              <a:buSzPts val="2000"/>
              <a:buFont typeface="Montserrat Medium"/>
              <a:buAutoNum type="arabicPeriod"/>
            </a:pPr>
            <a:r>
              <a:rPr lang="en" sz="2000">
                <a:solidFill>
                  <a:schemeClr val="lt1"/>
                </a:solidFill>
                <a:latin typeface="Montserrat Medium"/>
                <a:ea typeface="Montserrat Medium"/>
                <a:cs typeface="Montserrat Medium"/>
                <a:sym typeface="Montserrat Medium"/>
              </a:rPr>
              <a:t>After observing Player 1 attack, Player 2 believes that the app is vulnerable with a probability of </a:t>
            </a:r>
            <a:r>
              <a:rPr i="1" lang="en" sz="2000">
                <a:solidFill>
                  <a:schemeClr val="lt1"/>
                </a:solidFill>
                <a:latin typeface="Montserrat Medium"/>
                <a:ea typeface="Montserrat Medium"/>
                <a:cs typeface="Montserrat Medium"/>
                <a:sym typeface="Montserrat Medium"/>
              </a:rPr>
              <a:t>P</a:t>
            </a:r>
            <a:endParaRPr sz="2000">
              <a:solidFill>
                <a:schemeClr val="lt1"/>
              </a:solidFill>
              <a:latin typeface="Montserrat Medium"/>
              <a:ea typeface="Montserrat Medium"/>
              <a:cs typeface="Montserrat Medium"/>
              <a:sym typeface="Montserrat Medium"/>
            </a:endParaRPr>
          </a:p>
          <a:p>
            <a:pPr indent="-355600" lvl="0" marL="457200" rtl="0" algn="l">
              <a:spcBef>
                <a:spcPts val="0"/>
              </a:spcBef>
              <a:spcAft>
                <a:spcPts val="0"/>
              </a:spcAft>
              <a:buClr>
                <a:schemeClr val="lt1"/>
              </a:buClr>
              <a:buSzPts val="2000"/>
              <a:buFont typeface="Montserrat Medium"/>
              <a:buAutoNum type="arabicPeriod"/>
            </a:pPr>
            <a:r>
              <a:rPr lang="en" sz="2000">
                <a:solidFill>
                  <a:schemeClr val="lt1"/>
                </a:solidFill>
                <a:latin typeface="Montserrat Medium"/>
                <a:ea typeface="Montserrat Medium"/>
                <a:cs typeface="Montserrat Medium"/>
                <a:sym typeface="Montserrat Medium"/>
              </a:rPr>
              <a:t>Player 2 then uses the app with a probability of </a:t>
            </a:r>
            <a:r>
              <a:rPr i="1" lang="en" sz="2000">
                <a:solidFill>
                  <a:schemeClr val="lt1"/>
                </a:solidFill>
                <a:latin typeface="Montserrat Medium"/>
                <a:ea typeface="Montserrat Medium"/>
                <a:cs typeface="Montserrat Medium"/>
                <a:sym typeface="Montserrat Medium"/>
              </a:rPr>
              <a:t>σ</a:t>
            </a:r>
            <a:r>
              <a:rPr baseline="-25000" i="1" lang="en" sz="2000">
                <a:solidFill>
                  <a:schemeClr val="lt1"/>
                </a:solidFill>
                <a:latin typeface="Montserrat Medium"/>
                <a:ea typeface="Montserrat Medium"/>
                <a:cs typeface="Montserrat Medium"/>
                <a:sym typeface="Montserrat Medium"/>
              </a:rPr>
              <a:t>R</a:t>
            </a:r>
            <a:endParaRPr sz="2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8"/>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3.1.1</a:t>
            </a:r>
            <a:endParaRPr/>
          </a:p>
        </p:txBody>
      </p:sp>
      <p:pic>
        <p:nvPicPr>
          <p:cNvPr id="351" name="Google Shape;351;p48"/>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52" name="Google Shape;352;p48"/>
          <p:cNvSpPr txBox="1"/>
          <p:nvPr/>
        </p:nvSpPr>
        <p:spPr>
          <a:xfrm>
            <a:off x="301375" y="972850"/>
            <a:ext cx="3857700" cy="56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Player 2’s pooling equilibrium.</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9"/>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a:t>
            </a:r>
            <a:r>
              <a:rPr lang="en"/>
              <a:t>3.1.1</a:t>
            </a:r>
            <a:endParaRPr/>
          </a:p>
        </p:txBody>
      </p:sp>
      <p:pic>
        <p:nvPicPr>
          <p:cNvPr id="358" name="Google Shape;358;p49"/>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359" name="Google Shape;359;p49"/>
          <p:cNvPicPr preferRelativeResize="0"/>
          <p:nvPr/>
        </p:nvPicPr>
        <p:blipFill rotWithShape="1">
          <a:blip r:embed="rId4">
            <a:alphaModFix/>
          </a:blip>
          <a:srcRect b="34397" l="0" r="0" t="-3177"/>
          <a:stretch/>
        </p:blipFill>
        <p:spPr>
          <a:xfrm>
            <a:off x="644475" y="2571750"/>
            <a:ext cx="7855050" cy="870550"/>
          </a:xfrm>
          <a:prstGeom prst="rect">
            <a:avLst/>
          </a:prstGeom>
          <a:noFill/>
          <a:ln>
            <a:noFill/>
          </a:ln>
        </p:spPr>
      </p:pic>
      <p:sp>
        <p:nvSpPr>
          <p:cNvPr id="360" name="Google Shape;360;p49"/>
          <p:cNvSpPr txBox="1"/>
          <p:nvPr/>
        </p:nvSpPr>
        <p:spPr>
          <a:xfrm>
            <a:off x="301375" y="972850"/>
            <a:ext cx="3857700" cy="56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Player 2’s pooling equilibrium.</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0"/>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3.1.2</a:t>
            </a:r>
            <a:endParaRPr/>
          </a:p>
        </p:txBody>
      </p:sp>
      <p:pic>
        <p:nvPicPr>
          <p:cNvPr id="366" name="Google Shape;366;p50"/>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67" name="Google Shape;367;p50"/>
          <p:cNvSpPr txBox="1"/>
          <p:nvPr/>
        </p:nvSpPr>
        <p:spPr>
          <a:xfrm>
            <a:off x="301375" y="972850"/>
            <a:ext cx="3603000" cy="56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Which strategy profitably deviates?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1"/>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3.1.2</a:t>
            </a:r>
            <a:endParaRPr/>
          </a:p>
        </p:txBody>
      </p:sp>
      <p:pic>
        <p:nvPicPr>
          <p:cNvPr id="373" name="Google Shape;373;p51"/>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74" name="Google Shape;374;p51"/>
          <p:cNvSpPr txBox="1"/>
          <p:nvPr/>
        </p:nvSpPr>
        <p:spPr>
          <a:xfrm>
            <a:off x="1544850" y="2210100"/>
            <a:ext cx="6054300" cy="195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Montserrat Medium"/>
                <a:ea typeface="Montserrat Medium"/>
                <a:cs typeface="Montserrat Medium"/>
                <a:sym typeface="Montserrat Medium"/>
              </a:rPr>
              <a:t>The </a:t>
            </a:r>
            <a:r>
              <a:rPr b="1" lang="en" sz="3000">
                <a:solidFill>
                  <a:schemeClr val="accent1"/>
                </a:solidFill>
                <a:latin typeface="Montserrat"/>
                <a:ea typeface="Montserrat"/>
                <a:cs typeface="Montserrat"/>
                <a:sym typeface="Montserrat"/>
              </a:rPr>
              <a:t>Use </a:t>
            </a:r>
            <a:r>
              <a:rPr lang="en" sz="3000">
                <a:solidFill>
                  <a:schemeClr val="lt1"/>
                </a:solidFill>
                <a:latin typeface="Montserrat Medium"/>
                <a:ea typeface="Montserrat Medium"/>
                <a:cs typeface="Montserrat Medium"/>
                <a:sym typeface="Montserrat Medium"/>
              </a:rPr>
              <a:t>strategy profitably deviates because it is 1.5 instead of -1.</a:t>
            </a:r>
            <a:endParaRPr sz="3000">
              <a:solidFill>
                <a:schemeClr val="lt1"/>
              </a:solidFill>
              <a:latin typeface="Montserrat Medium"/>
              <a:ea typeface="Montserrat Medium"/>
              <a:cs typeface="Montserrat Medium"/>
              <a:sym typeface="Montserrat Medium"/>
            </a:endParaRPr>
          </a:p>
        </p:txBody>
      </p:sp>
      <p:sp>
        <p:nvSpPr>
          <p:cNvPr id="375" name="Google Shape;375;p51"/>
          <p:cNvSpPr txBox="1"/>
          <p:nvPr/>
        </p:nvSpPr>
        <p:spPr>
          <a:xfrm>
            <a:off x="301375" y="972850"/>
            <a:ext cx="3603000" cy="56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Which strategy profitably deviates?</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3.1.3</a:t>
            </a:r>
            <a:endParaRPr/>
          </a:p>
        </p:txBody>
      </p:sp>
      <p:pic>
        <p:nvPicPr>
          <p:cNvPr id="381" name="Google Shape;381;p52"/>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82" name="Google Shape;382;p52"/>
          <p:cNvSpPr txBox="1"/>
          <p:nvPr/>
        </p:nvSpPr>
        <p:spPr>
          <a:xfrm>
            <a:off x="301375" y="972850"/>
            <a:ext cx="4018500" cy="8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the value of </a:t>
            </a:r>
            <a:r>
              <a:rPr i="1" lang="en">
                <a:solidFill>
                  <a:schemeClr val="lt1"/>
                </a:solidFill>
                <a:latin typeface="Montserrat Medium"/>
                <a:ea typeface="Montserrat Medium"/>
                <a:cs typeface="Montserrat Medium"/>
                <a:sym typeface="Montserrat Medium"/>
              </a:rPr>
              <a:t>σ</a:t>
            </a:r>
            <a:r>
              <a:rPr baseline="-25000" i="1" lang="en">
                <a:solidFill>
                  <a:schemeClr val="lt1"/>
                </a:solidFill>
                <a:latin typeface="Montserrat Medium"/>
                <a:ea typeface="Montserrat Medium"/>
                <a:cs typeface="Montserrat Medium"/>
                <a:sym typeface="Montserrat Medium"/>
              </a:rPr>
              <a:t>R</a:t>
            </a:r>
            <a:r>
              <a:rPr lang="en">
                <a:solidFill>
                  <a:schemeClr val="lt1"/>
                </a:solidFill>
                <a:latin typeface="Montserrat Medium"/>
                <a:ea typeface="Montserrat Medium"/>
                <a:cs typeface="Montserrat Medium"/>
                <a:sym typeface="Montserrat Medium"/>
              </a:rPr>
              <a:t>, which represents Player 2’s mixed equilibrium strategy.</a:t>
            </a:r>
            <a:endParaRPr sz="8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3"/>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a:t>
            </a:r>
            <a:r>
              <a:rPr lang="en"/>
              <a:t>3.1.3</a:t>
            </a:r>
            <a:endParaRPr/>
          </a:p>
        </p:txBody>
      </p:sp>
      <p:pic>
        <p:nvPicPr>
          <p:cNvPr id="388" name="Google Shape;388;p53"/>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389" name="Google Shape;389;p53"/>
          <p:cNvPicPr preferRelativeResize="0"/>
          <p:nvPr/>
        </p:nvPicPr>
        <p:blipFill>
          <a:blip r:embed="rId4">
            <a:alphaModFix/>
          </a:blip>
          <a:stretch>
            <a:fillRect/>
          </a:stretch>
        </p:blipFill>
        <p:spPr>
          <a:xfrm>
            <a:off x="1896525" y="2109750"/>
            <a:ext cx="5350950" cy="2076050"/>
          </a:xfrm>
          <a:prstGeom prst="rect">
            <a:avLst/>
          </a:prstGeom>
          <a:noFill/>
          <a:ln>
            <a:noFill/>
          </a:ln>
        </p:spPr>
      </p:pic>
      <p:sp>
        <p:nvSpPr>
          <p:cNvPr id="390" name="Google Shape;390;p53"/>
          <p:cNvSpPr txBox="1"/>
          <p:nvPr/>
        </p:nvSpPr>
        <p:spPr>
          <a:xfrm>
            <a:off x="301375" y="972850"/>
            <a:ext cx="4018500" cy="8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the value of </a:t>
            </a:r>
            <a:r>
              <a:rPr i="1" lang="en">
                <a:solidFill>
                  <a:schemeClr val="lt1"/>
                </a:solidFill>
                <a:latin typeface="Montserrat Medium"/>
                <a:ea typeface="Montserrat Medium"/>
                <a:cs typeface="Montserrat Medium"/>
                <a:sym typeface="Montserrat Medium"/>
              </a:rPr>
              <a:t>σ</a:t>
            </a:r>
            <a:r>
              <a:rPr baseline="-25000" i="1" lang="en">
                <a:solidFill>
                  <a:schemeClr val="lt1"/>
                </a:solidFill>
                <a:latin typeface="Montserrat Medium"/>
                <a:ea typeface="Montserrat Medium"/>
                <a:cs typeface="Montserrat Medium"/>
                <a:sym typeface="Montserrat Medium"/>
              </a:rPr>
              <a:t>R</a:t>
            </a:r>
            <a:r>
              <a:rPr lang="en">
                <a:solidFill>
                  <a:schemeClr val="lt1"/>
                </a:solidFill>
                <a:latin typeface="Montserrat Medium"/>
                <a:ea typeface="Montserrat Medium"/>
                <a:cs typeface="Montserrat Medium"/>
                <a:sym typeface="Montserrat Medium"/>
              </a:rPr>
              <a:t>, which represents Player 2’s mixed equilibrium strategy.</a:t>
            </a:r>
            <a:endParaRPr sz="8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4"/>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3.1.4</a:t>
            </a:r>
            <a:endParaRPr/>
          </a:p>
        </p:txBody>
      </p:sp>
      <p:pic>
        <p:nvPicPr>
          <p:cNvPr id="396" name="Google Shape;396;p54"/>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397" name="Google Shape;397;p54"/>
          <p:cNvSpPr txBox="1"/>
          <p:nvPr/>
        </p:nvSpPr>
        <p:spPr>
          <a:xfrm>
            <a:off x="301375" y="972850"/>
            <a:ext cx="4018500" cy="8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What is the probability that Player 2 uses the app?</a:t>
            </a:r>
            <a:endParaRPr sz="8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5"/>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3.1.4</a:t>
            </a:r>
            <a:endParaRPr/>
          </a:p>
        </p:txBody>
      </p:sp>
      <p:pic>
        <p:nvPicPr>
          <p:cNvPr id="403" name="Google Shape;403;p55"/>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04" name="Google Shape;404;p55"/>
          <p:cNvSpPr txBox="1"/>
          <p:nvPr/>
        </p:nvSpPr>
        <p:spPr>
          <a:xfrm>
            <a:off x="1950000" y="2571750"/>
            <a:ext cx="5244000" cy="111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accent1"/>
                </a:solidFill>
                <a:latin typeface="Montserrat Medium"/>
                <a:ea typeface="Montserrat Medium"/>
                <a:cs typeface="Montserrat Medium"/>
                <a:sym typeface="Montserrat Medium"/>
              </a:rPr>
              <a:t>0.25</a:t>
            </a:r>
            <a:r>
              <a:rPr lang="en" sz="3000">
                <a:solidFill>
                  <a:schemeClr val="lt1"/>
                </a:solidFill>
                <a:latin typeface="Montserrat Medium"/>
                <a:ea typeface="Montserrat Medium"/>
                <a:cs typeface="Montserrat Medium"/>
                <a:sym typeface="Montserrat Medium"/>
              </a:rPr>
              <a:t> is the probability that player 2 uses the app.</a:t>
            </a:r>
            <a:endParaRPr sz="3000">
              <a:solidFill>
                <a:schemeClr val="lt1"/>
              </a:solidFill>
              <a:latin typeface="Montserrat Medium"/>
              <a:ea typeface="Montserrat Medium"/>
              <a:cs typeface="Montserrat Medium"/>
              <a:sym typeface="Montserrat Medium"/>
            </a:endParaRPr>
          </a:p>
        </p:txBody>
      </p:sp>
      <p:sp>
        <p:nvSpPr>
          <p:cNvPr id="405" name="Google Shape;405;p55"/>
          <p:cNvSpPr txBox="1"/>
          <p:nvPr/>
        </p:nvSpPr>
        <p:spPr>
          <a:xfrm>
            <a:off x="301375" y="972850"/>
            <a:ext cx="4018500" cy="8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What is the probability that Player 2 uses the app?</a:t>
            </a:r>
            <a:endParaRPr sz="8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6"/>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3.1.5</a:t>
            </a:r>
            <a:endParaRPr/>
          </a:p>
        </p:txBody>
      </p:sp>
      <p:pic>
        <p:nvPicPr>
          <p:cNvPr id="411" name="Google Shape;411;p56"/>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12" name="Google Shape;412;p56"/>
          <p:cNvSpPr txBox="1"/>
          <p:nvPr/>
        </p:nvSpPr>
        <p:spPr>
          <a:xfrm>
            <a:off x="301375" y="972850"/>
            <a:ext cx="4018500" cy="8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the value of </a:t>
            </a:r>
            <a:r>
              <a:rPr i="1" lang="en">
                <a:solidFill>
                  <a:schemeClr val="lt1"/>
                </a:solidFill>
                <a:latin typeface="Montserrat Medium"/>
                <a:ea typeface="Montserrat Medium"/>
                <a:cs typeface="Montserrat Medium"/>
                <a:sym typeface="Montserrat Medium"/>
              </a:rPr>
              <a:t>P</a:t>
            </a:r>
            <a:r>
              <a:rPr lang="en">
                <a:solidFill>
                  <a:schemeClr val="lt1"/>
                </a:solidFill>
                <a:latin typeface="Montserrat Medium"/>
                <a:ea typeface="Montserrat Medium"/>
                <a:cs typeface="Montserrat Medium"/>
                <a:sym typeface="Montserrat Medium"/>
              </a:rPr>
              <a:t>, which represents Player 2’s belief that they are facing a vulnerable app.</a:t>
            </a:r>
            <a:endParaRPr sz="8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7"/>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3.1.5</a:t>
            </a:r>
            <a:endParaRPr/>
          </a:p>
        </p:txBody>
      </p:sp>
      <p:pic>
        <p:nvPicPr>
          <p:cNvPr id="418" name="Google Shape;418;p57"/>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419" name="Google Shape;419;p57"/>
          <p:cNvPicPr preferRelativeResize="0"/>
          <p:nvPr/>
        </p:nvPicPr>
        <p:blipFill>
          <a:blip r:embed="rId4">
            <a:alphaModFix/>
          </a:blip>
          <a:stretch>
            <a:fillRect/>
          </a:stretch>
        </p:blipFill>
        <p:spPr>
          <a:xfrm>
            <a:off x="1876375" y="2297150"/>
            <a:ext cx="5391250" cy="1861725"/>
          </a:xfrm>
          <a:prstGeom prst="rect">
            <a:avLst/>
          </a:prstGeom>
          <a:noFill/>
          <a:ln>
            <a:noFill/>
          </a:ln>
        </p:spPr>
      </p:pic>
      <p:sp>
        <p:nvSpPr>
          <p:cNvPr id="420" name="Google Shape;420;p57"/>
          <p:cNvSpPr txBox="1"/>
          <p:nvPr/>
        </p:nvSpPr>
        <p:spPr>
          <a:xfrm>
            <a:off x="301375" y="972850"/>
            <a:ext cx="4018500" cy="8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the value of </a:t>
            </a:r>
            <a:r>
              <a:rPr i="1" lang="en">
                <a:solidFill>
                  <a:schemeClr val="lt1"/>
                </a:solidFill>
                <a:latin typeface="Montserrat Medium"/>
                <a:ea typeface="Montserrat Medium"/>
                <a:cs typeface="Montserrat Medium"/>
                <a:sym typeface="Montserrat Medium"/>
              </a:rPr>
              <a:t>P</a:t>
            </a:r>
            <a:r>
              <a:rPr lang="en">
                <a:solidFill>
                  <a:schemeClr val="lt1"/>
                </a:solidFill>
                <a:latin typeface="Montserrat Medium"/>
                <a:ea typeface="Montserrat Medium"/>
                <a:cs typeface="Montserrat Medium"/>
                <a:sym typeface="Montserrat Medium"/>
              </a:rPr>
              <a:t>, which represents Player 2’s belief that they are facing a vulnerable app.</a:t>
            </a:r>
            <a:endParaRPr sz="8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8"/>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3.1.6</a:t>
            </a:r>
            <a:endParaRPr/>
          </a:p>
        </p:txBody>
      </p:sp>
      <p:pic>
        <p:nvPicPr>
          <p:cNvPr id="426" name="Google Shape;426;p58"/>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27" name="Google Shape;427;p58"/>
          <p:cNvSpPr txBox="1"/>
          <p:nvPr/>
        </p:nvSpPr>
        <p:spPr>
          <a:xfrm>
            <a:off x="301375" y="972850"/>
            <a:ext cx="4018500" cy="8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the value of </a:t>
            </a:r>
            <a:r>
              <a:rPr i="1" lang="en">
                <a:solidFill>
                  <a:schemeClr val="lt1"/>
                </a:solidFill>
                <a:latin typeface="Montserrat Medium"/>
                <a:ea typeface="Montserrat Medium"/>
                <a:cs typeface="Montserrat Medium"/>
                <a:sym typeface="Montserrat Medium"/>
              </a:rPr>
              <a:t>σ</a:t>
            </a:r>
            <a:r>
              <a:rPr baseline="-25000" i="1" lang="en">
                <a:solidFill>
                  <a:schemeClr val="lt1"/>
                </a:solidFill>
                <a:latin typeface="Montserrat Medium"/>
                <a:ea typeface="Montserrat Medium"/>
                <a:cs typeface="Montserrat Medium"/>
                <a:sym typeface="Montserrat Medium"/>
              </a:rPr>
              <a:t>A</a:t>
            </a:r>
            <a:r>
              <a:rPr lang="en">
                <a:solidFill>
                  <a:schemeClr val="lt1"/>
                </a:solidFill>
                <a:latin typeface="Montserrat Medium"/>
                <a:ea typeface="Montserrat Medium"/>
                <a:cs typeface="Montserrat Medium"/>
                <a:sym typeface="Montserrat Medium"/>
              </a:rPr>
              <a:t>, which represents the probability that the app is robust and Player 1 chooses to attack.</a:t>
            </a:r>
            <a:endParaRPr sz="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9"/>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Action 3.1.6</a:t>
            </a:r>
            <a:endParaRPr/>
          </a:p>
        </p:txBody>
      </p:sp>
      <p:pic>
        <p:nvPicPr>
          <p:cNvPr id="433" name="Google Shape;433;p59"/>
          <p:cNvPicPr preferRelativeResize="0"/>
          <p:nvPr/>
        </p:nvPicPr>
        <p:blipFill>
          <a:blip r:embed="rId3">
            <a:alphaModFix/>
          </a:blip>
          <a:stretch>
            <a:fillRect/>
          </a:stretch>
        </p:blipFill>
        <p:spPr>
          <a:xfrm>
            <a:off x="839025" y="69368"/>
            <a:ext cx="2442750" cy="673150"/>
          </a:xfrm>
          <a:prstGeom prst="rect">
            <a:avLst/>
          </a:prstGeom>
          <a:noFill/>
          <a:ln>
            <a:noFill/>
          </a:ln>
        </p:spPr>
      </p:pic>
      <p:pic>
        <p:nvPicPr>
          <p:cNvPr id="434" name="Google Shape;434;p59"/>
          <p:cNvPicPr preferRelativeResize="0"/>
          <p:nvPr/>
        </p:nvPicPr>
        <p:blipFill>
          <a:blip r:embed="rId4">
            <a:alphaModFix/>
          </a:blip>
          <a:stretch>
            <a:fillRect/>
          </a:stretch>
        </p:blipFill>
        <p:spPr>
          <a:xfrm>
            <a:off x="2950438" y="2270350"/>
            <a:ext cx="3243125" cy="1781725"/>
          </a:xfrm>
          <a:prstGeom prst="rect">
            <a:avLst/>
          </a:prstGeom>
          <a:noFill/>
          <a:ln>
            <a:noFill/>
          </a:ln>
        </p:spPr>
      </p:pic>
      <p:sp>
        <p:nvSpPr>
          <p:cNvPr id="435" name="Google Shape;435;p59"/>
          <p:cNvSpPr txBox="1"/>
          <p:nvPr/>
        </p:nvSpPr>
        <p:spPr>
          <a:xfrm>
            <a:off x="301375" y="972850"/>
            <a:ext cx="4018500" cy="8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ontserrat Medium"/>
                <a:ea typeface="Montserrat Medium"/>
                <a:cs typeface="Montserrat Medium"/>
                <a:sym typeface="Montserrat Medium"/>
              </a:rPr>
              <a:t>Calculate the value of </a:t>
            </a:r>
            <a:r>
              <a:rPr i="1" lang="en">
                <a:solidFill>
                  <a:schemeClr val="lt1"/>
                </a:solidFill>
                <a:latin typeface="Montserrat Medium"/>
                <a:ea typeface="Montserrat Medium"/>
                <a:cs typeface="Montserrat Medium"/>
                <a:sym typeface="Montserrat Medium"/>
              </a:rPr>
              <a:t>σ</a:t>
            </a:r>
            <a:r>
              <a:rPr baseline="-25000" i="1" lang="en">
                <a:solidFill>
                  <a:schemeClr val="lt1"/>
                </a:solidFill>
                <a:latin typeface="Montserrat Medium"/>
                <a:ea typeface="Montserrat Medium"/>
                <a:cs typeface="Montserrat Medium"/>
                <a:sym typeface="Montserrat Medium"/>
              </a:rPr>
              <a:t>A</a:t>
            </a:r>
            <a:r>
              <a:rPr lang="en">
                <a:solidFill>
                  <a:schemeClr val="lt1"/>
                </a:solidFill>
                <a:latin typeface="Montserrat Medium"/>
                <a:ea typeface="Montserrat Medium"/>
                <a:cs typeface="Montserrat Medium"/>
                <a:sym typeface="Montserrat Medium"/>
              </a:rPr>
              <a:t>, which represents the probability that the app is robust and Player 1 chooses to attack.</a:t>
            </a:r>
            <a:endParaRPr sz="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0"/>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 PHYJacking: Summary</a:t>
            </a:r>
            <a:endParaRPr/>
          </a:p>
        </p:txBody>
      </p:sp>
      <p:pic>
        <p:nvPicPr>
          <p:cNvPr id="441" name="Google Shape;441;p60"/>
          <p:cNvPicPr preferRelativeResize="0"/>
          <p:nvPr/>
        </p:nvPicPr>
        <p:blipFill>
          <a:blip r:embed="rId3">
            <a:alphaModFix/>
          </a:blip>
          <a:stretch>
            <a:fillRect/>
          </a:stretch>
        </p:blipFill>
        <p:spPr>
          <a:xfrm>
            <a:off x="839025" y="69368"/>
            <a:ext cx="2442750" cy="673150"/>
          </a:xfrm>
          <a:prstGeom prst="rect">
            <a:avLst/>
          </a:prstGeom>
          <a:noFill/>
          <a:ln>
            <a:noFill/>
          </a:ln>
        </p:spPr>
      </p:pic>
      <p:sp>
        <p:nvSpPr>
          <p:cNvPr id="442" name="Google Shape;442;p60"/>
          <p:cNvSpPr txBox="1"/>
          <p:nvPr/>
        </p:nvSpPr>
        <p:spPr>
          <a:xfrm>
            <a:off x="839025" y="1540375"/>
            <a:ext cx="7559400" cy="3275100"/>
          </a:xfrm>
          <a:prstGeom prst="rect">
            <a:avLst/>
          </a:prstGeom>
          <a:noFill/>
          <a:ln>
            <a:noFill/>
          </a:ln>
        </p:spPr>
        <p:txBody>
          <a:bodyPr anchorCtr="0" anchor="t" bIns="91425" lIns="91425" spcFirstLastPara="1" rIns="91425" wrap="square" tIns="91425">
            <a:noAutofit/>
          </a:bodyPr>
          <a:lstStyle/>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Many mobile apps use physical inputs</a:t>
            </a:r>
            <a:endParaRPr sz="3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Misleading an unsuspecting user</a:t>
            </a:r>
            <a:endParaRPr sz="3000">
              <a:solidFill>
                <a:schemeClr val="lt1"/>
              </a:solidFill>
              <a:latin typeface="Montserrat Medium"/>
              <a:ea typeface="Montserrat Medium"/>
              <a:cs typeface="Montserrat Medium"/>
              <a:sym typeface="Montserrat Medium"/>
            </a:endParaRPr>
          </a:p>
          <a:p>
            <a:pPr indent="-419100" lvl="0" marL="457200" rtl="0" algn="l">
              <a:spcBef>
                <a:spcPts val="0"/>
              </a:spcBef>
              <a:spcAft>
                <a:spcPts val="0"/>
              </a:spcAft>
              <a:buClr>
                <a:schemeClr val="lt1"/>
              </a:buClr>
              <a:buSzPts val="3000"/>
              <a:buFont typeface="Montserrat Medium"/>
              <a:buChar char="●"/>
            </a:pPr>
            <a:r>
              <a:rPr lang="en" sz="3000">
                <a:solidFill>
                  <a:schemeClr val="lt1"/>
                </a:solidFill>
                <a:latin typeface="Montserrat Medium"/>
                <a:ea typeface="Montserrat Medium"/>
                <a:cs typeface="Montserrat Medium"/>
                <a:sym typeface="Montserrat Medium"/>
              </a:rPr>
              <a:t>Conventional design patterns that lead to increased security risks</a:t>
            </a:r>
            <a:endParaRPr sz="3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1"/>
          <p:cNvSpPr txBox="1"/>
          <p:nvPr>
            <p:ph type="ctrTitle"/>
          </p:nvPr>
        </p:nvSpPr>
        <p:spPr>
          <a:xfrm>
            <a:off x="311708" y="191121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Questions?</a:t>
            </a:r>
            <a:endParaRPr/>
          </a:p>
        </p:txBody>
      </p:sp>
      <p:sp>
        <p:nvSpPr>
          <p:cNvPr id="448" name="Google Shape;448;p61"/>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Wrap-up</a:t>
            </a:r>
            <a:endParaRPr/>
          </a:p>
        </p:txBody>
      </p:sp>
      <p:pic>
        <p:nvPicPr>
          <p:cNvPr id="449" name="Google Shape;449;p61"/>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2"/>
          <p:cNvSpPr txBox="1"/>
          <p:nvPr>
            <p:ph type="ctrTitle"/>
          </p:nvPr>
        </p:nvSpPr>
        <p:spPr>
          <a:xfrm>
            <a:off x="311708" y="191121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 for participating in this workshop!</a:t>
            </a:r>
            <a:endParaRPr/>
          </a:p>
        </p:txBody>
      </p:sp>
      <p:sp>
        <p:nvSpPr>
          <p:cNvPr id="455" name="Google Shape;455;p62"/>
          <p:cNvSpPr txBox="1"/>
          <p:nvPr>
            <p:ph idx="2" type="subTitle"/>
          </p:nvPr>
        </p:nvSpPr>
        <p:spPr>
          <a:xfrm>
            <a:off x="4642050" y="336250"/>
            <a:ext cx="4190400" cy="111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BEACON Labs - Workshop</a:t>
            </a:r>
            <a:endParaRPr/>
          </a:p>
        </p:txBody>
      </p:sp>
      <p:pic>
        <p:nvPicPr>
          <p:cNvPr id="456" name="Google Shape;456;p62"/>
          <p:cNvPicPr preferRelativeResize="0"/>
          <p:nvPr/>
        </p:nvPicPr>
        <p:blipFill>
          <a:blip r:embed="rId3">
            <a:alphaModFix/>
          </a:blip>
          <a:stretch>
            <a:fillRect/>
          </a:stretch>
        </p:blipFill>
        <p:spPr>
          <a:xfrm>
            <a:off x="839025" y="69368"/>
            <a:ext cx="2442750" cy="673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oise State - Simple Light">
  <a:themeElements>
    <a:clrScheme name="Simple Light">
      <a:dk1>
        <a:srgbClr val="000000"/>
      </a:dk1>
      <a:lt1>
        <a:srgbClr val="FFFFFF"/>
      </a:lt1>
      <a:dk2>
        <a:srgbClr val="595959"/>
      </a:dk2>
      <a:lt2>
        <a:srgbClr val="EEEEEE"/>
      </a:lt2>
      <a:accent1>
        <a:srgbClr val="D64309"/>
      </a:accent1>
      <a:accent2>
        <a:srgbClr val="F6F7F9"/>
      </a:accent2>
      <a:accent3>
        <a:srgbClr val="0033A0"/>
      </a:accent3>
      <a:accent4>
        <a:srgbClr val="0072CE"/>
      </a:accent4>
      <a:accent5>
        <a:srgbClr val="003A70"/>
      </a:accent5>
      <a:accent6>
        <a:srgbClr val="C8C9C7"/>
      </a:accent6>
      <a:hlink>
        <a:srgbClr val="0033A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